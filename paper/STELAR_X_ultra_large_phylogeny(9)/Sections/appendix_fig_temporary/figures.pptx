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</p:sldIdLst>
  <p:sldSz cx="15544800" cy="8229600"/>
  <p:notesSz cx="6858000" cy="9144000"/>
  <p:defaultTextStyle>
    <a:defPPr>
      <a:defRPr lang="en-US"/>
    </a:defPPr>
    <a:lvl1pPr marL="0" algn="l" defTabSz="1013887" rtl="0" eaLnBrk="1" latinLnBrk="0" hangingPunct="1">
      <a:defRPr sz="1996" kern="1200">
        <a:solidFill>
          <a:schemeClr val="tx1"/>
        </a:solidFill>
        <a:latin typeface="+mn-lt"/>
        <a:ea typeface="+mn-ea"/>
        <a:cs typeface="+mn-cs"/>
      </a:defRPr>
    </a:lvl1pPr>
    <a:lvl2pPr marL="506943" algn="l" defTabSz="1013887" rtl="0" eaLnBrk="1" latinLnBrk="0" hangingPunct="1">
      <a:defRPr sz="1996" kern="1200">
        <a:solidFill>
          <a:schemeClr val="tx1"/>
        </a:solidFill>
        <a:latin typeface="+mn-lt"/>
        <a:ea typeface="+mn-ea"/>
        <a:cs typeface="+mn-cs"/>
      </a:defRPr>
    </a:lvl2pPr>
    <a:lvl3pPr marL="1013887" algn="l" defTabSz="1013887" rtl="0" eaLnBrk="1" latinLnBrk="0" hangingPunct="1">
      <a:defRPr sz="1996" kern="1200">
        <a:solidFill>
          <a:schemeClr val="tx1"/>
        </a:solidFill>
        <a:latin typeface="+mn-lt"/>
        <a:ea typeface="+mn-ea"/>
        <a:cs typeface="+mn-cs"/>
      </a:defRPr>
    </a:lvl3pPr>
    <a:lvl4pPr marL="1520830" algn="l" defTabSz="1013887" rtl="0" eaLnBrk="1" latinLnBrk="0" hangingPunct="1">
      <a:defRPr sz="1996" kern="1200">
        <a:solidFill>
          <a:schemeClr val="tx1"/>
        </a:solidFill>
        <a:latin typeface="+mn-lt"/>
        <a:ea typeface="+mn-ea"/>
        <a:cs typeface="+mn-cs"/>
      </a:defRPr>
    </a:lvl4pPr>
    <a:lvl5pPr marL="2027773" algn="l" defTabSz="1013887" rtl="0" eaLnBrk="1" latinLnBrk="0" hangingPunct="1">
      <a:defRPr sz="1996" kern="1200">
        <a:solidFill>
          <a:schemeClr val="tx1"/>
        </a:solidFill>
        <a:latin typeface="+mn-lt"/>
        <a:ea typeface="+mn-ea"/>
        <a:cs typeface="+mn-cs"/>
      </a:defRPr>
    </a:lvl5pPr>
    <a:lvl6pPr marL="2534717" algn="l" defTabSz="1013887" rtl="0" eaLnBrk="1" latinLnBrk="0" hangingPunct="1">
      <a:defRPr sz="1996" kern="1200">
        <a:solidFill>
          <a:schemeClr val="tx1"/>
        </a:solidFill>
        <a:latin typeface="+mn-lt"/>
        <a:ea typeface="+mn-ea"/>
        <a:cs typeface="+mn-cs"/>
      </a:defRPr>
    </a:lvl6pPr>
    <a:lvl7pPr marL="3041660" algn="l" defTabSz="1013887" rtl="0" eaLnBrk="1" latinLnBrk="0" hangingPunct="1">
      <a:defRPr sz="1996" kern="1200">
        <a:solidFill>
          <a:schemeClr val="tx1"/>
        </a:solidFill>
        <a:latin typeface="+mn-lt"/>
        <a:ea typeface="+mn-ea"/>
        <a:cs typeface="+mn-cs"/>
      </a:defRPr>
    </a:lvl7pPr>
    <a:lvl8pPr marL="3548604" algn="l" defTabSz="1013887" rtl="0" eaLnBrk="1" latinLnBrk="0" hangingPunct="1">
      <a:defRPr sz="1996" kern="1200">
        <a:solidFill>
          <a:schemeClr val="tx1"/>
        </a:solidFill>
        <a:latin typeface="+mn-lt"/>
        <a:ea typeface="+mn-ea"/>
        <a:cs typeface="+mn-cs"/>
      </a:defRPr>
    </a:lvl8pPr>
    <a:lvl9pPr marL="4055547" algn="l" defTabSz="1013887" rtl="0" eaLnBrk="1" latinLnBrk="0" hangingPunct="1">
      <a:defRPr sz="199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E8E8"/>
    <a:srgbClr val="FEF0F0"/>
    <a:srgbClr val="FA0000"/>
    <a:srgbClr val="CE0C0C"/>
    <a:srgbClr val="FEDADA"/>
    <a:srgbClr val="FDA9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3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3100" y="1346836"/>
            <a:ext cx="116586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3100" y="4322446"/>
            <a:ext cx="116586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D393-B99B-4B1C-85C9-1662E8C0CCAB}" type="datetimeFigureOut">
              <a:rPr lang="en-US" smtClean="0"/>
              <a:t>18-Jan-21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2F8C1-E845-4520-901D-5F3C2BEAC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920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D393-B99B-4B1C-85C9-1662E8C0CCAB}" type="datetimeFigureOut">
              <a:rPr lang="en-US" smtClean="0"/>
              <a:t>18-Jan-21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2F8C1-E845-4520-901D-5F3C2BEAC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512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0609" y="2051686"/>
            <a:ext cx="1340739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0609" y="5507356"/>
            <a:ext cx="1340739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D393-B99B-4B1C-85C9-1662E8C0CCAB}" type="datetimeFigureOut">
              <a:rPr lang="en-US" smtClean="0"/>
              <a:t>18-Jan-21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2F8C1-E845-4520-901D-5F3C2BEAC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31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8705" y="2190750"/>
            <a:ext cx="6606540" cy="52216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69555" y="2190750"/>
            <a:ext cx="6606540" cy="52216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D393-B99B-4B1C-85C9-1662E8C0CCAB}" type="datetimeFigureOut">
              <a:rPr lang="en-US" smtClean="0"/>
              <a:t>18-Jan-21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2F8C1-E845-4520-901D-5F3C2BEAC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153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0730" y="438150"/>
            <a:ext cx="13407390" cy="159067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0731" y="2017396"/>
            <a:ext cx="6576178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70731" y="3006090"/>
            <a:ext cx="6576178" cy="44215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69555" y="2017396"/>
            <a:ext cx="6608565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69555" y="3006090"/>
            <a:ext cx="6608565" cy="44215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D393-B99B-4B1C-85C9-1662E8C0CCAB}" type="datetimeFigureOut">
              <a:rPr lang="en-US" smtClean="0"/>
              <a:t>18-Jan-21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2F8C1-E845-4520-901D-5F3C2BEAC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112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D393-B99B-4B1C-85C9-1662E8C0CCAB}" type="datetimeFigureOut">
              <a:rPr lang="en-US" smtClean="0"/>
              <a:t>18-Jan-21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2F8C1-E845-4520-901D-5F3C2BEAC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121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D393-B99B-4B1C-85C9-1662E8C0CCAB}" type="datetimeFigureOut">
              <a:rPr lang="en-US" smtClean="0"/>
              <a:t>18-Jan-21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2F8C1-E845-4520-901D-5F3C2BEAC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53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0730" y="548640"/>
            <a:ext cx="5013602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8565" y="1184911"/>
            <a:ext cx="7869555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0730" y="2468880"/>
            <a:ext cx="5013602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D393-B99B-4B1C-85C9-1662E8C0CCAB}" type="datetimeFigureOut">
              <a:rPr lang="en-US" smtClean="0"/>
              <a:t>18-Jan-21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2F8C1-E845-4520-901D-5F3C2BEAC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745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0730" y="548640"/>
            <a:ext cx="5013602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608565" y="1184911"/>
            <a:ext cx="7869555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0730" y="2468880"/>
            <a:ext cx="5013602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D393-B99B-4B1C-85C9-1662E8C0CCAB}" type="datetimeFigureOut">
              <a:rPr lang="en-US" smtClean="0"/>
              <a:t>18-Jan-21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2F8C1-E845-4520-901D-5F3C2BEAC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454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D393-B99B-4B1C-85C9-1662E8C0CCAB}" type="datetimeFigureOut">
              <a:rPr lang="en-US" smtClean="0"/>
              <a:t>18-Jan-21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2F8C1-E845-4520-901D-5F3C2BEAC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85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124247" y="438150"/>
            <a:ext cx="3351848" cy="697420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8705" y="438150"/>
            <a:ext cx="9861233" cy="6974206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D393-B99B-4B1C-85C9-1662E8C0CCAB}" type="datetimeFigureOut">
              <a:rPr lang="en-US" smtClean="0"/>
              <a:t>18-Jan-21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2F8C1-E845-4520-901D-5F3C2BEAC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755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8705" y="438150"/>
            <a:ext cx="1340739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8705" y="2190750"/>
            <a:ext cx="1340739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8705" y="7627621"/>
            <a:ext cx="349758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46D393-B99B-4B1C-85C9-1662E8C0CCAB}" type="datetimeFigureOut">
              <a:rPr lang="en-US" smtClean="0"/>
              <a:t>18-Jan-21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9215" y="7627621"/>
            <a:ext cx="524637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78515" y="7627621"/>
            <a:ext cx="349758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32F8C1-E845-4520-901D-5F3C2BEAC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54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204131" y="2195192"/>
            <a:ext cx="1204029" cy="2646217"/>
          </a:xfrm>
          <a:prstGeom prst="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" name="Group 16"/>
          <p:cNvGrpSpPr/>
          <p:nvPr/>
        </p:nvGrpSpPr>
        <p:grpSpPr>
          <a:xfrm>
            <a:off x="9243066" y="2234334"/>
            <a:ext cx="1122885" cy="327607"/>
            <a:chOff x="3824287" y="1995689"/>
            <a:chExt cx="1092993" cy="318886"/>
          </a:xfrm>
        </p:grpSpPr>
        <p:sp>
          <p:nvSpPr>
            <p:cNvPr id="10" name="Rectangle 9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" name="Straight Connector 11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9243065" y="3066101"/>
            <a:ext cx="1122885" cy="327607"/>
            <a:chOff x="3976687" y="2148089"/>
            <a:chExt cx="1092993" cy="318886"/>
          </a:xfrm>
        </p:grpSpPr>
        <p:sp>
          <p:nvSpPr>
            <p:cNvPr id="19" name="Rectangle 1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" name="Straight Connector 1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9243065" y="3868828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4" name="Rectangle 23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Connector 27"/>
          <p:cNvCxnSpPr/>
          <p:nvPr/>
        </p:nvCxnSpPr>
        <p:spPr>
          <a:xfrm>
            <a:off x="9814281" y="2675456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9804495" y="3485033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9803269" y="4304069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191065" y="3877981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583462" y="388776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951477" y="388063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277757" y="224044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60368" y="224044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44693" y="223983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78941" y="3069342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61553" y="3069342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45878" y="3068731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57243" y="2199426"/>
            <a:ext cx="1204029" cy="2646217"/>
          </a:xfrm>
          <a:prstGeom prst="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61" name="Group 60"/>
          <p:cNvGrpSpPr/>
          <p:nvPr/>
        </p:nvGrpSpPr>
        <p:grpSpPr>
          <a:xfrm>
            <a:off x="5896177" y="2238568"/>
            <a:ext cx="1122885" cy="327607"/>
            <a:chOff x="3824287" y="1995689"/>
            <a:chExt cx="1092993" cy="318886"/>
          </a:xfrm>
        </p:grpSpPr>
        <p:sp>
          <p:nvSpPr>
            <p:cNvPr id="62" name="Rectangle 61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63" name="Straight Connector 62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/>
          <p:cNvGrpSpPr/>
          <p:nvPr/>
        </p:nvGrpSpPr>
        <p:grpSpPr>
          <a:xfrm>
            <a:off x="5896176" y="3873062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70" name="Rectangle 6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71" name="Straight Connector 7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Straight Connector 72"/>
          <p:cNvCxnSpPr/>
          <p:nvPr/>
        </p:nvCxnSpPr>
        <p:spPr>
          <a:xfrm>
            <a:off x="6467392" y="26796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6457607" y="348926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6456381" y="4308303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5930868" y="2244682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13480" y="2244682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697805" y="2244071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627431" y="4954930"/>
            <a:ext cx="37086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Q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80546" y="4959164"/>
            <a:ext cx="514145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 err="1"/>
              <a:t>Q</a:t>
            </a:r>
            <a:r>
              <a:rPr lang="en-US" sz="2050" baseline="30000" dirty="0" err="1"/>
              <a:t>m</a:t>
            </a:r>
            <a:endParaRPr lang="en-US" sz="2050" baseline="30000" dirty="0"/>
          </a:p>
        </p:txBody>
      </p:sp>
      <p:grpSp>
        <p:nvGrpSpPr>
          <p:cNvPr id="91" name="Group 90"/>
          <p:cNvGrpSpPr/>
          <p:nvPr/>
        </p:nvGrpSpPr>
        <p:grpSpPr>
          <a:xfrm>
            <a:off x="5896176" y="3067255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92" name="Rectangle 91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TextBox 94"/>
          <p:cNvSpPr txBox="1"/>
          <p:nvPr/>
        </p:nvSpPr>
        <p:spPr>
          <a:xfrm>
            <a:off x="5858500" y="307262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6231324" y="307751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609126" y="307038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855887" y="387450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6228711" y="387939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606513" y="387226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1" name="Right Arrow 100"/>
          <p:cNvSpPr/>
          <p:nvPr/>
        </p:nvSpPr>
        <p:spPr>
          <a:xfrm rot="10800000">
            <a:off x="7383626" y="2965593"/>
            <a:ext cx="1464727" cy="809577"/>
          </a:xfrm>
          <a:prstGeom prst="rightArrow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2" name="TextBox 101"/>
          <p:cNvSpPr txBox="1"/>
          <p:nvPr/>
        </p:nvSpPr>
        <p:spPr>
          <a:xfrm>
            <a:off x="7808726" y="2740510"/>
            <a:ext cx="111030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Masking</a:t>
            </a:r>
          </a:p>
        </p:txBody>
      </p:sp>
    </p:spTree>
    <p:extLst>
      <p:ext uri="{BB962C8B-B14F-4D97-AF65-F5344CB8AC3E}">
        <p14:creationId xmlns:p14="http://schemas.microsoft.com/office/powerpoint/2010/main" val="2330490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152"/>
          <p:cNvSpPr/>
          <p:nvPr/>
        </p:nvSpPr>
        <p:spPr>
          <a:xfrm>
            <a:off x="5939863" y="1541646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1" name="Rectangle 150"/>
          <p:cNvSpPr/>
          <p:nvPr/>
        </p:nvSpPr>
        <p:spPr>
          <a:xfrm>
            <a:off x="5668807" y="1801744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" name="Rectangle 3"/>
          <p:cNvSpPr/>
          <p:nvPr/>
        </p:nvSpPr>
        <p:spPr>
          <a:xfrm>
            <a:off x="11651883" y="1930571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" name="Group 16"/>
          <p:cNvGrpSpPr/>
          <p:nvPr/>
        </p:nvGrpSpPr>
        <p:grpSpPr>
          <a:xfrm>
            <a:off x="11690818" y="1969713"/>
            <a:ext cx="1122885" cy="327607"/>
            <a:chOff x="3824287" y="1995689"/>
            <a:chExt cx="1092993" cy="318886"/>
          </a:xfrm>
        </p:grpSpPr>
        <p:sp>
          <p:nvSpPr>
            <p:cNvPr id="10" name="Rectangle 9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" name="Straight Connector 11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11690817" y="2801480"/>
            <a:ext cx="1122885" cy="327607"/>
            <a:chOff x="3976687" y="2148089"/>
            <a:chExt cx="1092993" cy="318886"/>
          </a:xfrm>
        </p:grpSpPr>
        <p:sp>
          <p:nvSpPr>
            <p:cNvPr id="19" name="Rectangle 1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" name="Straight Connector 1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11690817" y="3604207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4" name="Rectangle 23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Connector 27"/>
          <p:cNvCxnSpPr/>
          <p:nvPr/>
        </p:nvCxnSpPr>
        <p:spPr>
          <a:xfrm>
            <a:off x="12262033" y="241083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12252247" y="3220412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12251022" y="4039448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1638817" y="3613360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2031214" y="3623146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2399229" y="3616011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1725509" y="19758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08120" y="19758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492445" y="1975216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726693" y="2804721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109305" y="2804721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493630" y="280411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00808" y="1930571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61" name="Group 60"/>
          <p:cNvGrpSpPr/>
          <p:nvPr/>
        </p:nvGrpSpPr>
        <p:grpSpPr>
          <a:xfrm>
            <a:off x="8539742" y="1969713"/>
            <a:ext cx="1122885" cy="327607"/>
            <a:chOff x="3824287" y="1995689"/>
            <a:chExt cx="1092993" cy="318886"/>
          </a:xfrm>
        </p:grpSpPr>
        <p:sp>
          <p:nvSpPr>
            <p:cNvPr id="62" name="Rectangle 61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63" name="Straight Connector 62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/>
          <p:cNvGrpSpPr/>
          <p:nvPr/>
        </p:nvGrpSpPr>
        <p:grpSpPr>
          <a:xfrm>
            <a:off x="8539741" y="3604207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70" name="Rectangle 6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71" name="Straight Connector 7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Straight Connector 72"/>
          <p:cNvCxnSpPr/>
          <p:nvPr/>
        </p:nvCxnSpPr>
        <p:spPr>
          <a:xfrm>
            <a:off x="9110957" y="241083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9101171" y="3220412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9099946" y="4039448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8574433" y="19758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57044" y="19758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41369" y="1975216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097085" y="4560940"/>
            <a:ext cx="2305646" cy="938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44" dirty="0"/>
              <a:t>orientation encoding </a:t>
            </a:r>
            <a:r>
              <a:rPr lang="en-US" sz="2050" b="1" dirty="0"/>
              <a:t>Q</a:t>
            </a:r>
            <a:r>
              <a:rPr lang="en-US" sz="1644" dirty="0"/>
              <a:t> </a:t>
            </a:r>
          </a:p>
          <a:p>
            <a:pPr algn="ctr"/>
            <a:r>
              <a:rPr lang="en-US" sz="1644" dirty="0"/>
              <a:t>for the four-taxa-set </a:t>
            </a:r>
          </a:p>
          <a:p>
            <a:pPr algn="ctr"/>
            <a:r>
              <a:rPr lang="en-US" sz="1644" dirty="0"/>
              <a:t>(t</a:t>
            </a:r>
            <a:r>
              <a:rPr lang="en-US" sz="1644" baseline="-25000" dirty="0"/>
              <a:t>1</a:t>
            </a:r>
            <a:r>
              <a:rPr lang="en-US" sz="1644" dirty="0"/>
              <a:t>, t</a:t>
            </a:r>
            <a:r>
              <a:rPr lang="en-US" sz="1644" baseline="-25000" dirty="0"/>
              <a:t>2</a:t>
            </a:r>
            <a:r>
              <a:rPr lang="en-US" sz="1644" dirty="0"/>
              <a:t>, t</a:t>
            </a:r>
            <a:r>
              <a:rPr lang="en-US" sz="1644" baseline="-25000" dirty="0"/>
              <a:t>3</a:t>
            </a:r>
            <a:r>
              <a:rPr lang="en-US" sz="1644" dirty="0"/>
              <a:t>, t</a:t>
            </a:r>
            <a:r>
              <a:rPr lang="en-US" sz="1644" baseline="-25000" dirty="0"/>
              <a:t>4</a:t>
            </a:r>
            <a:r>
              <a:rPr lang="en-US" sz="1644" dirty="0"/>
              <a:t>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05572" y="4583923"/>
            <a:ext cx="1860471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44" dirty="0"/>
              <a:t>masked matrix </a:t>
            </a:r>
            <a:r>
              <a:rPr lang="en-US" sz="2050" b="1" dirty="0" err="1"/>
              <a:t>Q</a:t>
            </a:r>
            <a:r>
              <a:rPr lang="en-US" sz="2050" b="1" baseline="30000" dirty="0" err="1"/>
              <a:t>m</a:t>
            </a:r>
            <a:endParaRPr lang="en-US" sz="2050" b="1" baseline="30000" dirty="0"/>
          </a:p>
        </p:txBody>
      </p:sp>
      <p:grpSp>
        <p:nvGrpSpPr>
          <p:cNvPr id="91" name="Group 90"/>
          <p:cNvGrpSpPr/>
          <p:nvPr/>
        </p:nvGrpSpPr>
        <p:grpSpPr>
          <a:xfrm>
            <a:off x="8539741" y="2798400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92" name="Rectangle 91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TextBox 94"/>
          <p:cNvSpPr txBox="1"/>
          <p:nvPr/>
        </p:nvSpPr>
        <p:spPr>
          <a:xfrm>
            <a:off x="8502064" y="2803770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8874888" y="280866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9252690" y="280152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8499452" y="36056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8872276" y="361054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9250078" y="360340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1" name="Right Arrow 100"/>
          <p:cNvSpPr/>
          <p:nvPr/>
        </p:nvSpPr>
        <p:spPr>
          <a:xfrm rot="10800000">
            <a:off x="9831378" y="2700971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2" name="TextBox 101"/>
          <p:cNvSpPr txBox="1"/>
          <p:nvPr/>
        </p:nvSpPr>
        <p:spPr>
          <a:xfrm>
            <a:off x="10256478" y="2475888"/>
            <a:ext cx="111030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Masking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810717" y="1913119"/>
            <a:ext cx="146437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(t</a:t>
            </a:r>
            <a:r>
              <a:rPr lang="en-US" sz="2050" baseline="-25000" dirty="0"/>
              <a:t>1</a:t>
            </a:r>
            <a:r>
              <a:rPr lang="en-US" sz="2050" dirty="0"/>
              <a:t>, t</a:t>
            </a:r>
            <a:r>
              <a:rPr lang="en-US" sz="2050" baseline="-25000" dirty="0"/>
              <a:t>2</a:t>
            </a:r>
            <a:r>
              <a:rPr lang="en-US" sz="2050" dirty="0"/>
              <a:t>, t</a:t>
            </a:r>
            <a:r>
              <a:rPr lang="en-US" sz="2050" baseline="-25000" dirty="0"/>
              <a:t>3</a:t>
            </a:r>
            <a:r>
              <a:rPr lang="en-US" sz="2050" dirty="0"/>
              <a:t>, t</a:t>
            </a:r>
            <a:r>
              <a:rPr lang="en-US" sz="2050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813087" y="2719567"/>
            <a:ext cx="146766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(t</a:t>
            </a:r>
            <a:r>
              <a:rPr lang="en-US" sz="2050" baseline="-25000" dirty="0"/>
              <a:t>1</a:t>
            </a:r>
            <a:r>
              <a:rPr lang="en-US" sz="2050" dirty="0"/>
              <a:t>, t</a:t>
            </a:r>
            <a:r>
              <a:rPr lang="en-US" sz="2050" baseline="-25000" dirty="0"/>
              <a:t>2</a:t>
            </a:r>
            <a:r>
              <a:rPr lang="en-US" sz="2050" dirty="0"/>
              <a:t>, </a:t>
            </a:r>
            <a:r>
              <a:rPr lang="en-US" sz="2050" b="1" dirty="0">
                <a:solidFill>
                  <a:srgbClr val="0070C0"/>
                </a:solidFill>
              </a:rPr>
              <a:t>t</a:t>
            </a:r>
            <a:r>
              <a:rPr lang="en-US" sz="2050" b="1" baseline="-25000" dirty="0">
                <a:solidFill>
                  <a:srgbClr val="0070C0"/>
                </a:solidFill>
              </a:rPr>
              <a:t>3</a:t>
            </a:r>
            <a:r>
              <a:rPr lang="en-US" sz="2050" dirty="0"/>
              <a:t>, t</a:t>
            </a:r>
            <a:r>
              <a:rPr lang="en-US" sz="2050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807273" y="3552230"/>
            <a:ext cx="1469314" cy="419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(t</a:t>
            </a:r>
            <a:r>
              <a:rPr lang="en-US" sz="2050" baseline="-25000" dirty="0"/>
              <a:t>1</a:t>
            </a:r>
            <a:r>
              <a:rPr lang="en-US" sz="2050" dirty="0"/>
              <a:t>, t</a:t>
            </a:r>
            <a:r>
              <a:rPr lang="en-US" sz="2050" baseline="-25000" dirty="0"/>
              <a:t>2</a:t>
            </a:r>
            <a:r>
              <a:rPr lang="en-US" sz="2050" dirty="0"/>
              <a:t>, t</a:t>
            </a:r>
            <a:r>
              <a:rPr lang="en-US" sz="2050" baseline="-25000" dirty="0"/>
              <a:t>3</a:t>
            </a:r>
            <a:r>
              <a:rPr lang="en-US" sz="2050" dirty="0"/>
              <a:t>, </a:t>
            </a:r>
            <a:r>
              <a:rPr lang="en-US" sz="2055" b="1" dirty="0">
                <a:solidFill>
                  <a:srgbClr val="FF0000"/>
                </a:solidFill>
              </a:rPr>
              <a:t>t</a:t>
            </a:r>
            <a:r>
              <a:rPr lang="en-US" sz="2055" b="1" baseline="-25000" dirty="0">
                <a:solidFill>
                  <a:srgbClr val="FF0000"/>
                </a:solidFill>
              </a:rPr>
              <a:t>4</a:t>
            </a:r>
            <a:r>
              <a:rPr lang="en-US" sz="2050" dirty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27249" y="1900048"/>
            <a:ext cx="40709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g</a:t>
            </a:r>
            <a:r>
              <a:rPr lang="en-US" sz="2050" baseline="-25000" dirty="0"/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326080" y="2719567"/>
            <a:ext cx="35934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 err="1"/>
              <a:t>g</a:t>
            </a:r>
            <a:r>
              <a:rPr lang="en-US" sz="2050" baseline="-25000" dirty="0" err="1"/>
              <a:t>j</a:t>
            </a:r>
            <a:endParaRPr lang="en-US" sz="2050" baseline="-25000" dirty="0"/>
          </a:p>
        </p:txBody>
      </p:sp>
      <p:sp>
        <p:nvSpPr>
          <p:cNvPr id="68" name="TextBox 67"/>
          <p:cNvSpPr txBox="1"/>
          <p:nvPr/>
        </p:nvSpPr>
        <p:spPr>
          <a:xfrm>
            <a:off x="11295950" y="3538489"/>
            <a:ext cx="39886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 err="1"/>
              <a:t>g</a:t>
            </a:r>
            <a:r>
              <a:rPr lang="en-US" sz="2050" baseline="-25000" dirty="0" err="1"/>
              <a:t>k</a:t>
            </a:r>
            <a:endParaRPr lang="en-US" sz="2050" baseline="-25000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15688321" y="1930563"/>
            <a:ext cx="26095" cy="2646217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11615229" y="1681084"/>
            <a:ext cx="1269369" cy="8368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586762" y="1205971"/>
            <a:ext cx="151865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orientations</a:t>
            </a:r>
          </a:p>
        </p:txBody>
      </p:sp>
      <p:sp>
        <p:nvSpPr>
          <p:cNvPr id="77" name="TextBox 76"/>
          <p:cNvSpPr txBox="1"/>
          <p:nvPr/>
        </p:nvSpPr>
        <p:spPr>
          <a:xfrm rot="5400000">
            <a:off x="15289316" y="3044201"/>
            <a:ext cx="134329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gene trees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524606" y="1930571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24" name="Group 123"/>
          <p:cNvGrpSpPr/>
          <p:nvPr/>
        </p:nvGrpSpPr>
        <p:grpSpPr>
          <a:xfrm>
            <a:off x="5563540" y="1969713"/>
            <a:ext cx="1122885" cy="327607"/>
            <a:chOff x="3824287" y="1995689"/>
            <a:chExt cx="1092993" cy="318886"/>
          </a:xfrm>
        </p:grpSpPr>
        <p:sp>
          <p:nvSpPr>
            <p:cNvPr id="125" name="Rectangle 12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6" name="Straight Connector 12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Group 127"/>
          <p:cNvGrpSpPr/>
          <p:nvPr/>
        </p:nvGrpSpPr>
        <p:grpSpPr>
          <a:xfrm>
            <a:off x="5563539" y="3604207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29" name="Rectangle 12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30" name="Straight Connector 12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2" name="Straight Connector 131"/>
          <p:cNvCxnSpPr/>
          <p:nvPr/>
        </p:nvCxnSpPr>
        <p:spPr>
          <a:xfrm>
            <a:off x="6134755" y="241083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/>
          <p:nvPr/>
        </p:nvCxnSpPr>
        <p:spPr>
          <a:xfrm>
            <a:off x="6124970" y="3220412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/>
          <p:nvPr/>
        </p:nvCxnSpPr>
        <p:spPr>
          <a:xfrm>
            <a:off x="6123744" y="4039448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5598232" y="19758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980843" y="19758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365168" y="1975216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229370" y="4583923"/>
            <a:ext cx="1860471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44" dirty="0"/>
              <a:t>masked matrix </a:t>
            </a:r>
            <a:r>
              <a:rPr lang="en-US" sz="2050" b="1" dirty="0" err="1"/>
              <a:t>Q</a:t>
            </a:r>
            <a:r>
              <a:rPr lang="en-US" sz="2050" b="1" baseline="30000" dirty="0" err="1"/>
              <a:t>m</a:t>
            </a:r>
            <a:endParaRPr lang="en-US" sz="2050" b="1" baseline="30000" dirty="0"/>
          </a:p>
        </p:txBody>
      </p:sp>
      <p:grpSp>
        <p:nvGrpSpPr>
          <p:cNvPr id="139" name="Group 138"/>
          <p:cNvGrpSpPr/>
          <p:nvPr/>
        </p:nvGrpSpPr>
        <p:grpSpPr>
          <a:xfrm>
            <a:off x="5563539" y="2798400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40" name="Rectangle 13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41" name="Straight Connector 14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" name="TextBox 142"/>
          <p:cNvSpPr txBox="1"/>
          <p:nvPr/>
        </p:nvSpPr>
        <p:spPr>
          <a:xfrm>
            <a:off x="5525863" y="2803770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5898687" y="280866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6276489" y="280152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5523250" y="36056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5896074" y="361054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6273876" y="360340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9" name="Right Arrow 148"/>
          <p:cNvSpPr/>
          <p:nvPr/>
        </p:nvSpPr>
        <p:spPr>
          <a:xfrm rot="10800000">
            <a:off x="6855176" y="2700971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0" name="TextBox 149"/>
          <p:cNvSpPr txBox="1"/>
          <p:nvPr/>
        </p:nvSpPr>
        <p:spPr>
          <a:xfrm>
            <a:off x="7280279" y="2475888"/>
            <a:ext cx="109877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Stacking</a:t>
            </a:r>
          </a:p>
        </p:txBody>
      </p:sp>
      <p:cxnSp>
        <p:nvCxnSpPr>
          <p:cNvPr id="154" name="Straight Connector 153"/>
          <p:cNvCxnSpPr/>
          <p:nvPr/>
        </p:nvCxnSpPr>
        <p:spPr>
          <a:xfrm flipH="1">
            <a:off x="5714330" y="1574253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/>
          <p:nvPr/>
        </p:nvCxnSpPr>
        <p:spPr>
          <a:xfrm flipH="1">
            <a:off x="6894306" y="1588347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/>
          <p:cNvCxnSpPr/>
          <p:nvPr/>
        </p:nvCxnSpPr>
        <p:spPr>
          <a:xfrm flipH="1">
            <a:off x="6909530" y="4225363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 flipV="1">
            <a:off x="5356267" y="1379025"/>
            <a:ext cx="539811" cy="529320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 rot="18826477">
            <a:off x="4561872" y="1264185"/>
            <a:ext cx="170020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four-taxa-sets</a:t>
            </a:r>
          </a:p>
        </p:txBody>
      </p:sp>
    </p:spTree>
    <p:extLst>
      <p:ext uri="{BB962C8B-B14F-4D97-AF65-F5344CB8AC3E}">
        <p14:creationId xmlns:p14="http://schemas.microsoft.com/office/powerpoint/2010/main" val="2922513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04"/>
          <p:cNvSpPr/>
          <p:nvPr/>
        </p:nvSpPr>
        <p:spPr>
          <a:xfrm>
            <a:off x="3054183" y="1611625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6" name="Rectangle 105"/>
          <p:cNvSpPr/>
          <p:nvPr/>
        </p:nvSpPr>
        <p:spPr>
          <a:xfrm>
            <a:off x="2783127" y="1871724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7" name="Rectangle 106"/>
          <p:cNvSpPr/>
          <p:nvPr/>
        </p:nvSpPr>
        <p:spPr>
          <a:xfrm>
            <a:off x="2638926" y="2000551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08" name="Group 107"/>
          <p:cNvGrpSpPr/>
          <p:nvPr/>
        </p:nvGrpSpPr>
        <p:grpSpPr>
          <a:xfrm>
            <a:off x="2677861" y="2039693"/>
            <a:ext cx="1122885" cy="327607"/>
            <a:chOff x="3824287" y="1995689"/>
            <a:chExt cx="1092993" cy="318886"/>
          </a:xfrm>
        </p:grpSpPr>
        <p:sp>
          <p:nvSpPr>
            <p:cNvPr id="109" name="Rectangle 108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10" name="Straight Connector 109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Group 111"/>
          <p:cNvGrpSpPr/>
          <p:nvPr/>
        </p:nvGrpSpPr>
        <p:grpSpPr>
          <a:xfrm>
            <a:off x="2677859" y="3674186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13" name="Rectangle 112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14" name="Straight Connector 113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6" name="Straight Connector 115"/>
          <p:cNvCxnSpPr/>
          <p:nvPr/>
        </p:nvCxnSpPr>
        <p:spPr>
          <a:xfrm>
            <a:off x="3249075" y="248081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>
            <a:off x="3239290" y="3290392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3238064" y="4109428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2712552" y="204580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095163" y="204580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479488" y="2045196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586486" y="4591600"/>
            <a:ext cx="1800394" cy="743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dirty="0"/>
              <a:t>input of the </a:t>
            </a:r>
          </a:p>
          <a:p>
            <a:pPr algn="ctr"/>
            <a:r>
              <a:rPr lang="en-US" sz="2050" dirty="0" err="1"/>
              <a:t>autoencoder</a:t>
            </a:r>
            <a:r>
              <a:rPr lang="en-US" sz="2050" b="1" i="1" dirty="0"/>
              <a:t> X</a:t>
            </a:r>
            <a:endParaRPr lang="en-US" sz="2050" b="1" i="1" baseline="-25000" dirty="0"/>
          </a:p>
        </p:txBody>
      </p:sp>
      <p:grpSp>
        <p:nvGrpSpPr>
          <p:cNvPr id="152" name="Group 151"/>
          <p:cNvGrpSpPr/>
          <p:nvPr/>
        </p:nvGrpSpPr>
        <p:grpSpPr>
          <a:xfrm>
            <a:off x="2677859" y="2868380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59" name="Rectangle 15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60" name="Straight Connector 15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2" name="TextBox 161"/>
          <p:cNvSpPr txBox="1"/>
          <p:nvPr/>
        </p:nvSpPr>
        <p:spPr>
          <a:xfrm>
            <a:off x="2640183" y="287374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3013007" y="287864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3390809" y="287150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2637570" y="367563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3010394" y="368052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3388196" y="367338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168" name="Straight Connector 167"/>
          <p:cNvCxnSpPr/>
          <p:nvPr/>
        </p:nvCxnSpPr>
        <p:spPr>
          <a:xfrm flipH="1">
            <a:off x="2828650" y="1644233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/>
          <p:nvPr/>
        </p:nvCxnSpPr>
        <p:spPr>
          <a:xfrm flipH="1">
            <a:off x="4008627" y="1658327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/>
          <p:nvPr/>
        </p:nvCxnSpPr>
        <p:spPr>
          <a:xfrm flipH="1">
            <a:off x="4023850" y="4295343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152"/>
          <p:cNvSpPr/>
          <p:nvPr/>
        </p:nvSpPr>
        <p:spPr>
          <a:xfrm>
            <a:off x="5992788" y="1541646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1" name="Rectangle 150"/>
          <p:cNvSpPr/>
          <p:nvPr/>
        </p:nvSpPr>
        <p:spPr>
          <a:xfrm>
            <a:off x="5721732" y="1801744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" name="Rectangle 3"/>
          <p:cNvSpPr/>
          <p:nvPr/>
        </p:nvSpPr>
        <p:spPr>
          <a:xfrm>
            <a:off x="11651883" y="1930571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" name="Group 16"/>
          <p:cNvGrpSpPr/>
          <p:nvPr/>
        </p:nvGrpSpPr>
        <p:grpSpPr>
          <a:xfrm>
            <a:off x="11690818" y="1969713"/>
            <a:ext cx="1122885" cy="327607"/>
            <a:chOff x="3824287" y="1995689"/>
            <a:chExt cx="1092993" cy="318886"/>
          </a:xfrm>
        </p:grpSpPr>
        <p:sp>
          <p:nvSpPr>
            <p:cNvPr id="10" name="Rectangle 9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" name="Straight Connector 11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11690817" y="2801480"/>
            <a:ext cx="1122885" cy="327607"/>
            <a:chOff x="3976687" y="2148089"/>
            <a:chExt cx="1092993" cy="318886"/>
          </a:xfrm>
        </p:grpSpPr>
        <p:sp>
          <p:nvSpPr>
            <p:cNvPr id="19" name="Rectangle 1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" name="Straight Connector 1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11690817" y="3604207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4" name="Rectangle 23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Connector 27"/>
          <p:cNvCxnSpPr/>
          <p:nvPr/>
        </p:nvCxnSpPr>
        <p:spPr>
          <a:xfrm>
            <a:off x="12262033" y="241083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12252247" y="3220412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12251022" y="4039448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1638817" y="3613360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2031214" y="3623146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2399229" y="3616011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1725509" y="19758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08120" y="19758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492445" y="1975216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726693" y="2804721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109305" y="2804721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493630" y="280411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53732" y="1930571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61" name="Group 60"/>
          <p:cNvGrpSpPr/>
          <p:nvPr/>
        </p:nvGrpSpPr>
        <p:grpSpPr>
          <a:xfrm>
            <a:off x="8592667" y="1969713"/>
            <a:ext cx="1122885" cy="327607"/>
            <a:chOff x="3824287" y="1995689"/>
            <a:chExt cx="1092993" cy="318886"/>
          </a:xfrm>
        </p:grpSpPr>
        <p:sp>
          <p:nvSpPr>
            <p:cNvPr id="62" name="Rectangle 61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63" name="Straight Connector 62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/>
          <p:cNvGrpSpPr/>
          <p:nvPr/>
        </p:nvGrpSpPr>
        <p:grpSpPr>
          <a:xfrm>
            <a:off x="8592666" y="3604207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70" name="Rectangle 6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71" name="Straight Connector 7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Straight Connector 72"/>
          <p:cNvCxnSpPr/>
          <p:nvPr/>
        </p:nvCxnSpPr>
        <p:spPr>
          <a:xfrm>
            <a:off x="9163882" y="241083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9154096" y="3220412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9152871" y="4039448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8627358" y="19758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09969" y="19758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94294" y="1975216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257719" y="4576781"/>
            <a:ext cx="2934344" cy="938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44" dirty="0"/>
              <a:t>orientation-encoding matrix </a:t>
            </a:r>
            <a:r>
              <a:rPr lang="en-US" sz="2050" b="1" i="1" dirty="0"/>
              <a:t>Q</a:t>
            </a:r>
            <a:r>
              <a:rPr lang="en-US" sz="1644" i="1" dirty="0"/>
              <a:t> </a:t>
            </a:r>
          </a:p>
          <a:p>
            <a:pPr algn="ctr"/>
            <a:r>
              <a:rPr lang="en-US" sz="1644" dirty="0"/>
              <a:t>for the four-taxa-set </a:t>
            </a:r>
          </a:p>
          <a:p>
            <a:pPr algn="ctr"/>
            <a:r>
              <a:rPr lang="en-US" sz="1644" dirty="0"/>
              <a:t>(</a:t>
            </a:r>
            <a:r>
              <a:rPr lang="en-US" sz="1644" i="1" dirty="0"/>
              <a:t>t</a:t>
            </a:r>
            <a:r>
              <a:rPr lang="en-US" sz="1644" i="1" baseline="-25000" dirty="0"/>
              <a:t>1</a:t>
            </a:r>
            <a:r>
              <a:rPr lang="en-US" sz="1644" i="1" dirty="0"/>
              <a:t>, t</a:t>
            </a:r>
            <a:r>
              <a:rPr lang="en-US" sz="1644" i="1" baseline="-25000" dirty="0"/>
              <a:t>2</a:t>
            </a:r>
            <a:r>
              <a:rPr lang="en-US" sz="1644" i="1" dirty="0"/>
              <a:t>, t</a:t>
            </a:r>
            <a:r>
              <a:rPr lang="en-US" sz="1644" i="1" baseline="-25000" dirty="0"/>
              <a:t>3</a:t>
            </a:r>
            <a:r>
              <a:rPr lang="en-US" sz="1644" i="1" dirty="0"/>
              <a:t>, t</a:t>
            </a:r>
            <a:r>
              <a:rPr lang="en-US" sz="1644" i="1" baseline="-25000" dirty="0"/>
              <a:t>4</a:t>
            </a:r>
            <a:r>
              <a:rPr lang="en-US" sz="1644" dirty="0"/>
              <a:t>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58483" y="4583923"/>
            <a:ext cx="185553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44" dirty="0"/>
              <a:t>masked matrix </a:t>
            </a:r>
            <a:r>
              <a:rPr lang="en-US" sz="2050" b="1" i="1" dirty="0" err="1"/>
              <a:t>Q</a:t>
            </a:r>
            <a:r>
              <a:rPr lang="en-US" sz="2050" b="1" i="1" baseline="30000" dirty="0" err="1"/>
              <a:t>m</a:t>
            </a:r>
            <a:endParaRPr lang="en-US" sz="2050" b="1" i="1" baseline="30000" dirty="0"/>
          </a:p>
        </p:txBody>
      </p:sp>
      <p:grpSp>
        <p:nvGrpSpPr>
          <p:cNvPr id="91" name="Group 90"/>
          <p:cNvGrpSpPr/>
          <p:nvPr/>
        </p:nvGrpSpPr>
        <p:grpSpPr>
          <a:xfrm>
            <a:off x="8592666" y="2798400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92" name="Rectangle 91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TextBox 94"/>
          <p:cNvSpPr txBox="1"/>
          <p:nvPr/>
        </p:nvSpPr>
        <p:spPr>
          <a:xfrm>
            <a:off x="8554989" y="2803770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8927813" y="280866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9305615" y="280152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8552377" y="36056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8925201" y="361054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9303003" y="360340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1" name="Right Arrow 100"/>
          <p:cNvSpPr/>
          <p:nvPr/>
        </p:nvSpPr>
        <p:spPr>
          <a:xfrm rot="10800000">
            <a:off x="9831378" y="2700971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2" name="TextBox 101"/>
          <p:cNvSpPr txBox="1"/>
          <p:nvPr/>
        </p:nvSpPr>
        <p:spPr>
          <a:xfrm>
            <a:off x="10256481" y="2475888"/>
            <a:ext cx="113500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Masking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810717" y="1913119"/>
            <a:ext cx="146437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t</a:t>
            </a:r>
            <a:r>
              <a:rPr lang="en-US" sz="2050" i="1" baseline="-25000" dirty="0"/>
              <a:t>3</a:t>
            </a:r>
            <a:r>
              <a:rPr lang="en-US" sz="2050" i="1" dirty="0"/>
              <a:t>,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813087" y="2719567"/>
            <a:ext cx="146766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</a:t>
            </a:r>
            <a:r>
              <a:rPr lang="en-US" sz="2050" b="1" i="1" dirty="0">
                <a:solidFill>
                  <a:srgbClr val="0070C0"/>
                </a:solidFill>
              </a:rPr>
              <a:t>t</a:t>
            </a:r>
            <a:r>
              <a:rPr lang="en-US" sz="2050" b="1" i="1" baseline="-25000" dirty="0">
                <a:solidFill>
                  <a:srgbClr val="0070C0"/>
                </a:solidFill>
              </a:rPr>
              <a:t>3</a:t>
            </a:r>
            <a:r>
              <a:rPr lang="en-US" sz="2050" i="1" dirty="0"/>
              <a:t>,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807273" y="3552230"/>
            <a:ext cx="1469314" cy="419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t</a:t>
            </a:r>
            <a:r>
              <a:rPr lang="en-US" sz="2050" i="1" baseline="-25000" dirty="0"/>
              <a:t>3</a:t>
            </a:r>
            <a:r>
              <a:rPr lang="en-US" sz="2050" i="1" dirty="0"/>
              <a:t>, </a:t>
            </a:r>
            <a:r>
              <a:rPr lang="en-US" sz="2055" b="1" i="1" dirty="0">
                <a:solidFill>
                  <a:srgbClr val="FF0000"/>
                </a:solidFill>
              </a:rPr>
              <a:t>t</a:t>
            </a:r>
            <a:r>
              <a:rPr lang="en-US" sz="2055" b="1" i="1" baseline="-25000" dirty="0">
                <a:solidFill>
                  <a:srgbClr val="FF0000"/>
                </a:solidFill>
              </a:rPr>
              <a:t>4</a:t>
            </a:r>
            <a:r>
              <a:rPr lang="en-US" sz="2050" dirty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27239" y="1900048"/>
            <a:ext cx="41862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g</a:t>
            </a:r>
            <a:r>
              <a:rPr lang="en-US" sz="2050" i="1" baseline="-25000" dirty="0"/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326090" y="2719567"/>
            <a:ext cx="37086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j</a:t>
            </a:r>
            <a:endParaRPr lang="en-US" sz="2050" i="1" baseline="-25000" dirty="0"/>
          </a:p>
        </p:txBody>
      </p:sp>
      <p:sp>
        <p:nvSpPr>
          <p:cNvPr id="68" name="TextBox 67"/>
          <p:cNvSpPr txBox="1"/>
          <p:nvPr/>
        </p:nvSpPr>
        <p:spPr>
          <a:xfrm>
            <a:off x="11295960" y="3538489"/>
            <a:ext cx="410393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k</a:t>
            </a:r>
            <a:endParaRPr lang="en-US" sz="2050" i="1" baseline="-25000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15688321" y="1930563"/>
            <a:ext cx="26095" cy="2646217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11615229" y="1681084"/>
            <a:ext cx="1269369" cy="8368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586762" y="1205971"/>
            <a:ext cx="151865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orientations</a:t>
            </a:r>
          </a:p>
        </p:txBody>
      </p:sp>
      <p:sp>
        <p:nvSpPr>
          <p:cNvPr id="77" name="TextBox 76"/>
          <p:cNvSpPr txBox="1"/>
          <p:nvPr/>
        </p:nvSpPr>
        <p:spPr>
          <a:xfrm rot="5400000">
            <a:off x="15289316" y="3044201"/>
            <a:ext cx="134329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gene trees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577531" y="1930571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24" name="Group 123"/>
          <p:cNvGrpSpPr/>
          <p:nvPr/>
        </p:nvGrpSpPr>
        <p:grpSpPr>
          <a:xfrm>
            <a:off x="5616465" y="1969713"/>
            <a:ext cx="1122885" cy="327607"/>
            <a:chOff x="3824287" y="1995689"/>
            <a:chExt cx="1092993" cy="318886"/>
          </a:xfrm>
        </p:grpSpPr>
        <p:sp>
          <p:nvSpPr>
            <p:cNvPr id="125" name="Rectangle 12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6" name="Straight Connector 12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Group 127"/>
          <p:cNvGrpSpPr/>
          <p:nvPr/>
        </p:nvGrpSpPr>
        <p:grpSpPr>
          <a:xfrm>
            <a:off x="5616464" y="3604207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29" name="Rectangle 12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30" name="Straight Connector 12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2" name="Straight Connector 131"/>
          <p:cNvCxnSpPr/>
          <p:nvPr/>
        </p:nvCxnSpPr>
        <p:spPr>
          <a:xfrm>
            <a:off x="6187680" y="241083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/>
          <p:nvPr/>
        </p:nvCxnSpPr>
        <p:spPr>
          <a:xfrm>
            <a:off x="6177895" y="3220412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/>
          <p:nvPr/>
        </p:nvCxnSpPr>
        <p:spPr>
          <a:xfrm>
            <a:off x="6176669" y="4039448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5651156" y="19758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033768" y="19758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418093" y="1975216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282281" y="4583923"/>
            <a:ext cx="228496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44" dirty="0"/>
              <a:t>masked tensor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masked</a:t>
            </a:r>
            <a:endParaRPr lang="en-US" sz="2050" b="1" i="1" baseline="-25000" dirty="0"/>
          </a:p>
        </p:txBody>
      </p:sp>
      <p:grpSp>
        <p:nvGrpSpPr>
          <p:cNvPr id="139" name="Group 138"/>
          <p:cNvGrpSpPr/>
          <p:nvPr/>
        </p:nvGrpSpPr>
        <p:grpSpPr>
          <a:xfrm>
            <a:off x="5616464" y="2798400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40" name="Rectangle 13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41" name="Straight Connector 14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" name="TextBox 142"/>
          <p:cNvSpPr txBox="1"/>
          <p:nvPr/>
        </p:nvSpPr>
        <p:spPr>
          <a:xfrm>
            <a:off x="5578788" y="2803770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5951611" y="280866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6329414" y="280152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5576175" y="36056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5948999" y="361054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6326801" y="360340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9" name="Right Arrow 148"/>
          <p:cNvSpPr/>
          <p:nvPr/>
        </p:nvSpPr>
        <p:spPr>
          <a:xfrm rot="10800000">
            <a:off x="6974257" y="2700971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0" name="TextBox 149"/>
          <p:cNvSpPr txBox="1"/>
          <p:nvPr/>
        </p:nvSpPr>
        <p:spPr>
          <a:xfrm>
            <a:off x="7321827" y="1986145"/>
            <a:ext cx="1134148" cy="1067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b="1" dirty="0"/>
              <a:t>Stacking</a:t>
            </a:r>
          </a:p>
          <a:p>
            <a:pPr algn="ctr"/>
            <a:r>
              <a:rPr lang="en-US" sz="2050" i="1" baseline="30000" dirty="0"/>
              <a:t>N</a:t>
            </a:r>
            <a:r>
              <a:rPr lang="en-US" sz="2050" i="1" baseline="16000" dirty="0"/>
              <a:t>c</a:t>
            </a:r>
            <a:r>
              <a:rPr lang="en-US" sz="2050" i="1" dirty="0"/>
              <a:t>C</a:t>
            </a:r>
            <a:r>
              <a:rPr lang="en-US" sz="2050" i="1" baseline="-25000" dirty="0"/>
              <a:t>4</a:t>
            </a:r>
            <a:r>
              <a:rPr lang="en-US" sz="2050" i="1" dirty="0"/>
              <a:t> </a:t>
            </a:r>
          </a:p>
          <a:p>
            <a:pPr algn="ctr"/>
            <a:r>
              <a:rPr lang="en-US" sz="2050" dirty="0"/>
              <a:t>matrices</a:t>
            </a:r>
          </a:p>
        </p:txBody>
      </p:sp>
      <p:cxnSp>
        <p:nvCxnSpPr>
          <p:cNvPr id="154" name="Straight Connector 153"/>
          <p:cNvCxnSpPr/>
          <p:nvPr/>
        </p:nvCxnSpPr>
        <p:spPr>
          <a:xfrm flipH="1">
            <a:off x="5767255" y="1574253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/>
          <p:nvPr/>
        </p:nvCxnSpPr>
        <p:spPr>
          <a:xfrm flipH="1">
            <a:off x="6947231" y="1588347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/>
          <p:cNvCxnSpPr/>
          <p:nvPr/>
        </p:nvCxnSpPr>
        <p:spPr>
          <a:xfrm flipH="1">
            <a:off x="6962455" y="4225363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 flipV="1">
            <a:off x="5409192" y="1379025"/>
            <a:ext cx="539811" cy="529320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 rot="18826477">
            <a:off x="4614796" y="1264185"/>
            <a:ext cx="170020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four-taxa-sets</a:t>
            </a:r>
          </a:p>
        </p:txBody>
      </p:sp>
      <p:sp>
        <p:nvSpPr>
          <p:cNvPr id="103" name="Right Arrow 102"/>
          <p:cNvSpPr/>
          <p:nvPr/>
        </p:nvSpPr>
        <p:spPr>
          <a:xfrm rot="10800000">
            <a:off x="3981914" y="2727459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4" name="TextBox 103"/>
          <p:cNvSpPr txBox="1"/>
          <p:nvPr/>
        </p:nvSpPr>
        <p:spPr>
          <a:xfrm>
            <a:off x="4393783" y="2502376"/>
            <a:ext cx="91301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+ </a:t>
            </a:r>
            <a:r>
              <a:rPr lang="en-US" sz="2050" b="1" i="1" dirty="0" err="1"/>
              <a:t>PEnc</a:t>
            </a:r>
            <a:endParaRPr lang="en-US" sz="2050" b="1" i="1" dirty="0"/>
          </a:p>
        </p:txBody>
      </p:sp>
    </p:spTree>
    <p:extLst>
      <p:ext uri="{BB962C8B-B14F-4D97-AF65-F5344CB8AC3E}">
        <p14:creationId xmlns:p14="http://schemas.microsoft.com/office/powerpoint/2010/main" val="3986409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04"/>
          <p:cNvSpPr/>
          <p:nvPr/>
        </p:nvSpPr>
        <p:spPr>
          <a:xfrm>
            <a:off x="149262" y="631984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6" name="Rectangle 105"/>
          <p:cNvSpPr/>
          <p:nvPr/>
        </p:nvSpPr>
        <p:spPr>
          <a:xfrm>
            <a:off x="-121799" y="892079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7" name="Rectangle 106"/>
          <p:cNvSpPr/>
          <p:nvPr/>
        </p:nvSpPr>
        <p:spPr>
          <a:xfrm>
            <a:off x="-266000" y="1020905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08" name="Group 107"/>
          <p:cNvGrpSpPr/>
          <p:nvPr/>
        </p:nvGrpSpPr>
        <p:grpSpPr>
          <a:xfrm>
            <a:off x="-1141467" y="1060047"/>
            <a:ext cx="1122885" cy="327607"/>
            <a:chOff x="3824287" y="1995689"/>
            <a:chExt cx="1092993" cy="318886"/>
          </a:xfrm>
        </p:grpSpPr>
        <p:sp>
          <p:nvSpPr>
            <p:cNvPr id="109" name="Rectangle 108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10" name="Straight Connector 109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Group 111"/>
          <p:cNvGrpSpPr/>
          <p:nvPr/>
        </p:nvGrpSpPr>
        <p:grpSpPr>
          <a:xfrm>
            <a:off x="-1141468" y="2694541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13" name="Rectangle 112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14" name="Straight Connector 113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6" name="Straight Connector 115"/>
          <p:cNvCxnSpPr/>
          <p:nvPr/>
        </p:nvCxnSpPr>
        <p:spPr>
          <a:xfrm>
            <a:off x="-570239" y="1501175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>
            <a:off x="-580024" y="2310752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-581250" y="3129788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-1106773" y="106616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-724161" y="106616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-339837" y="106554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-378403" y="3613259"/>
            <a:ext cx="1800394" cy="743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dirty="0"/>
              <a:t>input of the </a:t>
            </a:r>
          </a:p>
          <a:p>
            <a:pPr algn="ctr"/>
            <a:r>
              <a:rPr lang="en-US" sz="2050" dirty="0" err="1"/>
              <a:t>autoencoder</a:t>
            </a:r>
            <a:r>
              <a:rPr lang="en-US" sz="2050" b="1" i="1" dirty="0"/>
              <a:t> X</a:t>
            </a:r>
            <a:endParaRPr lang="en-US" sz="2050" b="1" i="1" baseline="-25000" dirty="0"/>
          </a:p>
        </p:txBody>
      </p:sp>
      <p:grpSp>
        <p:nvGrpSpPr>
          <p:cNvPr id="152" name="Group 151"/>
          <p:cNvGrpSpPr/>
          <p:nvPr/>
        </p:nvGrpSpPr>
        <p:grpSpPr>
          <a:xfrm>
            <a:off x="-1141468" y="1888734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59" name="Rectangle 15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60" name="Straight Connector 15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2" name="TextBox 161"/>
          <p:cNvSpPr txBox="1"/>
          <p:nvPr/>
        </p:nvSpPr>
        <p:spPr>
          <a:xfrm>
            <a:off x="-1179142" y="189410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-806318" y="189899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485891" y="189186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-1181754" y="269598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-808930" y="270087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483279" y="269374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168" name="Straight Connector 167"/>
          <p:cNvCxnSpPr/>
          <p:nvPr/>
        </p:nvCxnSpPr>
        <p:spPr>
          <a:xfrm flipH="1">
            <a:off x="-990667" y="664588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/>
          <p:nvPr/>
        </p:nvCxnSpPr>
        <p:spPr>
          <a:xfrm flipH="1">
            <a:off x="1103713" y="6786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/>
          <p:nvPr/>
        </p:nvCxnSpPr>
        <p:spPr>
          <a:xfrm flipH="1">
            <a:off x="1118936" y="33157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152"/>
          <p:cNvSpPr/>
          <p:nvPr/>
        </p:nvSpPr>
        <p:spPr>
          <a:xfrm>
            <a:off x="3058216" y="631988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1" name="Rectangle 150"/>
          <p:cNvSpPr/>
          <p:nvPr/>
        </p:nvSpPr>
        <p:spPr>
          <a:xfrm>
            <a:off x="2787159" y="89208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" name="Rectangle 3"/>
          <p:cNvSpPr/>
          <p:nvPr/>
        </p:nvSpPr>
        <p:spPr>
          <a:xfrm>
            <a:off x="8687489" y="10209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" name="Group 16"/>
          <p:cNvGrpSpPr/>
          <p:nvPr/>
        </p:nvGrpSpPr>
        <p:grpSpPr>
          <a:xfrm>
            <a:off x="8726424" y="1060055"/>
            <a:ext cx="1122885" cy="327607"/>
            <a:chOff x="3824287" y="1995689"/>
            <a:chExt cx="1092993" cy="318886"/>
          </a:xfrm>
        </p:grpSpPr>
        <p:sp>
          <p:nvSpPr>
            <p:cNvPr id="10" name="Rectangle 9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" name="Straight Connector 11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8726422" y="1891822"/>
            <a:ext cx="1122885" cy="327607"/>
            <a:chOff x="3976687" y="2148089"/>
            <a:chExt cx="1092993" cy="318886"/>
          </a:xfrm>
        </p:grpSpPr>
        <p:sp>
          <p:nvSpPr>
            <p:cNvPr id="19" name="Rectangle 1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" name="Straight Connector 1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8726422" y="26945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4" name="Rectangle 23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Connector 27"/>
          <p:cNvCxnSpPr/>
          <p:nvPr/>
        </p:nvCxnSpPr>
        <p:spPr>
          <a:xfrm>
            <a:off x="9297638" y="15011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9287853" y="23107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9286627" y="31297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674423" y="270370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066819" y="271348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434835" y="270635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761115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3726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28051" y="10655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62299" y="189506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910" y="189506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29235" y="1894452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89338" y="10209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61" name="Group 60"/>
          <p:cNvGrpSpPr/>
          <p:nvPr/>
        </p:nvGrpSpPr>
        <p:grpSpPr>
          <a:xfrm>
            <a:off x="5628273" y="1060055"/>
            <a:ext cx="1122885" cy="327607"/>
            <a:chOff x="3824287" y="1995689"/>
            <a:chExt cx="1092993" cy="318886"/>
          </a:xfrm>
        </p:grpSpPr>
        <p:sp>
          <p:nvSpPr>
            <p:cNvPr id="62" name="Rectangle 61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63" name="Straight Connector 62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/>
          <p:cNvGrpSpPr/>
          <p:nvPr/>
        </p:nvGrpSpPr>
        <p:grpSpPr>
          <a:xfrm>
            <a:off x="5628272" y="26945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70" name="Rectangle 6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71" name="Straight Connector 7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Straight Connector 72"/>
          <p:cNvCxnSpPr/>
          <p:nvPr/>
        </p:nvCxnSpPr>
        <p:spPr>
          <a:xfrm>
            <a:off x="6199487" y="15011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6189702" y="23107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6188476" y="31297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5662964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45575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29900" y="10655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93325" y="3667124"/>
            <a:ext cx="2934344" cy="938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44" dirty="0"/>
              <a:t>orientation-encoding matrix </a:t>
            </a:r>
            <a:r>
              <a:rPr lang="en-US" sz="2050" b="1" i="1" dirty="0"/>
              <a:t>Q</a:t>
            </a:r>
            <a:r>
              <a:rPr lang="en-US" sz="1644" i="1" dirty="0"/>
              <a:t> </a:t>
            </a:r>
          </a:p>
          <a:p>
            <a:pPr algn="ctr"/>
            <a:r>
              <a:rPr lang="en-US" sz="1644" dirty="0"/>
              <a:t>for the four-taxa-set </a:t>
            </a:r>
          </a:p>
          <a:p>
            <a:pPr algn="ctr"/>
            <a:r>
              <a:rPr lang="en-US" sz="1644" dirty="0"/>
              <a:t>(</a:t>
            </a:r>
            <a:r>
              <a:rPr lang="en-US" sz="1644" i="1" dirty="0"/>
              <a:t>t</a:t>
            </a:r>
            <a:r>
              <a:rPr lang="en-US" sz="1644" i="1" baseline="-25000" dirty="0"/>
              <a:t>1</a:t>
            </a:r>
            <a:r>
              <a:rPr lang="en-US" sz="1644" i="1" dirty="0"/>
              <a:t>, t</a:t>
            </a:r>
            <a:r>
              <a:rPr lang="en-US" sz="1644" i="1" baseline="-25000" dirty="0"/>
              <a:t>2</a:t>
            </a:r>
            <a:r>
              <a:rPr lang="en-US" sz="1644" i="1" dirty="0"/>
              <a:t>, t</a:t>
            </a:r>
            <a:r>
              <a:rPr lang="en-US" sz="1644" i="1" baseline="-25000" dirty="0"/>
              <a:t>3</a:t>
            </a:r>
            <a:r>
              <a:rPr lang="en-US" sz="1644" i="1" dirty="0"/>
              <a:t>, t</a:t>
            </a:r>
            <a:r>
              <a:rPr lang="en-US" sz="1644" i="1" baseline="-25000" dirty="0"/>
              <a:t>4</a:t>
            </a:r>
            <a:r>
              <a:rPr lang="en-US" sz="1644" dirty="0"/>
              <a:t>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294089" y="3674265"/>
            <a:ext cx="185553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44" dirty="0"/>
              <a:t>masked matrix </a:t>
            </a:r>
            <a:r>
              <a:rPr lang="en-US" sz="2050" b="1" i="1" dirty="0" err="1"/>
              <a:t>Q</a:t>
            </a:r>
            <a:r>
              <a:rPr lang="en-US" sz="2050" b="1" i="1" baseline="30000" dirty="0" err="1"/>
              <a:t>m</a:t>
            </a:r>
            <a:endParaRPr lang="en-US" sz="2050" b="1" i="1" baseline="30000" dirty="0"/>
          </a:p>
        </p:txBody>
      </p:sp>
      <p:grpSp>
        <p:nvGrpSpPr>
          <p:cNvPr id="91" name="Group 90"/>
          <p:cNvGrpSpPr/>
          <p:nvPr/>
        </p:nvGrpSpPr>
        <p:grpSpPr>
          <a:xfrm>
            <a:off x="5628272" y="1888742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92" name="Rectangle 91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TextBox 94"/>
          <p:cNvSpPr txBox="1"/>
          <p:nvPr/>
        </p:nvSpPr>
        <p:spPr>
          <a:xfrm>
            <a:off x="5590595" y="189411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5963419" y="189900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341221" y="189186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587983" y="26959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5960806" y="27008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338608" y="26937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1" name="Right Arrow 100"/>
          <p:cNvSpPr/>
          <p:nvPr/>
        </p:nvSpPr>
        <p:spPr>
          <a:xfrm rot="10800000">
            <a:off x="6866983" y="1791314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2" name="TextBox 101"/>
          <p:cNvSpPr txBox="1"/>
          <p:nvPr/>
        </p:nvSpPr>
        <p:spPr>
          <a:xfrm>
            <a:off x="7292087" y="1566231"/>
            <a:ext cx="113500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Masking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846323" y="1003462"/>
            <a:ext cx="146437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t</a:t>
            </a:r>
            <a:r>
              <a:rPr lang="en-US" sz="2050" i="1" baseline="-25000" dirty="0"/>
              <a:t>3</a:t>
            </a:r>
            <a:r>
              <a:rPr lang="en-US" sz="2050" i="1" dirty="0"/>
              <a:t>,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48693" y="1809910"/>
            <a:ext cx="146766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</a:t>
            </a:r>
            <a:r>
              <a:rPr lang="en-US" sz="2050" b="1" i="1" dirty="0">
                <a:solidFill>
                  <a:srgbClr val="0070C0"/>
                </a:solidFill>
              </a:rPr>
              <a:t>t</a:t>
            </a:r>
            <a:r>
              <a:rPr lang="en-US" sz="2050" b="1" i="1" baseline="-25000" dirty="0">
                <a:solidFill>
                  <a:srgbClr val="0070C0"/>
                </a:solidFill>
              </a:rPr>
              <a:t>3</a:t>
            </a:r>
            <a:r>
              <a:rPr lang="en-US" sz="2050" i="1" dirty="0"/>
              <a:t>,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42879" y="2642573"/>
            <a:ext cx="1469314" cy="419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t</a:t>
            </a:r>
            <a:r>
              <a:rPr lang="en-US" sz="2050" i="1" baseline="-25000" dirty="0"/>
              <a:t>3</a:t>
            </a:r>
            <a:r>
              <a:rPr lang="en-US" sz="2050" i="1" dirty="0"/>
              <a:t>, </a:t>
            </a:r>
            <a:r>
              <a:rPr lang="en-US" sz="2055" b="1" i="1" dirty="0">
                <a:solidFill>
                  <a:srgbClr val="FF0000"/>
                </a:solidFill>
              </a:rPr>
              <a:t>t</a:t>
            </a:r>
            <a:r>
              <a:rPr lang="en-US" sz="2055" b="1" i="1" baseline="-25000" dirty="0">
                <a:solidFill>
                  <a:srgbClr val="FF0000"/>
                </a:solidFill>
              </a:rPr>
              <a:t>4</a:t>
            </a:r>
            <a:r>
              <a:rPr lang="en-US" sz="2050" dirty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33023" y="975480"/>
            <a:ext cx="41862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g</a:t>
            </a:r>
            <a:r>
              <a:rPr lang="en-US" sz="2050" i="1" baseline="-25000" dirty="0"/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31874" y="1794999"/>
            <a:ext cx="37086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j</a:t>
            </a:r>
            <a:endParaRPr lang="en-US" sz="2050" i="1" baseline="-25000" dirty="0"/>
          </a:p>
        </p:txBody>
      </p:sp>
      <p:sp>
        <p:nvSpPr>
          <p:cNvPr id="68" name="TextBox 67"/>
          <p:cNvSpPr txBox="1"/>
          <p:nvPr/>
        </p:nvSpPr>
        <p:spPr>
          <a:xfrm>
            <a:off x="8301744" y="2613921"/>
            <a:ext cx="410393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k</a:t>
            </a:r>
            <a:endParaRPr lang="en-US" sz="2050" i="1" baseline="-25000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11244478" y="844349"/>
            <a:ext cx="26095" cy="2646217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8650835" y="771427"/>
            <a:ext cx="1269369" cy="8368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622368" y="296313"/>
            <a:ext cx="151865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orientations</a:t>
            </a:r>
          </a:p>
        </p:txBody>
      </p:sp>
      <p:sp>
        <p:nvSpPr>
          <p:cNvPr id="77" name="TextBox 76"/>
          <p:cNvSpPr txBox="1"/>
          <p:nvPr/>
        </p:nvSpPr>
        <p:spPr>
          <a:xfrm rot="5400000">
            <a:off x="10815238" y="2134543"/>
            <a:ext cx="134329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gene trees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642958" y="10209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24" name="Group 123"/>
          <p:cNvGrpSpPr/>
          <p:nvPr/>
        </p:nvGrpSpPr>
        <p:grpSpPr>
          <a:xfrm>
            <a:off x="2681893" y="1060055"/>
            <a:ext cx="1122885" cy="327607"/>
            <a:chOff x="3824287" y="1995689"/>
            <a:chExt cx="1092993" cy="318886"/>
          </a:xfrm>
        </p:grpSpPr>
        <p:sp>
          <p:nvSpPr>
            <p:cNvPr id="125" name="Rectangle 12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6" name="Straight Connector 12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Group 127"/>
          <p:cNvGrpSpPr/>
          <p:nvPr/>
        </p:nvGrpSpPr>
        <p:grpSpPr>
          <a:xfrm>
            <a:off x="2681892" y="26945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29" name="Rectangle 12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30" name="Straight Connector 12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2" name="Straight Connector 131"/>
          <p:cNvCxnSpPr/>
          <p:nvPr/>
        </p:nvCxnSpPr>
        <p:spPr>
          <a:xfrm>
            <a:off x="3253108" y="15011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/>
          <p:nvPr/>
        </p:nvCxnSpPr>
        <p:spPr>
          <a:xfrm>
            <a:off x="3243322" y="23107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/>
          <p:nvPr/>
        </p:nvCxnSpPr>
        <p:spPr>
          <a:xfrm>
            <a:off x="3242097" y="31297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2716584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099195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483520" y="10655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347709" y="3674265"/>
            <a:ext cx="228496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44" dirty="0"/>
              <a:t>masked tensor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masked</a:t>
            </a:r>
            <a:endParaRPr lang="en-US" sz="2050" b="1" i="1" baseline="-25000" dirty="0"/>
          </a:p>
        </p:txBody>
      </p:sp>
      <p:grpSp>
        <p:nvGrpSpPr>
          <p:cNvPr id="139" name="Group 138"/>
          <p:cNvGrpSpPr/>
          <p:nvPr/>
        </p:nvGrpSpPr>
        <p:grpSpPr>
          <a:xfrm>
            <a:off x="2681892" y="1888742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40" name="Rectangle 13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41" name="Straight Connector 14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" name="TextBox 142"/>
          <p:cNvSpPr txBox="1"/>
          <p:nvPr/>
        </p:nvSpPr>
        <p:spPr>
          <a:xfrm>
            <a:off x="2644215" y="189411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3017039" y="189900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3394841" y="189186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641603" y="26959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3014427" y="27008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3392229" y="26937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9" name="Right Arrow 148"/>
          <p:cNvSpPr/>
          <p:nvPr/>
        </p:nvSpPr>
        <p:spPr>
          <a:xfrm rot="10800000">
            <a:off x="4039685" y="1791314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0" name="TextBox 149"/>
          <p:cNvSpPr txBox="1"/>
          <p:nvPr/>
        </p:nvSpPr>
        <p:spPr>
          <a:xfrm>
            <a:off x="4417127" y="972775"/>
            <a:ext cx="1134148" cy="1067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b="1" dirty="0"/>
              <a:t>Stacking</a:t>
            </a:r>
          </a:p>
          <a:p>
            <a:pPr algn="ctr"/>
            <a:r>
              <a:rPr lang="en-US" sz="2050" i="1" baseline="30000" dirty="0"/>
              <a:t>N</a:t>
            </a:r>
            <a:r>
              <a:rPr lang="en-US" sz="2050" i="1" baseline="16000" dirty="0"/>
              <a:t>c</a:t>
            </a:r>
            <a:r>
              <a:rPr lang="en-US" sz="2050" i="1" dirty="0"/>
              <a:t>C</a:t>
            </a:r>
            <a:r>
              <a:rPr lang="en-US" sz="2050" i="1" baseline="-25000" dirty="0"/>
              <a:t>4</a:t>
            </a:r>
            <a:r>
              <a:rPr lang="en-US" sz="2050" i="1" dirty="0"/>
              <a:t> </a:t>
            </a:r>
          </a:p>
          <a:p>
            <a:pPr algn="ctr"/>
            <a:r>
              <a:rPr lang="en-US" sz="2050" dirty="0"/>
              <a:t>matrices</a:t>
            </a:r>
          </a:p>
        </p:txBody>
      </p:sp>
      <p:cxnSp>
        <p:nvCxnSpPr>
          <p:cNvPr id="154" name="Straight Connector 153"/>
          <p:cNvCxnSpPr/>
          <p:nvPr/>
        </p:nvCxnSpPr>
        <p:spPr>
          <a:xfrm flipH="1">
            <a:off x="2832682" y="664596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/>
          <p:nvPr/>
        </p:nvCxnSpPr>
        <p:spPr>
          <a:xfrm flipH="1">
            <a:off x="4012659" y="6786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/>
          <p:cNvCxnSpPr/>
          <p:nvPr/>
        </p:nvCxnSpPr>
        <p:spPr>
          <a:xfrm flipH="1">
            <a:off x="4027882" y="33157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 flipV="1">
            <a:off x="2474619" y="469368"/>
            <a:ext cx="539811" cy="529320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 rot="18826477">
            <a:off x="1680224" y="354528"/>
            <a:ext cx="170020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four-taxa-sets</a:t>
            </a:r>
          </a:p>
        </p:txBody>
      </p:sp>
      <p:sp>
        <p:nvSpPr>
          <p:cNvPr id="103" name="Right Arrow 102"/>
          <p:cNvSpPr/>
          <p:nvPr/>
        </p:nvSpPr>
        <p:spPr>
          <a:xfrm rot="10800000">
            <a:off x="1106985" y="1817802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4" name="TextBox 103"/>
          <p:cNvSpPr txBox="1"/>
          <p:nvPr/>
        </p:nvSpPr>
        <p:spPr>
          <a:xfrm>
            <a:off x="1459211" y="1592719"/>
            <a:ext cx="91301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+ </a:t>
            </a:r>
            <a:r>
              <a:rPr lang="en-US" sz="2050" b="1" i="1" dirty="0" err="1"/>
              <a:t>PEnc</a:t>
            </a:r>
            <a:endParaRPr lang="en-US" sz="2050" b="1" i="1" dirty="0"/>
          </a:p>
        </p:txBody>
      </p:sp>
      <p:sp>
        <p:nvSpPr>
          <p:cNvPr id="171" name="Rectangle 170"/>
          <p:cNvSpPr/>
          <p:nvPr/>
        </p:nvSpPr>
        <p:spPr>
          <a:xfrm>
            <a:off x="13565104" y="631988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72" name="Rectangle 171"/>
          <p:cNvSpPr/>
          <p:nvPr/>
        </p:nvSpPr>
        <p:spPr>
          <a:xfrm>
            <a:off x="13294047" y="89208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73" name="Rectangle 172"/>
          <p:cNvSpPr/>
          <p:nvPr/>
        </p:nvSpPr>
        <p:spPr>
          <a:xfrm>
            <a:off x="13149847" y="10209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4" name="Group 173"/>
          <p:cNvGrpSpPr/>
          <p:nvPr/>
        </p:nvGrpSpPr>
        <p:grpSpPr>
          <a:xfrm>
            <a:off x="13188781" y="1060055"/>
            <a:ext cx="1122885" cy="327607"/>
            <a:chOff x="3824287" y="1995689"/>
            <a:chExt cx="1092993" cy="318886"/>
          </a:xfrm>
        </p:grpSpPr>
        <p:sp>
          <p:nvSpPr>
            <p:cNvPr id="175" name="Rectangle 17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76" name="Straight Connector 17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/>
        </p:nvGrpSpPr>
        <p:grpSpPr>
          <a:xfrm>
            <a:off x="13188780" y="26945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79" name="Rectangle 17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80" name="Straight Connector 17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2" name="Straight Connector 181"/>
          <p:cNvCxnSpPr/>
          <p:nvPr/>
        </p:nvCxnSpPr>
        <p:spPr>
          <a:xfrm>
            <a:off x="13759996" y="15011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>
            <a:off x="13750211" y="23107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/>
          <p:cNvCxnSpPr/>
          <p:nvPr/>
        </p:nvCxnSpPr>
        <p:spPr>
          <a:xfrm>
            <a:off x="13748985" y="31297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>
            <a:off x="13223472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3606084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3990408" y="10655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2725448" y="3613267"/>
            <a:ext cx="2398792" cy="743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dirty="0"/>
              <a:t>target of the </a:t>
            </a:r>
          </a:p>
          <a:p>
            <a:pPr algn="ctr"/>
            <a:r>
              <a:rPr lang="en-US" sz="2050" dirty="0" err="1"/>
              <a:t>autoencoder</a:t>
            </a:r>
            <a:r>
              <a:rPr lang="en-US" sz="2050" b="1" i="1" dirty="0"/>
              <a:t>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stacked</a:t>
            </a:r>
            <a:endParaRPr lang="en-US" sz="2050" b="1" i="1" baseline="-25000" dirty="0"/>
          </a:p>
        </p:txBody>
      </p:sp>
      <p:grpSp>
        <p:nvGrpSpPr>
          <p:cNvPr id="189" name="Group 188"/>
          <p:cNvGrpSpPr/>
          <p:nvPr/>
        </p:nvGrpSpPr>
        <p:grpSpPr>
          <a:xfrm>
            <a:off x="13188780" y="1888742"/>
            <a:ext cx="1122885" cy="327607"/>
            <a:chOff x="3976687" y="2148089"/>
            <a:chExt cx="1092993" cy="318886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90" name="Rectangle 18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91" name="Straight Connector 19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6" name="TextBox 195"/>
          <p:cNvSpPr txBox="1"/>
          <p:nvPr/>
        </p:nvSpPr>
        <p:spPr>
          <a:xfrm>
            <a:off x="13148491" y="26959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13521315" y="27008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13899117" y="26937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199" name="Straight Connector 198"/>
          <p:cNvCxnSpPr/>
          <p:nvPr/>
        </p:nvCxnSpPr>
        <p:spPr>
          <a:xfrm flipH="1">
            <a:off x="13339571" y="664596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/>
          <p:cNvCxnSpPr/>
          <p:nvPr/>
        </p:nvCxnSpPr>
        <p:spPr>
          <a:xfrm flipH="1">
            <a:off x="14519547" y="6786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/>
          <p:cNvCxnSpPr/>
          <p:nvPr/>
        </p:nvCxnSpPr>
        <p:spPr>
          <a:xfrm flipH="1">
            <a:off x="14534770" y="33157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Right Arrow 201"/>
          <p:cNvSpPr/>
          <p:nvPr/>
        </p:nvSpPr>
        <p:spPr>
          <a:xfrm>
            <a:off x="11637823" y="1906579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03" name="TextBox 202"/>
          <p:cNvSpPr txBox="1"/>
          <p:nvPr/>
        </p:nvSpPr>
        <p:spPr>
          <a:xfrm>
            <a:off x="11628177" y="1117061"/>
            <a:ext cx="1134148" cy="1067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b="1" dirty="0"/>
              <a:t>Stacking</a:t>
            </a:r>
          </a:p>
          <a:p>
            <a:pPr algn="ctr"/>
            <a:r>
              <a:rPr lang="en-US" sz="2050" i="1" baseline="30000" dirty="0"/>
              <a:t>N</a:t>
            </a:r>
            <a:r>
              <a:rPr lang="en-US" sz="2050" i="1" baseline="16000" dirty="0"/>
              <a:t>c</a:t>
            </a:r>
            <a:r>
              <a:rPr lang="en-US" sz="2050" i="1" dirty="0"/>
              <a:t>C</a:t>
            </a:r>
            <a:r>
              <a:rPr lang="en-US" sz="2050" i="1" baseline="-25000" dirty="0"/>
              <a:t>4</a:t>
            </a:r>
            <a:r>
              <a:rPr lang="en-US" sz="2050" i="1" dirty="0"/>
              <a:t> </a:t>
            </a:r>
          </a:p>
          <a:p>
            <a:pPr algn="ctr"/>
            <a:r>
              <a:rPr lang="en-US" sz="2050" dirty="0"/>
              <a:t>matrices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3219684" y="1891938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3602296" y="1891938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3986621" y="18913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41" name="Trapezoid 40"/>
          <p:cNvSpPr/>
          <p:nvPr/>
        </p:nvSpPr>
        <p:spPr>
          <a:xfrm rot="5400000">
            <a:off x="4858257" y="5535246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12" name="Trapezoid 211"/>
          <p:cNvSpPr/>
          <p:nvPr/>
        </p:nvSpPr>
        <p:spPr>
          <a:xfrm rot="16200000">
            <a:off x="7085368" y="5532370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2" name="Rectangle 41"/>
          <p:cNvSpPr/>
          <p:nvPr/>
        </p:nvSpPr>
        <p:spPr>
          <a:xfrm>
            <a:off x="6927156" y="5933573"/>
            <a:ext cx="269534" cy="104185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cxnSp>
        <p:nvCxnSpPr>
          <p:cNvPr id="213" name="Straight Arrow Connector 212"/>
          <p:cNvCxnSpPr/>
          <p:nvPr/>
        </p:nvCxnSpPr>
        <p:spPr>
          <a:xfrm>
            <a:off x="5026704" y="5158033"/>
            <a:ext cx="1809292" cy="586645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213"/>
          <p:cNvSpPr txBox="1"/>
          <p:nvPr/>
        </p:nvSpPr>
        <p:spPr>
          <a:xfrm rot="995966">
            <a:off x="5364022" y="5044626"/>
            <a:ext cx="143920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E</a:t>
            </a:r>
            <a:r>
              <a:rPr lang="en-US" sz="2050" dirty="0"/>
              <a:t> FC layers</a:t>
            </a:r>
          </a:p>
        </p:txBody>
      </p:sp>
      <p:cxnSp>
        <p:nvCxnSpPr>
          <p:cNvPr id="215" name="Straight Arrow Connector 214"/>
          <p:cNvCxnSpPr/>
          <p:nvPr/>
        </p:nvCxnSpPr>
        <p:spPr>
          <a:xfrm flipV="1">
            <a:off x="7253815" y="5284160"/>
            <a:ext cx="1802826" cy="498746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TextBox 215"/>
          <p:cNvSpPr txBox="1"/>
          <p:nvPr/>
        </p:nvSpPr>
        <p:spPr>
          <a:xfrm>
            <a:off x="7456257" y="4875101"/>
            <a:ext cx="146226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D</a:t>
            </a:r>
            <a:r>
              <a:rPr lang="en-US" sz="2050" dirty="0"/>
              <a:t> FC layers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77277" y="7272310"/>
            <a:ext cx="108665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Encoder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7501052" y="7265897"/>
            <a:ext cx="111464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Decoder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35996" y="6911287"/>
            <a:ext cx="477914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>
                <a:solidFill>
                  <a:srgbClr val="0070C0"/>
                </a:solidFill>
              </a:rPr>
              <a:t>h</a:t>
            </a:r>
            <a:r>
              <a:rPr lang="en-US" sz="2876" b="1" i="1" baseline="-25000" dirty="0" err="1">
                <a:solidFill>
                  <a:srgbClr val="0070C0"/>
                </a:solidFill>
              </a:rPr>
              <a:t>r</a:t>
            </a:r>
            <a:endParaRPr lang="en-US" sz="3287" b="1" i="1" baseline="-25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994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04"/>
          <p:cNvSpPr/>
          <p:nvPr/>
        </p:nvSpPr>
        <p:spPr>
          <a:xfrm>
            <a:off x="149262" y="631984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6" name="Rectangle 105"/>
          <p:cNvSpPr/>
          <p:nvPr/>
        </p:nvSpPr>
        <p:spPr>
          <a:xfrm>
            <a:off x="-121799" y="892079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7" name="Rectangle 106"/>
          <p:cNvSpPr/>
          <p:nvPr/>
        </p:nvSpPr>
        <p:spPr>
          <a:xfrm>
            <a:off x="-266000" y="1020905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08" name="Group 107"/>
          <p:cNvGrpSpPr/>
          <p:nvPr/>
        </p:nvGrpSpPr>
        <p:grpSpPr>
          <a:xfrm>
            <a:off x="-1141467" y="1060047"/>
            <a:ext cx="1122885" cy="327607"/>
            <a:chOff x="3824287" y="1995689"/>
            <a:chExt cx="1092993" cy="318886"/>
          </a:xfrm>
        </p:grpSpPr>
        <p:sp>
          <p:nvSpPr>
            <p:cNvPr id="109" name="Rectangle 108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10" name="Straight Connector 109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Group 111"/>
          <p:cNvGrpSpPr/>
          <p:nvPr/>
        </p:nvGrpSpPr>
        <p:grpSpPr>
          <a:xfrm>
            <a:off x="-1141468" y="2694541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13" name="Rectangle 112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14" name="Straight Connector 113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6" name="Straight Connector 115"/>
          <p:cNvCxnSpPr/>
          <p:nvPr/>
        </p:nvCxnSpPr>
        <p:spPr>
          <a:xfrm>
            <a:off x="-570239" y="1501175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>
            <a:off x="-580024" y="2310752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-581250" y="3129788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-1106773" y="106616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-724161" y="106616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-339837" y="106554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-378403" y="3613259"/>
            <a:ext cx="1800394" cy="743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dirty="0"/>
              <a:t>input of the </a:t>
            </a:r>
          </a:p>
          <a:p>
            <a:pPr algn="ctr"/>
            <a:r>
              <a:rPr lang="en-US" sz="2050" dirty="0" err="1"/>
              <a:t>autoencoder</a:t>
            </a:r>
            <a:r>
              <a:rPr lang="en-US" sz="2050" b="1" i="1" dirty="0"/>
              <a:t> X</a:t>
            </a:r>
            <a:endParaRPr lang="en-US" sz="2050" b="1" i="1" baseline="-25000" dirty="0"/>
          </a:p>
        </p:txBody>
      </p:sp>
      <p:grpSp>
        <p:nvGrpSpPr>
          <p:cNvPr id="152" name="Group 151"/>
          <p:cNvGrpSpPr/>
          <p:nvPr/>
        </p:nvGrpSpPr>
        <p:grpSpPr>
          <a:xfrm>
            <a:off x="-1141468" y="1888734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59" name="Rectangle 15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60" name="Straight Connector 15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2" name="TextBox 161"/>
          <p:cNvSpPr txBox="1"/>
          <p:nvPr/>
        </p:nvSpPr>
        <p:spPr>
          <a:xfrm>
            <a:off x="-1179142" y="189410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-806318" y="189899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485891" y="189186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-1181754" y="269598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-808930" y="270087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483279" y="269374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168" name="Straight Connector 167"/>
          <p:cNvCxnSpPr/>
          <p:nvPr/>
        </p:nvCxnSpPr>
        <p:spPr>
          <a:xfrm flipH="1">
            <a:off x="-990667" y="664588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/>
          <p:nvPr/>
        </p:nvCxnSpPr>
        <p:spPr>
          <a:xfrm flipH="1">
            <a:off x="1103713" y="6786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/>
          <p:nvPr/>
        </p:nvCxnSpPr>
        <p:spPr>
          <a:xfrm flipH="1">
            <a:off x="1118936" y="33157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152"/>
          <p:cNvSpPr/>
          <p:nvPr/>
        </p:nvSpPr>
        <p:spPr>
          <a:xfrm>
            <a:off x="3058216" y="631988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1" name="Rectangle 150"/>
          <p:cNvSpPr/>
          <p:nvPr/>
        </p:nvSpPr>
        <p:spPr>
          <a:xfrm>
            <a:off x="2787159" y="89208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" name="Rectangle 3"/>
          <p:cNvSpPr/>
          <p:nvPr/>
        </p:nvSpPr>
        <p:spPr>
          <a:xfrm>
            <a:off x="8687489" y="10209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" name="Group 16"/>
          <p:cNvGrpSpPr/>
          <p:nvPr/>
        </p:nvGrpSpPr>
        <p:grpSpPr>
          <a:xfrm>
            <a:off x="8726424" y="1060055"/>
            <a:ext cx="1122885" cy="327607"/>
            <a:chOff x="3824287" y="1995689"/>
            <a:chExt cx="1092993" cy="318886"/>
          </a:xfrm>
        </p:grpSpPr>
        <p:sp>
          <p:nvSpPr>
            <p:cNvPr id="10" name="Rectangle 9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" name="Straight Connector 11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8726422" y="1891822"/>
            <a:ext cx="1122885" cy="327607"/>
            <a:chOff x="3976687" y="2148089"/>
            <a:chExt cx="1092993" cy="318886"/>
          </a:xfrm>
        </p:grpSpPr>
        <p:sp>
          <p:nvSpPr>
            <p:cNvPr id="19" name="Rectangle 1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" name="Straight Connector 1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8726422" y="26945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4" name="Rectangle 23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Connector 27"/>
          <p:cNvCxnSpPr/>
          <p:nvPr/>
        </p:nvCxnSpPr>
        <p:spPr>
          <a:xfrm>
            <a:off x="9297638" y="15011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9287853" y="23107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9286627" y="31297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674423" y="270370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066819" y="271348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434835" y="270635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761115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3726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28051" y="10655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62299" y="189506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910" y="189506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29235" y="1894452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89338" y="10209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61" name="Group 60"/>
          <p:cNvGrpSpPr/>
          <p:nvPr/>
        </p:nvGrpSpPr>
        <p:grpSpPr>
          <a:xfrm>
            <a:off x="5628273" y="1060055"/>
            <a:ext cx="1122885" cy="327607"/>
            <a:chOff x="3824287" y="1995689"/>
            <a:chExt cx="1092993" cy="318886"/>
          </a:xfrm>
        </p:grpSpPr>
        <p:sp>
          <p:nvSpPr>
            <p:cNvPr id="62" name="Rectangle 61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63" name="Straight Connector 62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/>
          <p:cNvGrpSpPr/>
          <p:nvPr/>
        </p:nvGrpSpPr>
        <p:grpSpPr>
          <a:xfrm>
            <a:off x="5628272" y="26945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70" name="Rectangle 6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71" name="Straight Connector 7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Straight Connector 72"/>
          <p:cNvCxnSpPr/>
          <p:nvPr/>
        </p:nvCxnSpPr>
        <p:spPr>
          <a:xfrm>
            <a:off x="6199487" y="15011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6189702" y="23107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6188476" y="31297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5662964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45575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29900" y="10655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93325" y="3667124"/>
            <a:ext cx="2934344" cy="938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44" dirty="0"/>
              <a:t>orientation-encoding matrix </a:t>
            </a:r>
            <a:r>
              <a:rPr lang="en-US" sz="2050" b="1" i="1" dirty="0"/>
              <a:t>Q</a:t>
            </a:r>
            <a:r>
              <a:rPr lang="en-US" sz="1644" i="1" dirty="0"/>
              <a:t> </a:t>
            </a:r>
          </a:p>
          <a:p>
            <a:pPr algn="ctr"/>
            <a:r>
              <a:rPr lang="en-US" sz="1644" dirty="0"/>
              <a:t>for the four-taxa-set </a:t>
            </a:r>
          </a:p>
          <a:p>
            <a:pPr algn="ctr"/>
            <a:r>
              <a:rPr lang="en-US" sz="1644" dirty="0"/>
              <a:t>(</a:t>
            </a:r>
            <a:r>
              <a:rPr lang="en-US" sz="1644" i="1" dirty="0"/>
              <a:t>t</a:t>
            </a:r>
            <a:r>
              <a:rPr lang="en-US" sz="1644" i="1" baseline="-25000" dirty="0"/>
              <a:t>1</a:t>
            </a:r>
            <a:r>
              <a:rPr lang="en-US" sz="1644" i="1" dirty="0"/>
              <a:t>, t</a:t>
            </a:r>
            <a:r>
              <a:rPr lang="en-US" sz="1644" i="1" baseline="-25000" dirty="0"/>
              <a:t>2</a:t>
            </a:r>
            <a:r>
              <a:rPr lang="en-US" sz="1644" i="1" dirty="0"/>
              <a:t>, t</a:t>
            </a:r>
            <a:r>
              <a:rPr lang="en-US" sz="1644" i="1" baseline="-25000" dirty="0"/>
              <a:t>3</a:t>
            </a:r>
            <a:r>
              <a:rPr lang="en-US" sz="1644" i="1" dirty="0"/>
              <a:t>, t</a:t>
            </a:r>
            <a:r>
              <a:rPr lang="en-US" sz="1644" i="1" baseline="-25000" dirty="0"/>
              <a:t>4</a:t>
            </a:r>
            <a:r>
              <a:rPr lang="en-US" sz="1644" dirty="0"/>
              <a:t>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294089" y="3674265"/>
            <a:ext cx="185553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44" dirty="0"/>
              <a:t>masked matrix </a:t>
            </a:r>
            <a:r>
              <a:rPr lang="en-US" sz="2050" b="1" i="1" dirty="0" err="1"/>
              <a:t>Q</a:t>
            </a:r>
            <a:r>
              <a:rPr lang="en-US" sz="2050" b="1" i="1" baseline="30000" dirty="0" err="1"/>
              <a:t>m</a:t>
            </a:r>
            <a:endParaRPr lang="en-US" sz="2050" b="1" i="1" baseline="30000" dirty="0"/>
          </a:p>
        </p:txBody>
      </p:sp>
      <p:grpSp>
        <p:nvGrpSpPr>
          <p:cNvPr id="91" name="Group 90"/>
          <p:cNvGrpSpPr/>
          <p:nvPr/>
        </p:nvGrpSpPr>
        <p:grpSpPr>
          <a:xfrm>
            <a:off x="5628272" y="1888742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92" name="Rectangle 91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TextBox 94"/>
          <p:cNvSpPr txBox="1"/>
          <p:nvPr/>
        </p:nvSpPr>
        <p:spPr>
          <a:xfrm>
            <a:off x="5590595" y="189411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5963419" y="189900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341221" y="189186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587983" y="26959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5960806" y="27008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338608" y="26937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1" name="Right Arrow 100"/>
          <p:cNvSpPr/>
          <p:nvPr/>
        </p:nvSpPr>
        <p:spPr>
          <a:xfrm rot="10800000">
            <a:off x="6866983" y="1791314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2" name="TextBox 101"/>
          <p:cNvSpPr txBox="1"/>
          <p:nvPr/>
        </p:nvSpPr>
        <p:spPr>
          <a:xfrm>
            <a:off x="7292087" y="1566231"/>
            <a:ext cx="113500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Masking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846323" y="1003462"/>
            <a:ext cx="146437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t</a:t>
            </a:r>
            <a:r>
              <a:rPr lang="en-US" sz="2050" i="1" baseline="-25000" dirty="0"/>
              <a:t>3</a:t>
            </a:r>
            <a:r>
              <a:rPr lang="en-US" sz="2050" i="1" dirty="0"/>
              <a:t>,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48693" y="1809910"/>
            <a:ext cx="146766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</a:t>
            </a:r>
            <a:r>
              <a:rPr lang="en-US" sz="2050" b="1" i="1" dirty="0">
                <a:solidFill>
                  <a:srgbClr val="0070C0"/>
                </a:solidFill>
              </a:rPr>
              <a:t>t</a:t>
            </a:r>
            <a:r>
              <a:rPr lang="en-US" sz="2050" b="1" i="1" baseline="-25000" dirty="0">
                <a:solidFill>
                  <a:srgbClr val="0070C0"/>
                </a:solidFill>
              </a:rPr>
              <a:t>3</a:t>
            </a:r>
            <a:r>
              <a:rPr lang="en-US" sz="2050" i="1" dirty="0"/>
              <a:t>,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42879" y="2642573"/>
            <a:ext cx="1469314" cy="419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t</a:t>
            </a:r>
            <a:r>
              <a:rPr lang="en-US" sz="2050" i="1" baseline="-25000" dirty="0"/>
              <a:t>3</a:t>
            </a:r>
            <a:r>
              <a:rPr lang="en-US" sz="2050" i="1" dirty="0"/>
              <a:t>, </a:t>
            </a:r>
            <a:r>
              <a:rPr lang="en-US" sz="2055" b="1" i="1" dirty="0">
                <a:solidFill>
                  <a:srgbClr val="FF0000"/>
                </a:solidFill>
              </a:rPr>
              <a:t>t</a:t>
            </a:r>
            <a:r>
              <a:rPr lang="en-US" sz="2055" b="1" i="1" baseline="-25000" dirty="0">
                <a:solidFill>
                  <a:srgbClr val="FF0000"/>
                </a:solidFill>
              </a:rPr>
              <a:t>4</a:t>
            </a:r>
            <a:r>
              <a:rPr lang="en-US" sz="2050" dirty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33023" y="975480"/>
            <a:ext cx="41862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g</a:t>
            </a:r>
            <a:r>
              <a:rPr lang="en-US" sz="2050" i="1" baseline="-25000" dirty="0"/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31874" y="1794999"/>
            <a:ext cx="37086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j</a:t>
            </a:r>
            <a:endParaRPr lang="en-US" sz="2050" i="1" baseline="-25000" dirty="0"/>
          </a:p>
        </p:txBody>
      </p:sp>
      <p:sp>
        <p:nvSpPr>
          <p:cNvPr id="68" name="TextBox 67"/>
          <p:cNvSpPr txBox="1"/>
          <p:nvPr/>
        </p:nvSpPr>
        <p:spPr>
          <a:xfrm>
            <a:off x="8301744" y="2613921"/>
            <a:ext cx="410393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k</a:t>
            </a:r>
            <a:endParaRPr lang="en-US" sz="2050" i="1" baseline="-25000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11244478" y="844349"/>
            <a:ext cx="26095" cy="2646217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8650835" y="771427"/>
            <a:ext cx="1269369" cy="8368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622368" y="296313"/>
            <a:ext cx="151865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orientations</a:t>
            </a:r>
          </a:p>
        </p:txBody>
      </p:sp>
      <p:sp>
        <p:nvSpPr>
          <p:cNvPr id="77" name="TextBox 76"/>
          <p:cNvSpPr txBox="1"/>
          <p:nvPr/>
        </p:nvSpPr>
        <p:spPr>
          <a:xfrm rot="5400000">
            <a:off x="10815238" y="2134543"/>
            <a:ext cx="134329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gene trees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642958" y="10209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24" name="Group 123"/>
          <p:cNvGrpSpPr/>
          <p:nvPr/>
        </p:nvGrpSpPr>
        <p:grpSpPr>
          <a:xfrm>
            <a:off x="2681893" y="1060055"/>
            <a:ext cx="1122885" cy="327607"/>
            <a:chOff x="3824287" y="1995689"/>
            <a:chExt cx="1092993" cy="318886"/>
          </a:xfrm>
        </p:grpSpPr>
        <p:sp>
          <p:nvSpPr>
            <p:cNvPr id="125" name="Rectangle 12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6" name="Straight Connector 12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Group 127"/>
          <p:cNvGrpSpPr/>
          <p:nvPr/>
        </p:nvGrpSpPr>
        <p:grpSpPr>
          <a:xfrm>
            <a:off x="2681892" y="26945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29" name="Rectangle 12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30" name="Straight Connector 12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2" name="Straight Connector 131"/>
          <p:cNvCxnSpPr/>
          <p:nvPr/>
        </p:nvCxnSpPr>
        <p:spPr>
          <a:xfrm>
            <a:off x="3253108" y="15011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/>
          <p:nvPr/>
        </p:nvCxnSpPr>
        <p:spPr>
          <a:xfrm>
            <a:off x="3243322" y="23107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/>
          <p:nvPr/>
        </p:nvCxnSpPr>
        <p:spPr>
          <a:xfrm>
            <a:off x="3242097" y="31297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2716584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099195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483520" y="10655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347709" y="3674265"/>
            <a:ext cx="228496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44" dirty="0"/>
              <a:t>masked tensor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masked</a:t>
            </a:r>
            <a:endParaRPr lang="en-US" sz="2050" b="1" i="1" baseline="-25000" dirty="0"/>
          </a:p>
        </p:txBody>
      </p:sp>
      <p:grpSp>
        <p:nvGrpSpPr>
          <p:cNvPr id="139" name="Group 138"/>
          <p:cNvGrpSpPr/>
          <p:nvPr/>
        </p:nvGrpSpPr>
        <p:grpSpPr>
          <a:xfrm>
            <a:off x="2681892" y="1888742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40" name="Rectangle 13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41" name="Straight Connector 14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" name="TextBox 142"/>
          <p:cNvSpPr txBox="1"/>
          <p:nvPr/>
        </p:nvSpPr>
        <p:spPr>
          <a:xfrm>
            <a:off x="2644215" y="189411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3017039" y="189900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3394841" y="189186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641603" y="26959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3014427" y="27008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3392229" y="26937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9" name="Right Arrow 148"/>
          <p:cNvSpPr/>
          <p:nvPr/>
        </p:nvSpPr>
        <p:spPr>
          <a:xfrm rot="10800000">
            <a:off x="4039685" y="1791314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0" name="TextBox 149"/>
          <p:cNvSpPr txBox="1"/>
          <p:nvPr/>
        </p:nvSpPr>
        <p:spPr>
          <a:xfrm>
            <a:off x="4417127" y="972775"/>
            <a:ext cx="1134148" cy="1067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b="1" dirty="0"/>
              <a:t>Stacking</a:t>
            </a:r>
          </a:p>
          <a:p>
            <a:pPr algn="ctr"/>
            <a:r>
              <a:rPr lang="en-US" sz="2050" i="1" baseline="30000" dirty="0"/>
              <a:t>N</a:t>
            </a:r>
            <a:r>
              <a:rPr lang="en-US" sz="2050" i="1" baseline="16000" dirty="0"/>
              <a:t>c</a:t>
            </a:r>
            <a:r>
              <a:rPr lang="en-US" sz="2050" i="1" dirty="0"/>
              <a:t>C</a:t>
            </a:r>
            <a:r>
              <a:rPr lang="en-US" sz="2050" i="1" baseline="-25000" dirty="0"/>
              <a:t>4</a:t>
            </a:r>
            <a:r>
              <a:rPr lang="en-US" sz="2050" i="1" dirty="0"/>
              <a:t> </a:t>
            </a:r>
          </a:p>
          <a:p>
            <a:pPr algn="ctr"/>
            <a:r>
              <a:rPr lang="en-US" sz="2050" dirty="0"/>
              <a:t>matrices</a:t>
            </a:r>
          </a:p>
        </p:txBody>
      </p:sp>
      <p:cxnSp>
        <p:nvCxnSpPr>
          <p:cNvPr id="154" name="Straight Connector 153"/>
          <p:cNvCxnSpPr/>
          <p:nvPr/>
        </p:nvCxnSpPr>
        <p:spPr>
          <a:xfrm flipH="1">
            <a:off x="2832682" y="664596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/>
          <p:nvPr/>
        </p:nvCxnSpPr>
        <p:spPr>
          <a:xfrm flipH="1">
            <a:off x="4012659" y="6786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/>
          <p:cNvCxnSpPr/>
          <p:nvPr/>
        </p:nvCxnSpPr>
        <p:spPr>
          <a:xfrm flipH="1">
            <a:off x="4027882" y="33157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 flipV="1">
            <a:off x="2474619" y="469368"/>
            <a:ext cx="539811" cy="529320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 rot="18826477">
            <a:off x="1680224" y="354528"/>
            <a:ext cx="170020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four-taxa-sets</a:t>
            </a:r>
          </a:p>
        </p:txBody>
      </p:sp>
      <p:sp>
        <p:nvSpPr>
          <p:cNvPr id="103" name="Right Arrow 102"/>
          <p:cNvSpPr/>
          <p:nvPr/>
        </p:nvSpPr>
        <p:spPr>
          <a:xfrm rot="10800000">
            <a:off x="1106985" y="1817802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4" name="TextBox 103"/>
          <p:cNvSpPr txBox="1"/>
          <p:nvPr/>
        </p:nvSpPr>
        <p:spPr>
          <a:xfrm>
            <a:off x="1459211" y="1592719"/>
            <a:ext cx="91301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+ </a:t>
            </a:r>
            <a:r>
              <a:rPr lang="en-US" sz="2050" b="1" i="1" dirty="0" err="1"/>
              <a:t>PEnc</a:t>
            </a:r>
            <a:endParaRPr lang="en-US" sz="2050" b="1" i="1" dirty="0"/>
          </a:p>
        </p:txBody>
      </p:sp>
      <p:sp>
        <p:nvSpPr>
          <p:cNvPr id="171" name="Rectangle 170"/>
          <p:cNvSpPr/>
          <p:nvPr/>
        </p:nvSpPr>
        <p:spPr>
          <a:xfrm>
            <a:off x="13565104" y="631988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72" name="Rectangle 171"/>
          <p:cNvSpPr/>
          <p:nvPr/>
        </p:nvSpPr>
        <p:spPr>
          <a:xfrm>
            <a:off x="13294047" y="89208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73" name="Rectangle 172"/>
          <p:cNvSpPr/>
          <p:nvPr/>
        </p:nvSpPr>
        <p:spPr>
          <a:xfrm>
            <a:off x="13149847" y="10209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4" name="Group 173"/>
          <p:cNvGrpSpPr/>
          <p:nvPr/>
        </p:nvGrpSpPr>
        <p:grpSpPr>
          <a:xfrm>
            <a:off x="13188781" y="1060055"/>
            <a:ext cx="1122885" cy="327607"/>
            <a:chOff x="3824287" y="1995689"/>
            <a:chExt cx="1092993" cy="318886"/>
          </a:xfrm>
        </p:grpSpPr>
        <p:sp>
          <p:nvSpPr>
            <p:cNvPr id="175" name="Rectangle 17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76" name="Straight Connector 17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/>
        </p:nvGrpSpPr>
        <p:grpSpPr>
          <a:xfrm>
            <a:off x="13188780" y="26945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79" name="Rectangle 17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80" name="Straight Connector 17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2" name="Straight Connector 181"/>
          <p:cNvCxnSpPr/>
          <p:nvPr/>
        </p:nvCxnSpPr>
        <p:spPr>
          <a:xfrm>
            <a:off x="13759996" y="15011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>
            <a:off x="13750211" y="23107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/>
          <p:cNvCxnSpPr/>
          <p:nvPr/>
        </p:nvCxnSpPr>
        <p:spPr>
          <a:xfrm>
            <a:off x="13748985" y="31297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>
            <a:off x="13223472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3606084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3990408" y="10655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2725448" y="3613267"/>
            <a:ext cx="2398792" cy="743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dirty="0"/>
              <a:t>target of the </a:t>
            </a:r>
          </a:p>
          <a:p>
            <a:pPr algn="ctr"/>
            <a:r>
              <a:rPr lang="en-US" sz="2050" dirty="0" err="1"/>
              <a:t>autoencoder</a:t>
            </a:r>
            <a:r>
              <a:rPr lang="en-US" sz="2050" b="1" i="1" dirty="0"/>
              <a:t>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stacked</a:t>
            </a:r>
            <a:endParaRPr lang="en-US" sz="2050" b="1" i="1" baseline="-25000" dirty="0"/>
          </a:p>
        </p:txBody>
      </p:sp>
      <p:grpSp>
        <p:nvGrpSpPr>
          <p:cNvPr id="189" name="Group 188"/>
          <p:cNvGrpSpPr/>
          <p:nvPr/>
        </p:nvGrpSpPr>
        <p:grpSpPr>
          <a:xfrm>
            <a:off x="13188780" y="1888742"/>
            <a:ext cx="1122885" cy="327607"/>
            <a:chOff x="3976687" y="2148089"/>
            <a:chExt cx="1092993" cy="318886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90" name="Rectangle 18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91" name="Straight Connector 19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6" name="TextBox 195"/>
          <p:cNvSpPr txBox="1"/>
          <p:nvPr/>
        </p:nvSpPr>
        <p:spPr>
          <a:xfrm>
            <a:off x="13148491" y="26959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13521315" y="27008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13899117" y="26937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199" name="Straight Connector 198"/>
          <p:cNvCxnSpPr/>
          <p:nvPr/>
        </p:nvCxnSpPr>
        <p:spPr>
          <a:xfrm flipH="1">
            <a:off x="13339571" y="664596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/>
          <p:cNvCxnSpPr/>
          <p:nvPr/>
        </p:nvCxnSpPr>
        <p:spPr>
          <a:xfrm flipH="1">
            <a:off x="14519547" y="6786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/>
          <p:cNvCxnSpPr/>
          <p:nvPr/>
        </p:nvCxnSpPr>
        <p:spPr>
          <a:xfrm flipH="1">
            <a:off x="14534770" y="33157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Right Arrow 201"/>
          <p:cNvSpPr/>
          <p:nvPr/>
        </p:nvSpPr>
        <p:spPr>
          <a:xfrm>
            <a:off x="11637823" y="1906579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03" name="TextBox 202"/>
          <p:cNvSpPr txBox="1"/>
          <p:nvPr/>
        </p:nvSpPr>
        <p:spPr>
          <a:xfrm>
            <a:off x="11628177" y="1117061"/>
            <a:ext cx="1134148" cy="1067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b="1" dirty="0"/>
              <a:t>Stacking</a:t>
            </a:r>
          </a:p>
          <a:p>
            <a:pPr algn="ctr"/>
            <a:r>
              <a:rPr lang="en-US" sz="2050" i="1" baseline="30000" dirty="0"/>
              <a:t>N</a:t>
            </a:r>
            <a:r>
              <a:rPr lang="en-US" sz="2050" i="1" baseline="16000" dirty="0"/>
              <a:t>c</a:t>
            </a:r>
            <a:r>
              <a:rPr lang="en-US" sz="2050" i="1" dirty="0"/>
              <a:t>C</a:t>
            </a:r>
            <a:r>
              <a:rPr lang="en-US" sz="2050" i="1" baseline="-25000" dirty="0"/>
              <a:t>4</a:t>
            </a:r>
            <a:r>
              <a:rPr lang="en-US" sz="2050" i="1" dirty="0"/>
              <a:t> </a:t>
            </a:r>
          </a:p>
          <a:p>
            <a:pPr algn="ctr"/>
            <a:r>
              <a:rPr lang="en-US" sz="2050" dirty="0"/>
              <a:t>matrices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3219684" y="1891938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3602296" y="1891938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3986621" y="18913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41" name="Trapezoid 40"/>
          <p:cNvSpPr/>
          <p:nvPr/>
        </p:nvSpPr>
        <p:spPr>
          <a:xfrm rot="5400000">
            <a:off x="4799544" y="5496104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12" name="Trapezoid 211"/>
          <p:cNvSpPr/>
          <p:nvPr/>
        </p:nvSpPr>
        <p:spPr>
          <a:xfrm rot="16200000">
            <a:off x="7026655" y="5493228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2" name="Rectangle 41"/>
          <p:cNvSpPr/>
          <p:nvPr/>
        </p:nvSpPr>
        <p:spPr>
          <a:xfrm>
            <a:off x="6868443" y="5894431"/>
            <a:ext cx="269534" cy="104185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cxnSp>
        <p:nvCxnSpPr>
          <p:cNvPr id="213" name="Straight Arrow Connector 212"/>
          <p:cNvCxnSpPr/>
          <p:nvPr/>
        </p:nvCxnSpPr>
        <p:spPr>
          <a:xfrm>
            <a:off x="4967993" y="5153502"/>
            <a:ext cx="1900450" cy="583188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213"/>
          <p:cNvSpPr txBox="1"/>
          <p:nvPr/>
        </p:nvSpPr>
        <p:spPr>
          <a:xfrm rot="995966">
            <a:off x="5281824" y="5025055"/>
            <a:ext cx="143920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E</a:t>
            </a:r>
            <a:r>
              <a:rPr lang="en-US" sz="2050" dirty="0"/>
              <a:t> FC layers</a:t>
            </a:r>
          </a:p>
        </p:txBody>
      </p:sp>
      <p:cxnSp>
        <p:nvCxnSpPr>
          <p:cNvPr id="215" name="Straight Arrow Connector 214"/>
          <p:cNvCxnSpPr/>
          <p:nvPr/>
        </p:nvCxnSpPr>
        <p:spPr>
          <a:xfrm flipV="1">
            <a:off x="7187276" y="5163807"/>
            <a:ext cx="1841258" cy="555022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TextBox 215"/>
          <p:cNvSpPr txBox="1"/>
          <p:nvPr/>
        </p:nvSpPr>
        <p:spPr>
          <a:xfrm rot="20572771">
            <a:off x="7342938" y="5012235"/>
            <a:ext cx="146226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D</a:t>
            </a:r>
            <a:r>
              <a:rPr lang="en-US" sz="2050" dirty="0"/>
              <a:t> FC layers</a:t>
            </a:r>
          </a:p>
        </p:txBody>
      </p:sp>
      <p:sp>
        <p:nvSpPr>
          <p:cNvPr id="52" name="TextBox 51"/>
          <p:cNvSpPr txBox="1"/>
          <p:nvPr/>
        </p:nvSpPr>
        <p:spPr>
          <a:xfrm rot="20597095">
            <a:off x="5334500" y="7219100"/>
            <a:ext cx="110074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Encoder</a:t>
            </a:r>
          </a:p>
        </p:txBody>
      </p:sp>
      <p:sp>
        <p:nvSpPr>
          <p:cNvPr id="217" name="TextBox 216"/>
          <p:cNvSpPr txBox="1"/>
          <p:nvPr/>
        </p:nvSpPr>
        <p:spPr>
          <a:xfrm rot="1022148">
            <a:off x="7529780" y="7212688"/>
            <a:ext cx="113039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Decoder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77283" y="6872145"/>
            <a:ext cx="477914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>
                <a:solidFill>
                  <a:srgbClr val="0070C0"/>
                </a:solidFill>
              </a:rPr>
              <a:t>h</a:t>
            </a:r>
            <a:r>
              <a:rPr lang="en-US" sz="2876" b="1" i="1" baseline="-25000" dirty="0" err="1">
                <a:solidFill>
                  <a:srgbClr val="0070C0"/>
                </a:solidFill>
              </a:rPr>
              <a:t>r</a:t>
            </a:r>
            <a:endParaRPr lang="en-US" sz="3287" b="1" i="1" baseline="-25000" dirty="0">
              <a:solidFill>
                <a:srgbClr val="0070C0"/>
              </a:solidFill>
            </a:endParaRPr>
          </a:p>
        </p:txBody>
      </p:sp>
      <p:cxnSp>
        <p:nvCxnSpPr>
          <p:cNvPr id="36" name="Elbow Connector 35"/>
          <p:cNvCxnSpPr/>
          <p:nvPr/>
        </p:nvCxnSpPr>
        <p:spPr>
          <a:xfrm rot="16200000" flipH="1">
            <a:off x="1515284" y="3260897"/>
            <a:ext cx="2045849" cy="4241568"/>
          </a:xfrm>
          <a:prstGeom prst="bentConnector2">
            <a:avLst/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859436" y="5865420"/>
            <a:ext cx="815516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/>
              <a:t>X (</a:t>
            </a:r>
            <a:r>
              <a:rPr lang="en-US" sz="2876" b="1" i="1" dirty="0" err="1"/>
              <a:t>i</a:t>
            </a:r>
            <a:r>
              <a:rPr lang="en-US" sz="2876" b="1" i="1" dirty="0"/>
              <a:t>)</a:t>
            </a:r>
          </a:p>
        </p:txBody>
      </p:sp>
      <p:cxnSp>
        <p:nvCxnSpPr>
          <p:cNvPr id="204" name="Elbow Connector 203"/>
          <p:cNvCxnSpPr/>
          <p:nvPr/>
        </p:nvCxnSpPr>
        <p:spPr>
          <a:xfrm rot="5400000">
            <a:off x="10655879" y="3049227"/>
            <a:ext cx="1920291" cy="4774227"/>
          </a:xfrm>
          <a:prstGeom prst="bentConnector2">
            <a:avLst/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TextBox 204"/>
          <p:cNvSpPr txBox="1"/>
          <p:nvPr/>
        </p:nvSpPr>
        <p:spPr>
          <a:xfrm>
            <a:off x="11141098" y="5866759"/>
            <a:ext cx="1652179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/>
              <a:t>Q</a:t>
            </a:r>
            <a:r>
              <a:rPr lang="en-US" sz="2876" b="1" i="1" baseline="-25000" dirty="0" err="1"/>
              <a:t>stacked</a:t>
            </a:r>
            <a:r>
              <a:rPr lang="en-US" sz="2876" b="1" i="1" dirty="0"/>
              <a:t> (</a:t>
            </a:r>
            <a:r>
              <a:rPr lang="en-US" sz="2876" b="1" i="1" dirty="0" err="1"/>
              <a:t>i</a:t>
            </a:r>
            <a:r>
              <a:rPr lang="en-US" sz="2876" b="1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57326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04"/>
          <p:cNvSpPr/>
          <p:nvPr/>
        </p:nvSpPr>
        <p:spPr>
          <a:xfrm>
            <a:off x="149262" y="631984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6" name="Rectangle 105"/>
          <p:cNvSpPr/>
          <p:nvPr/>
        </p:nvSpPr>
        <p:spPr>
          <a:xfrm>
            <a:off x="-121799" y="892079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7" name="Rectangle 106"/>
          <p:cNvSpPr/>
          <p:nvPr/>
        </p:nvSpPr>
        <p:spPr>
          <a:xfrm>
            <a:off x="-266000" y="1020905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08" name="Group 107"/>
          <p:cNvGrpSpPr/>
          <p:nvPr/>
        </p:nvGrpSpPr>
        <p:grpSpPr>
          <a:xfrm>
            <a:off x="-1141467" y="1060047"/>
            <a:ext cx="1122885" cy="327607"/>
            <a:chOff x="3824287" y="1995689"/>
            <a:chExt cx="1092993" cy="318886"/>
          </a:xfrm>
        </p:grpSpPr>
        <p:sp>
          <p:nvSpPr>
            <p:cNvPr id="109" name="Rectangle 108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10" name="Straight Connector 109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Group 111"/>
          <p:cNvGrpSpPr/>
          <p:nvPr/>
        </p:nvGrpSpPr>
        <p:grpSpPr>
          <a:xfrm>
            <a:off x="-1141468" y="2694541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13" name="Rectangle 112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14" name="Straight Connector 113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6" name="Straight Connector 115"/>
          <p:cNvCxnSpPr/>
          <p:nvPr/>
        </p:nvCxnSpPr>
        <p:spPr>
          <a:xfrm>
            <a:off x="-570239" y="1501175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>
            <a:off x="-580024" y="2310752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-581250" y="3129788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-1106773" y="106616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-724161" y="106616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-339837" y="106554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-378403" y="3613259"/>
            <a:ext cx="1800394" cy="743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dirty="0"/>
              <a:t>input of the </a:t>
            </a:r>
          </a:p>
          <a:p>
            <a:pPr algn="ctr"/>
            <a:r>
              <a:rPr lang="en-US" sz="2050" dirty="0" err="1"/>
              <a:t>autoencoder</a:t>
            </a:r>
            <a:r>
              <a:rPr lang="en-US" sz="2050" b="1" i="1" dirty="0"/>
              <a:t> X</a:t>
            </a:r>
            <a:endParaRPr lang="en-US" sz="2050" b="1" i="1" baseline="-25000" dirty="0"/>
          </a:p>
        </p:txBody>
      </p:sp>
      <p:grpSp>
        <p:nvGrpSpPr>
          <p:cNvPr id="152" name="Group 151"/>
          <p:cNvGrpSpPr/>
          <p:nvPr/>
        </p:nvGrpSpPr>
        <p:grpSpPr>
          <a:xfrm>
            <a:off x="-1141468" y="1888734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59" name="Rectangle 15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60" name="Straight Connector 15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2" name="TextBox 161"/>
          <p:cNvSpPr txBox="1"/>
          <p:nvPr/>
        </p:nvSpPr>
        <p:spPr>
          <a:xfrm>
            <a:off x="-1179142" y="189410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-806318" y="189899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485891" y="189186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-1181754" y="269598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-808930" y="270087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483279" y="269374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168" name="Straight Connector 167"/>
          <p:cNvCxnSpPr/>
          <p:nvPr/>
        </p:nvCxnSpPr>
        <p:spPr>
          <a:xfrm flipH="1">
            <a:off x="-990667" y="664588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/>
          <p:nvPr/>
        </p:nvCxnSpPr>
        <p:spPr>
          <a:xfrm flipH="1">
            <a:off x="1103713" y="6786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/>
          <p:nvPr/>
        </p:nvCxnSpPr>
        <p:spPr>
          <a:xfrm flipH="1">
            <a:off x="1118936" y="33157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152"/>
          <p:cNvSpPr/>
          <p:nvPr/>
        </p:nvSpPr>
        <p:spPr>
          <a:xfrm>
            <a:off x="3058216" y="631988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1" name="Rectangle 150"/>
          <p:cNvSpPr/>
          <p:nvPr/>
        </p:nvSpPr>
        <p:spPr>
          <a:xfrm>
            <a:off x="2787159" y="89208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" name="Rectangle 3"/>
          <p:cNvSpPr/>
          <p:nvPr/>
        </p:nvSpPr>
        <p:spPr>
          <a:xfrm>
            <a:off x="8687489" y="10209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" name="Group 16"/>
          <p:cNvGrpSpPr/>
          <p:nvPr/>
        </p:nvGrpSpPr>
        <p:grpSpPr>
          <a:xfrm>
            <a:off x="8726424" y="1060055"/>
            <a:ext cx="1122885" cy="327607"/>
            <a:chOff x="3824287" y="1995689"/>
            <a:chExt cx="1092993" cy="318886"/>
          </a:xfrm>
        </p:grpSpPr>
        <p:sp>
          <p:nvSpPr>
            <p:cNvPr id="10" name="Rectangle 9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" name="Straight Connector 11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8726422" y="1891822"/>
            <a:ext cx="1122885" cy="327607"/>
            <a:chOff x="3976687" y="2148089"/>
            <a:chExt cx="1092993" cy="318886"/>
          </a:xfrm>
        </p:grpSpPr>
        <p:sp>
          <p:nvSpPr>
            <p:cNvPr id="19" name="Rectangle 1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" name="Straight Connector 1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8726422" y="26945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4" name="Rectangle 23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Connector 27"/>
          <p:cNvCxnSpPr/>
          <p:nvPr/>
        </p:nvCxnSpPr>
        <p:spPr>
          <a:xfrm>
            <a:off x="9297638" y="15011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9287853" y="23107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9286627" y="31297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674423" y="270370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066819" y="271348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434835" y="270635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761115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3726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28051" y="10655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62299" y="189506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910" y="189506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29235" y="1894452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89338" y="10209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61" name="Group 60"/>
          <p:cNvGrpSpPr/>
          <p:nvPr/>
        </p:nvGrpSpPr>
        <p:grpSpPr>
          <a:xfrm>
            <a:off x="5628273" y="1060055"/>
            <a:ext cx="1122885" cy="327607"/>
            <a:chOff x="3824287" y="1995689"/>
            <a:chExt cx="1092993" cy="318886"/>
          </a:xfrm>
        </p:grpSpPr>
        <p:sp>
          <p:nvSpPr>
            <p:cNvPr id="62" name="Rectangle 61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63" name="Straight Connector 62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/>
          <p:cNvGrpSpPr/>
          <p:nvPr/>
        </p:nvGrpSpPr>
        <p:grpSpPr>
          <a:xfrm>
            <a:off x="5628272" y="26945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70" name="Rectangle 6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71" name="Straight Connector 7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Straight Connector 72"/>
          <p:cNvCxnSpPr/>
          <p:nvPr/>
        </p:nvCxnSpPr>
        <p:spPr>
          <a:xfrm>
            <a:off x="6199487" y="15011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6189702" y="23107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6188476" y="31297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5662964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45575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29900" y="10655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93325" y="3667124"/>
            <a:ext cx="2934344" cy="938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44" dirty="0"/>
              <a:t>orientation-encoding matrix </a:t>
            </a:r>
            <a:r>
              <a:rPr lang="en-US" sz="2050" b="1" i="1" dirty="0"/>
              <a:t>Q</a:t>
            </a:r>
            <a:r>
              <a:rPr lang="en-US" sz="1644" i="1" dirty="0"/>
              <a:t> </a:t>
            </a:r>
          </a:p>
          <a:p>
            <a:pPr algn="ctr"/>
            <a:r>
              <a:rPr lang="en-US" sz="1644" dirty="0"/>
              <a:t>for the four-taxa-set </a:t>
            </a:r>
          </a:p>
          <a:p>
            <a:pPr algn="ctr"/>
            <a:r>
              <a:rPr lang="en-US" sz="1644" dirty="0"/>
              <a:t>(</a:t>
            </a:r>
            <a:r>
              <a:rPr lang="en-US" sz="1644" i="1" dirty="0"/>
              <a:t>t</a:t>
            </a:r>
            <a:r>
              <a:rPr lang="en-US" sz="1644" i="1" baseline="-25000" dirty="0"/>
              <a:t>1</a:t>
            </a:r>
            <a:r>
              <a:rPr lang="en-US" sz="1644" i="1" dirty="0"/>
              <a:t>, t</a:t>
            </a:r>
            <a:r>
              <a:rPr lang="en-US" sz="1644" i="1" baseline="-25000" dirty="0"/>
              <a:t>2</a:t>
            </a:r>
            <a:r>
              <a:rPr lang="en-US" sz="1644" i="1" dirty="0"/>
              <a:t>, t</a:t>
            </a:r>
            <a:r>
              <a:rPr lang="en-US" sz="1644" i="1" baseline="-25000" dirty="0"/>
              <a:t>3</a:t>
            </a:r>
            <a:r>
              <a:rPr lang="en-US" sz="1644" i="1" dirty="0"/>
              <a:t>, t</a:t>
            </a:r>
            <a:r>
              <a:rPr lang="en-US" sz="1644" i="1" baseline="-25000" dirty="0"/>
              <a:t>4</a:t>
            </a:r>
            <a:r>
              <a:rPr lang="en-US" sz="1644" dirty="0"/>
              <a:t>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294089" y="3674265"/>
            <a:ext cx="185553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44" dirty="0"/>
              <a:t>masked matrix </a:t>
            </a:r>
            <a:r>
              <a:rPr lang="en-US" sz="2050" b="1" i="1" dirty="0" err="1"/>
              <a:t>Q</a:t>
            </a:r>
            <a:r>
              <a:rPr lang="en-US" sz="2050" b="1" i="1" baseline="30000" dirty="0" err="1"/>
              <a:t>m</a:t>
            </a:r>
            <a:endParaRPr lang="en-US" sz="2050" b="1" i="1" baseline="30000" dirty="0"/>
          </a:p>
        </p:txBody>
      </p:sp>
      <p:grpSp>
        <p:nvGrpSpPr>
          <p:cNvPr id="91" name="Group 90"/>
          <p:cNvGrpSpPr/>
          <p:nvPr/>
        </p:nvGrpSpPr>
        <p:grpSpPr>
          <a:xfrm>
            <a:off x="5628272" y="1888742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92" name="Rectangle 91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TextBox 94"/>
          <p:cNvSpPr txBox="1"/>
          <p:nvPr/>
        </p:nvSpPr>
        <p:spPr>
          <a:xfrm>
            <a:off x="5590595" y="189411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5963419" y="189900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341221" y="189186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587983" y="26959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5960806" y="27008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338608" y="26937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1" name="Right Arrow 100"/>
          <p:cNvSpPr/>
          <p:nvPr/>
        </p:nvSpPr>
        <p:spPr>
          <a:xfrm rot="10800000">
            <a:off x="6866983" y="1791314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2" name="TextBox 101"/>
          <p:cNvSpPr txBox="1"/>
          <p:nvPr/>
        </p:nvSpPr>
        <p:spPr>
          <a:xfrm>
            <a:off x="7292087" y="1566231"/>
            <a:ext cx="113500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Masking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846323" y="1003462"/>
            <a:ext cx="146437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t</a:t>
            </a:r>
            <a:r>
              <a:rPr lang="en-US" sz="2050" i="1" baseline="-25000" dirty="0"/>
              <a:t>3</a:t>
            </a:r>
            <a:r>
              <a:rPr lang="en-US" sz="2050" i="1" dirty="0"/>
              <a:t>,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48693" y="1809910"/>
            <a:ext cx="146766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</a:t>
            </a:r>
            <a:r>
              <a:rPr lang="en-US" sz="2050" b="1" i="1" dirty="0">
                <a:solidFill>
                  <a:srgbClr val="0070C0"/>
                </a:solidFill>
              </a:rPr>
              <a:t>t</a:t>
            </a:r>
            <a:r>
              <a:rPr lang="en-US" sz="2050" b="1" i="1" baseline="-25000" dirty="0">
                <a:solidFill>
                  <a:srgbClr val="0070C0"/>
                </a:solidFill>
              </a:rPr>
              <a:t>3</a:t>
            </a:r>
            <a:r>
              <a:rPr lang="en-US" sz="2050" i="1" dirty="0"/>
              <a:t>,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42879" y="2642573"/>
            <a:ext cx="1469314" cy="419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t</a:t>
            </a:r>
            <a:r>
              <a:rPr lang="en-US" sz="2050" i="1" baseline="-25000" dirty="0"/>
              <a:t>3</a:t>
            </a:r>
            <a:r>
              <a:rPr lang="en-US" sz="2050" i="1" dirty="0"/>
              <a:t>, </a:t>
            </a:r>
            <a:r>
              <a:rPr lang="en-US" sz="2055" b="1" i="1" dirty="0">
                <a:solidFill>
                  <a:srgbClr val="FF0000"/>
                </a:solidFill>
              </a:rPr>
              <a:t>t</a:t>
            </a:r>
            <a:r>
              <a:rPr lang="en-US" sz="2055" b="1" i="1" baseline="-25000" dirty="0">
                <a:solidFill>
                  <a:srgbClr val="FF0000"/>
                </a:solidFill>
              </a:rPr>
              <a:t>4</a:t>
            </a:r>
            <a:r>
              <a:rPr lang="en-US" sz="2050" dirty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33023" y="975480"/>
            <a:ext cx="41862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g</a:t>
            </a:r>
            <a:r>
              <a:rPr lang="en-US" sz="2050" i="1" baseline="-25000" dirty="0"/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31874" y="1794999"/>
            <a:ext cx="37086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j</a:t>
            </a:r>
            <a:endParaRPr lang="en-US" sz="2050" i="1" baseline="-25000" dirty="0"/>
          </a:p>
        </p:txBody>
      </p:sp>
      <p:sp>
        <p:nvSpPr>
          <p:cNvPr id="68" name="TextBox 67"/>
          <p:cNvSpPr txBox="1"/>
          <p:nvPr/>
        </p:nvSpPr>
        <p:spPr>
          <a:xfrm>
            <a:off x="8301744" y="2613921"/>
            <a:ext cx="410393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k</a:t>
            </a:r>
            <a:endParaRPr lang="en-US" sz="2050" i="1" baseline="-25000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11244478" y="844349"/>
            <a:ext cx="26095" cy="2646217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8650835" y="771427"/>
            <a:ext cx="1269369" cy="8368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622368" y="296313"/>
            <a:ext cx="151865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orientations</a:t>
            </a:r>
          </a:p>
        </p:txBody>
      </p:sp>
      <p:sp>
        <p:nvSpPr>
          <p:cNvPr id="77" name="TextBox 76"/>
          <p:cNvSpPr txBox="1"/>
          <p:nvPr/>
        </p:nvSpPr>
        <p:spPr>
          <a:xfrm rot="5400000">
            <a:off x="10815238" y="2134543"/>
            <a:ext cx="134329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gene trees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642958" y="10209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24" name="Group 123"/>
          <p:cNvGrpSpPr/>
          <p:nvPr/>
        </p:nvGrpSpPr>
        <p:grpSpPr>
          <a:xfrm>
            <a:off x="2681893" y="1060055"/>
            <a:ext cx="1122885" cy="327607"/>
            <a:chOff x="3824287" y="1995689"/>
            <a:chExt cx="1092993" cy="318886"/>
          </a:xfrm>
        </p:grpSpPr>
        <p:sp>
          <p:nvSpPr>
            <p:cNvPr id="125" name="Rectangle 12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6" name="Straight Connector 12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Group 127"/>
          <p:cNvGrpSpPr/>
          <p:nvPr/>
        </p:nvGrpSpPr>
        <p:grpSpPr>
          <a:xfrm>
            <a:off x="2681892" y="26945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29" name="Rectangle 12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30" name="Straight Connector 12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2" name="Straight Connector 131"/>
          <p:cNvCxnSpPr/>
          <p:nvPr/>
        </p:nvCxnSpPr>
        <p:spPr>
          <a:xfrm>
            <a:off x="3253108" y="15011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/>
          <p:nvPr/>
        </p:nvCxnSpPr>
        <p:spPr>
          <a:xfrm>
            <a:off x="3243322" y="23107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/>
          <p:nvPr/>
        </p:nvCxnSpPr>
        <p:spPr>
          <a:xfrm>
            <a:off x="3242097" y="31297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2716584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099195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483520" y="10655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347709" y="3674265"/>
            <a:ext cx="228496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44" dirty="0"/>
              <a:t>masked tensor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masked</a:t>
            </a:r>
            <a:endParaRPr lang="en-US" sz="2050" b="1" i="1" baseline="-25000" dirty="0"/>
          </a:p>
        </p:txBody>
      </p:sp>
      <p:grpSp>
        <p:nvGrpSpPr>
          <p:cNvPr id="139" name="Group 138"/>
          <p:cNvGrpSpPr/>
          <p:nvPr/>
        </p:nvGrpSpPr>
        <p:grpSpPr>
          <a:xfrm>
            <a:off x="2681892" y="1888742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40" name="Rectangle 13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41" name="Straight Connector 14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" name="TextBox 142"/>
          <p:cNvSpPr txBox="1"/>
          <p:nvPr/>
        </p:nvSpPr>
        <p:spPr>
          <a:xfrm>
            <a:off x="2644215" y="189411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3017039" y="189900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3394841" y="189186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641603" y="26959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3014427" y="27008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3392229" y="26937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9" name="Right Arrow 148"/>
          <p:cNvSpPr/>
          <p:nvPr/>
        </p:nvSpPr>
        <p:spPr>
          <a:xfrm rot="10800000">
            <a:off x="4039685" y="1791314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0" name="TextBox 149"/>
          <p:cNvSpPr txBox="1"/>
          <p:nvPr/>
        </p:nvSpPr>
        <p:spPr>
          <a:xfrm>
            <a:off x="4417127" y="972775"/>
            <a:ext cx="1134148" cy="1067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b="1" dirty="0"/>
              <a:t>Stacking</a:t>
            </a:r>
          </a:p>
          <a:p>
            <a:pPr algn="ctr"/>
            <a:r>
              <a:rPr lang="en-US" sz="2050" i="1" baseline="30000" dirty="0"/>
              <a:t>N</a:t>
            </a:r>
            <a:r>
              <a:rPr lang="en-US" sz="2050" i="1" baseline="16000" dirty="0"/>
              <a:t>c</a:t>
            </a:r>
            <a:r>
              <a:rPr lang="en-US" sz="2050" i="1" dirty="0"/>
              <a:t>C</a:t>
            </a:r>
            <a:r>
              <a:rPr lang="en-US" sz="2050" i="1" baseline="-25000" dirty="0"/>
              <a:t>4</a:t>
            </a:r>
            <a:r>
              <a:rPr lang="en-US" sz="2050" i="1" dirty="0"/>
              <a:t> </a:t>
            </a:r>
          </a:p>
          <a:p>
            <a:pPr algn="ctr"/>
            <a:r>
              <a:rPr lang="en-US" sz="2050" dirty="0"/>
              <a:t>matrices</a:t>
            </a:r>
          </a:p>
        </p:txBody>
      </p:sp>
      <p:cxnSp>
        <p:nvCxnSpPr>
          <p:cNvPr id="154" name="Straight Connector 153"/>
          <p:cNvCxnSpPr/>
          <p:nvPr/>
        </p:nvCxnSpPr>
        <p:spPr>
          <a:xfrm flipH="1">
            <a:off x="2832682" y="664596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/>
          <p:nvPr/>
        </p:nvCxnSpPr>
        <p:spPr>
          <a:xfrm flipH="1">
            <a:off x="4012659" y="6786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/>
          <p:cNvCxnSpPr/>
          <p:nvPr/>
        </p:nvCxnSpPr>
        <p:spPr>
          <a:xfrm flipH="1">
            <a:off x="4027882" y="33157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 flipV="1">
            <a:off x="2474619" y="469368"/>
            <a:ext cx="539811" cy="529320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 rot="18826477">
            <a:off x="1680224" y="354528"/>
            <a:ext cx="170020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four-taxa-sets</a:t>
            </a:r>
          </a:p>
        </p:txBody>
      </p:sp>
      <p:sp>
        <p:nvSpPr>
          <p:cNvPr id="103" name="Right Arrow 102"/>
          <p:cNvSpPr/>
          <p:nvPr/>
        </p:nvSpPr>
        <p:spPr>
          <a:xfrm rot="10800000">
            <a:off x="1106985" y="1817802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4" name="TextBox 103"/>
          <p:cNvSpPr txBox="1"/>
          <p:nvPr/>
        </p:nvSpPr>
        <p:spPr>
          <a:xfrm>
            <a:off x="1459211" y="1592719"/>
            <a:ext cx="91301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+ </a:t>
            </a:r>
            <a:r>
              <a:rPr lang="en-US" sz="2050" b="1" i="1" dirty="0" err="1"/>
              <a:t>PEnc</a:t>
            </a:r>
            <a:endParaRPr lang="en-US" sz="2050" b="1" i="1" dirty="0"/>
          </a:p>
        </p:txBody>
      </p:sp>
      <p:sp>
        <p:nvSpPr>
          <p:cNvPr id="171" name="Rectangle 170"/>
          <p:cNvSpPr/>
          <p:nvPr/>
        </p:nvSpPr>
        <p:spPr>
          <a:xfrm>
            <a:off x="13565104" y="631988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72" name="Rectangle 171"/>
          <p:cNvSpPr/>
          <p:nvPr/>
        </p:nvSpPr>
        <p:spPr>
          <a:xfrm>
            <a:off x="13294047" y="89208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73" name="Rectangle 172"/>
          <p:cNvSpPr/>
          <p:nvPr/>
        </p:nvSpPr>
        <p:spPr>
          <a:xfrm>
            <a:off x="13149847" y="10209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4" name="Group 173"/>
          <p:cNvGrpSpPr/>
          <p:nvPr/>
        </p:nvGrpSpPr>
        <p:grpSpPr>
          <a:xfrm>
            <a:off x="13188781" y="1060055"/>
            <a:ext cx="1122885" cy="327607"/>
            <a:chOff x="3824287" y="1995689"/>
            <a:chExt cx="1092993" cy="318886"/>
          </a:xfrm>
        </p:grpSpPr>
        <p:sp>
          <p:nvSpPr>
            <p:cNvPr id="175" name="Rectangle 17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76" name="Straight Connector 17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/>
        </p:nvGrpSpPr>
        <p:grpSpPr>
          <a:xfrm>
            <a:off x="13188780" y="26945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79" name="Rectangle 17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80" name="Straight Connector 17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2" name="Straight Connector 181"/>
          <p:cNvCxnSpPr/>
          <p:nvPr/>
        </p:nvCxnSpPr>
        <p:spPr>
          <a:xfrm>
            <a:off x="13759996" y="15011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>
            <a:off x="13750211" y="23107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/>
          <p:cNvCxnSpPr/>
          <p:nvPr/>
        </p:nvCxnSpPr>
        <p:spPr>
          <a:xfrm>
            <a:off x="13748985" y="31297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>
            <a:off x="13223472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3606084" y="10661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3990408" y="10655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2725448" y="3613267"/>
            <a:ext cx="2398792" cy="743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dirty="0"/>
              <a:t>target of the </a:t>
            </a:r>
          </a:p>
          <a:p>
            <a:pPr algn="ctr"/>
            <a:r>
              <a:rPr lang="en-US" sz="2050" dirty="0" err="1"/>
              <a:t>autoencoder</a:t>
            </a:r>
            <a:r>
              <a:rPr lang="en-US" sz="2050" b="1" i="1" dirty="0"/>
              <a:t>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stacked</a:t>
            </a:r>
            <a:endParaRPr lang="en-US" sz="2050" b="1" i="1" baseline="-25000" dirty="0"/>
          </a:p>
        </p:txBody>
      </p:sp>
      <p:grpSp>
        <p:nvGrpSpPr>
          <p:cNvPr id="189" name="Group 188"/>
          <p:cNvGrpSpPr/>
          <p:nvPr/>
        </p:nvGrpSpPr>
        <p:grpSpPr>
          <a:xfrm>
            <a:off x="13188780" y="1888742"/>
            <a:ext cx="1122885" cy="327607"/>
            <a:chOff x="3976687" y="2148089"/>
            <a:chExt cx="1092993" cy="318886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90" name="Rectangle 18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91" name="Straight Connector 19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6" name="TextBox 195"/>
          <p:cNvSpPr txBox="1"/>
          <p:nvPr/>
        </p:nvSpPr>
        <p:spPr>
          <a:xfrm>
            <a:off x="13148491" y="26959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13521315" y="27008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13899117" y="26937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199" name="Straight Connector 198"/>
          <p:cNvCxnSpPr/>
          <p:nvPr/>
        </p:nvCxnSpPr>
        <p:spPr>
          <a:xfrm flipH="1">
            <a:off x="13339571" y="664596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/>
          <p:cNvCxnSpPr/>
          <p:nvPr/>
        </p:nvCxnSpPr>
        <p:spPr>
          <a:xfrm flipH="1">
            <a:off x="14519547" y="6786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/>
          <p:cNvCxnSpPr/>
          <p:nvPr/>
        </p:nvCxnSpPr>
        <p:spPr>
          <a:xfrm flipH="1">
            <a:off x="14534770" y="33157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Right Arrow 201"/>
          <p:cNvSpPr/>
          <p:nvPr/>
        </p:nvSpPr>
        <p:spPr>
          <a:xfrm>
            <a:off x="11637823" y="1906579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03" name="TextBox 202"/>
          <p:cNvSpPr txBox="1"/>
          <p:nvPr/>
        </p:nvSpPr>
        <p:spPr>
          <a:xfrm>
            <a:off x="11628177" y="1117061"/>
            <a:ext cx="1134148" cy="1067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b="1" dirty="0"/>
              <a:t>Stacking</a:t>
            </a:r>
          </a:p>
          <a:p>
            <a:pPr algn="ctr"/>
            <a:r>
              <a:rPr lang="en-US" sz="2050" i="1" baseline="30000" dirty="0"/>
              <a:t>N</a:t>
            </a:r>
            <a:r>
              <a:rPr lang="en-US" sz="2050" i="1" baseline="16000" dirty="0"/>
              <a:t>c</a:t>
            </a:r>
            <a:r>
              <a:rPr lang="en-US" sz="2050" i="1" dirty="0"/>
              <a:t>C</a:t>
            </a:r>
            <a:r>
              <a:rPr lang="en-US" sz="2050" i="1" baseline="-25000" dirty="0"/>
              <a:t>4</a:t>
            </a:r>
            <a:r>
              <a:rPr lang="en-US" sz="2050" i="1" dirty="0"/>
              <a:t> </a:t>
            </a:r>
          </a:p>
          <a:p>
            <a:pPr algn="ctr"/>
            <a:r>
              <a:rPr lang="en-US" sz="2050" dirty="0"/>
              <a:t>matrices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3219684" y="1891938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3602296" y="1891938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3986621" y="18913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41" name="Trapezoid 40"/>
          <p:cNvSpPr/>
          <p:nvPr/>
        </p:nvSpPr>
        <p:spPr>
          <a:xfrm rot="5400000">
            <a:off x="4799544" y="5496104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12" name="Trapezoid 211"/>
          <p:cNvSpPr/>
          <p:nvPr/>
        </p:nvSpPr>
        <p:spPr>
          <a:xfrm rot="16200000">
            <a:off x="7026655" y="5493228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2" name="Rectangle 41"/>
          <p:cNvSpPr/>
          <p:nvPr/>
        </p:nvSpPr>
        <p:spPr>
          <a:xfrm>
            <a:off x="6868443" y="5894431"/>
            <a:ext cx="269534" cy="104185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cxnSp>
        <p:nvCxnSpPr>
          <p:cNvPr id="213" name="Straight Arrow Connector 212"/>
          <p:cNvCxnSpPr/>
          <p:nvPr/>
        </p:nvCxnSpPr>
        <p:spPr>
          <a:xfrm>
            <a:off x="4967993" y="5153502"/>
            <a:ext cx="1900450" cy="583188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213"/>
          <p:cNvSpPr txBox="1"/>
          <p:nvPr/>
        </p:nvSpPr>
        <p:spPr>
          <a:xfrm rot="995966">
            <a:off x="5281824" y="5025055"/>
            <a:ext cx="143920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E</a:t>
            </a:r>
            <a:r>
              <a:rPr lang="en-US" sz="2050" dirty="0"/>
              <a:t> FC layers</a:t>
            </a:r>
          </a:p>
        </p:txBody>
      </p:sp>
      <p:cxnSp>
        <p:nvCxnSpPr>
          <p:cNvPr id="215" name="Straight Arrow Connector 214"/>
          <p:cNvCxnSpPr/>
          <p:nvPr/>
        </p:nvCxnSpPr>
        <p:spPr>
          <a:xfrm flipV="1">
            <a:off x="7187276" y="5163807"/>
            <a:ext cx="1841258" cy="555022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TextBox 215"/>
          <p:cNvSpPr txBox="1"/>
          <p:nvPr/>
        </p:nvSpPr>
        <p:spPr>
          <a:xfrm rot="20572771">
            <a:off x="7342938" y="5012235"/>
            <a:ext cx="146226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D</a:t>
            </a:r>
            <a:r>
              <a:rPr lang="en-US" sz="2050" dirty="0"/>
              <a:t> FC layers</a:t>
            </a:r>
          </a:p>
        </p:txBody>
      </p:sp>
      <p:sp>
        <p:nvSpPr>
          <p:cNvPr id="52" name="TextBox 51"/>
          <p:cNvSpPr txBox="1"/>
          <p:nvPr/>
        </p:nvSpPr>
        <p:spPr>
          <a:xfrm rot="20597095">
            <a:off x="5334500" y="7219100"/>
            <a:ext cx="110074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Encoder</a:t>
            </a:r>
          </a:p>
        </p:txBody>
      </p:sp>
      <p:sp>
        <p:nvSpPr>
          <p:cNvPr id="217" name="TextBox 216"/>
          <p:cNvSpPr txBox="1"/>
          <p:nvPr/>
        </p:nvSpPr>
        <p:spPr>
          <a:xfrm rot="1022148">
            <a:off x="7529780" y="7212688"/>
            <a:ext cx="113039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Decoder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77283" y="6872145"/>
            <a:ext cx="477914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>
                <a:solidFill>
                  <a:srgbClr val="0070C0"/>
                </a:solidFill>
              </a:rPr>
              <a:t>h</a:t>
            </a:r>
            <a:r>
              <a:rPr lang="en-US" sz="2876" b="1" i="1" baseline="-25000" dirty="0" err="1">
                <a:solidFill>
                  <a:srgbClr val="0070C0"/>
                </a:solidFill>
              </a:rPr>
              <a:t>r</a:t>
            </a:r>
            <a:endParaRPr lang="en-US" sz="3287" b="1" i="1" baseline="-25000" dirty="0">
              <a:solidFill>
                <a:srgbClr val="0070C0"/>
              </a:solidFill>
            </a:endParaRPr>
          </a:p>
        </p:txBody>
      </p:sp>
      <p:cxnSp>
        <p:nvCxnSpPr>
          <p:cNvPr id="36" name="Elbow Connector 35"/>
          <p:cNvCxnSpPr/>
          <p:nvPr/>
        </p:nvCxnSpPr>
        <p:spPr>
          <a:xfrm rot="16200000" flipH="1">
            <a:off x="1515284" y="3260897"/>
            <a:ext cx="2045849" cy="4241568"/>
          </a:xfrm>
          <a:prstGeom prst="bentConnector2">
            <a:avLst/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859436" y="5865420"/>
            <a:ext cx="815516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/>
              <a:t>X (</a:t>
            </a:r>
            <a:r>
              <a:rPr lang="en-US" sz="2876" b="1" i="1" dirty="0" err="1"/>
              <a:t>i</a:t>
            </a:r>
            <a:r>
              <a:rPr lang="en-US" sz="2876" b="1" i="1" dirty="0"/>
              <a:t>)</a:t>
            </a:r>
          </a:p>
        </p:txBody>
      </p:sp>
      <p:cxnSp>
        <p:nvCxnSpPr>
          <p:cNvPr id="204" name="Elbow Connector 203"/>
          <p:cNvCxnSpPr/>
          <p:nvPr/>
        </p:nvCxnSpPr>
        <p:spPr>
          <a:xfrm rot="5400000">
            <a:off x="10655879" y="3049227"/>
            <a:ext cx="1920291" cy="4774227"/>
          </a:xfrm>
          <a:prstGeom prst="bentConnector2">
            <a:avLst/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TextBox 204"/>
          <p:cNvSpPr txBox="1"/>
          <p:nvPr/>
        </p:nvSpPr>
        <p:spPr>
          <a:xfrm>
            <a:off x="11141098" y="5866759"/>
            <a:ext cx="1652179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/>
              <a:t>Q</a:t>
            </a:r>
            <a:r>
              <a:rPr lang="en-US" sz="2876" b="1" i="1" baseline="-25000" dirty="0" err="1"/>
              <a:t>stacked</a:t>
            </a:r>
            <a:r>
              <a:rPr lang="en-US" sz="2876" b="1" i="1" dirty="0"/>
              <a:t> (</a:t>
            </a:r>
            <a:r>
              <a:rPr lang="en-US" sz="2876" b="1" i="1" dirty="0" err="1"/>
              <a:t>i</a:t>
            </a:r>
            <a:r>
              <a:rPr lang="en-US" sz="2876" b="1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11121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04"/>
          <p:cNvSpPr/>
          <p:nvPr/>
        </p:nvSpPr>
        <p:spPr>
          <a:xfrm>
            <a:off x="568362" y="822484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6" name="Rectangle 105"/>
          <p:cNvSpPr/>
          <p:nvPr/>
        </p:nvSpPr>
        <p:spPr>
          <a:xfrm>
            <a:off x="297304" y="1082581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7" name="Rectangle 106"/>
          <p:cNvSpPr/>
          <p:nvPr/>
        </p:nvSpPr>
        <p:spPr>
          <a:xfrm>
            <a:off x="153103" y="121140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08" name="Group 107"/>
          <p:cNvGrpSpPr/>
          <p:nvPr/>
        </p:nvGrpSpPr>
        <p:grpSpPr>
          <a:xfrm>
            <a:off x="192423" y="1245391"/>
            <a:ext cx="1122885" cy="327607"/>
            <a:chOff x="3824287" y="1995689"/>
            <a:chExt cx="1092993" cy="318886"/>
          </a:xfrm>
        </p:grpSpPr>
        <p:sp>
          <p:nvSpPr>
            <p:cNvPr id="109" name="Rectangle 108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10" name="Straight Connector 109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Group 111"/>
          <p:cNvGrpSpPr/>
          <p:nvPr/>
        </p:nvGrpSpPr>
        <p:grpSpPr>
          <a:xfrm>
            <a:off x="192422" y="2879885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13" name="Rectangle 112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14" name="Straight Connector 113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6" name="Straight Connector 115"/>
          <p:cNvCxnSpPr/>
          <p:nvPr/>
        </p:nvCxnSpPr>
        <p:spPr>
          <a:xfrm>
            <a:off x="763648" y="168651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>
            <a:off x="753863" y="249609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752637" y="331513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227117" y="1251504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09729" y="1251504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94053" y="125089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0697" y="3803761"/>
            <a:ext cx="1800394" cy="743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dirty="0"/>
              <a:t>input of the </a:t>
            </a:r>
          </a:p>
          <a:p>
            <a:pPr algn="ctr"/>
            <a:r>
              <a:rPr lang="en-US" sz="2050" dirty="0" err="1"/>
              <a:t>autoencoder</a:t>
            </a:r>
            <a:r>
              <a:rPr lang="en-US" sz="2050" b="1" i="1" dirty="0"/>
              <a:t> X</a:t>
            </a:r>
            <a:endParaRPr lang="en-US" sz="2050" b="1" i="1" baseline="-25000" dirty="0"/>
          </a:p>
        </p:txBody>
      </p:sp>
      <p:grpSp>
        <p:nvGrpSpPr>
          <p:cNvPr id="152" name="Group 151"/>
          <p:cNvGrpSpPr/>
          <p:nvPr/>
        </p:nvGrpSpPr>
        <p:grpSpPr>
          <a:xfrm>
            <a:off x="192422" y="2074078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59" name="Rectangle 15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60" name="Straight Connector 15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2" name="TextBox 161"/>
          <p:cNvSpPr txBox="1"/>
          <p:nvPr/>
        </p:nvSpPr>
        <p:spPr>
          <a:xfrm>
            <a:off x="154748" y="2079446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527572" y="208433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904991" y="208236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152136" y="288132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524960" y="2886221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902379" y="288424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168" name="Straight Connector 167"/>
          <p:cNvCxnSpPr/>
          <p:nvPr/>
        </p:nvCxnSpPr>
        <p:spPr>
          <a:xfrm flipH="1">
            <a:off x="343220" y="849932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/>
          <p:nvPr/>
        </p:nvCxnSpPr>
        <p:spPr>
          <a:xfrm flipH="1">
            <a:off x="1522813" y="8691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/>
          <p:nvPr/>
        </p:nvCxnSpPr>
        <p:spPr>
          <a:xfrm flipH="1">
            <a:off x="1538036" y="35062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152"/>
          <p:cNvSpPr/>
          <p:nvPr/>
        </p:nvSpPr>
        <p:spPr>
          <a:xfrm>
            <a:off x="3477316" y="822488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1" name="Rectangle 150"/>
          <p:cNvSpPr/>
          <p:nvPr/>
        </p:nvSpPr>
        <p:spPr>
          <a:xfrm>
            <a:off x="3206259" y="108258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" name="Rectangle 3"/>
          <p:cNvSpPr/>
          <p:nvPr/>
        </p:nvSpPr>
        <p:spPr>
          <a:xfrm>
            <a:off x="9106589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" name="Group 16"/>
          <p:cNvGrpSpPr/>
          <p:nvPr/>
        </p:nvGrpSpPr>
        <p:grpSpPr>
          <a:xfrm>
            <a:off x="9145524" y="1250555"/>
            <a:ext cx="1122885" cy="327607"/>
            <a:chOff x="3824287" y="1995689"/>
            <a:chExt cx="1092993" cy="318886"/>
          </a:xfrm>
        </p:grpSpPr>
        <p:sp>
          <p:nvSpPr>
            <p:cNvPr id="10" name="Rectangle 9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" name="Straight Connector 11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9145522" y="2082322"/>
            <a:ext cx="1122885" cy="327607"/>
            <a:chOff x="3976687" y="2148089"/>
            <a:chExt cx="1092993" cy="318886"/>
          </a:xfrm>
        </p:grpSpPr>
        <p:sp>
          <p:nvSpPr>
            <p:cNvPr id="19" name="Rectangle 1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" name="Straight Connector 1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9145522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4" name="Rectangle 23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Connector 27"/>
          <p:cNvCxnSpPr/>
          <p:nvPr/>
        </p:nvCxnSpPr>
        <p:spPr>
          <a:xfrm>
            <a:off x="9716738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9706953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9705727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093523" y="289420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485919" y="290398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853935" y="289685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180215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62826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47151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1399" y="208556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64010" y="208556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48335" y="2084952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08438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61" name="Group 60"/>
          <p:cNvGrpSpPr/>
          <p:nvPr/>
        </p:nvGrpSpPr>
        <p:grpSpPr>
          <a:xfrm>
            <a:off x="6047373" y="1250555"/>
            <a:ext cx="1122885" cy="327607"/>
            <a:chOff x="3824287" y="1995689"/>
            <a:chExt cx="1092993" cy="318886"/>
          </a:xfrm>
        </p:grpSpPr>
        <p:sp>
          <p:nvSpPr>
            <p:cNvPr id="62" name="Rectangle 61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63" name="Straight Connector 62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/>
          <p:cNvGrpSpPr/>
          <p:nvPr/>
        </p:nvGrpSpPr>
        <p:grpSpPr>
          <a:xfrm>
            <a:off x="6047372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70" name="Rectangle 6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71" name="Straight Connector 7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Straight Connector 72"/>
          <p:cNvCxnSpPr/>
          <p:nvPr/>
        </p:nvCxnSpPr>
        <p:spPr>
          <a:xfrm>
            <a:off x="6618587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6608802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6607576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6082064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64675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49000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712425" y="3857624"/>
            <a:ext cx="2934344" cy="938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44" dirty="0"/>
              <a:t>orientation-encoding matrix </a:t>
            </a:r>
            <a:r>
              <a:rPr lang="en-US" sz="2050" b="1" i="1" dirty="0"/>
              <a:t>Q</a:t>
            </a:r>
            <a:r>
              <a:rPr lang="en-US" sz="1644" i="1" dirty="0"/>
              <a:t> </a:t>
            </a:r>
          </a:p>
          <a:p>
            <a:pPr algn="ctr"/>
            <a:r>
              <a:rPr lang="en-US" sz="1644" dirty="0"/>
              <a:t>for the four-taxa-set </a:t>
            </a:r>
          </a:p>
          <a:p>
            <a:pPr algn="ctr"/>
            <a:r>
              <a:rPr lang="en-US" sz="1644" dirty="0"/>
              <a:t>(</a:t>
            </a:r>
            <a:r>
              <a:rPr lang="en-US" sz="1644" i="1" dirty="0"/>
              <a:t>t</a:t>
            </a:r>
            <a:r>
              <a:rPr lang="en-US" sz="1644" i="1" baseline="-25000" dirty="0"/>
              <a:t>1</a:t>
            </a:r>
            <a:r>
              <a:rPr lang="en-US" sz="1644" i="1" dirty="0"/>
              <a:t>, t</a:t>
            </a:r>
            <a:r>
              <a:rPr lang="en-US" sz="1644" i="1" baseline="-25000" dirty="0"/>
              <a:t>2</a:t>
            </a:r>
            <a:r>
              <a:rPr lang="en-US" sz="1644" i="1" dirty="0"/>
              <a:t>, t</a:t>
            </a:r>
            <a:r>
              <a:rPr lang="en-US" sz="1644" i="1" baseline="-25000" dirty="0"/>
              <a:t>3</a:t>
            </a:r>
            <a:r>
              <a:rPr lang="en-US" sz="1644" i="1" dirty="0"/>
              <a:t>, t</a:t>
            </a:r>
            <a:r>
              <a:rPr lang="en-US" sz="1644" i="1" baseline="-25000" dirty="0"/>
              <a:t>4</a:t>
            </a:r>
            <a:r>
              <a:rPr lang="en-US" sz="1644" dirty="0"/>
              <a:t>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713189" y="3864765"/>
            <a:ext cx="185553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44" dirty="0"/>
              <a:t>masked matrix </a:t>
            </a:r>
            <a:r>
              <a:rPr lang="en-US" sz="2050" b="1" i="1" dirty="0" err="1"/>
              <a:t>Q</a:t>
            </a:r>
            <a:r>
              <a:rPr lang="en-US" sz="2050" b="1" i="1" baseline="30000" dirty="0" err="1"/>
              <a:t>m</a:t>
            </a:r>
            <a:endParaRPr lang="en-US" sz="2050" b="1" i="1" baseline="30000" dirty="0"/>
          </a:p>
        </p:txBody>
      </p:sp>
      <p:grpSp>
        <p:nvGrpSpPr>
          <p:cNvPr id="91" name="Group 90"/>
          <p:cNvGrpSpPr/>
          <p:nvPr/>
        </p:nvGrpSpPr>
        <p:grpSpPr>
          <a:xfrm>
            <a:off x="6047372" y="2079242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92" name="Rectangle 91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TextBox 94"/>
          <p:cNvSpPr txBox="1"/>
          <p:nvPr/>
        </p:nvSpPr>
        <p:spPr>
          <a:xfrm>
            <a:off x="6009695" y="208461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6382519" y="208950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760321" y="208236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6007083" y="28864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6379906" y="28913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757708" y="28842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1" name="Right Arrow 100"/>
          <p:cNvSpPr/>
          <p:nvPr/>
        </p:nvSpPr>
        <p:spPr>
          <a:xfrm rot="10800000">
            <a:off x="7286083" y="1981814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2" name="TextBox 101"/>
          <p:cNvSpPr txBox="1"/>
          <p:nvPr/>
        </p:nvSpPr>
        <p:spPr>
          <a:xfrm>
            <a:off x="7711187" y="1756731"/>
            <a:ext cx="113500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Masking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265423" y="1193962"/>
            <a:ext cx="146437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t</a:t>
            </a:r>
            <a:r>
              <a:rPr lang="en-US" sz="2050" i="1" baseline="-25000" dirty="0"/>
              <a:t>3</a:t>
            </a:r>
            <a:r>
              <a:rPr lang="en-US" sz="2050" i="1" dirty="0"/>
              <a:t>,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67793" y="2000410"/>
            <a:ext cx="146766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</a:t>
            </a:r>
            <a:r>
              <a:rPr lang="en-US" sz="2050" b="1" i="1" dirty="0">
                <a:solidFill>
                  <a:srgbClr val="0070C0"/>
                </a:solidFill>
              </a:rPr>
              <a:t>t</a:t>
            </a:r>
            <a:r>
              <a:rPr lang="en-US" sz="2050" b="1" i="1" baseline="-25000" dirty="0">
                <a:solidFill>
                  <a:srgbClr val="0070C0"/>
                </a:solidFill>
              </a:rPr>
              <a:t>3</a:t>
            </a:r>
            <a:r>
              <a:rPr lang="en-US" sz="2050" i="1" dirty="0"/>
              <a:t>,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61979" y="2833073"/>
            <a:ext cx="1469314" cy="419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t</a:t>
            </a:r>
            <a:r>
              <a:rPr lang="en-US" sz="2050" i="1" baseline="-25000" dirty="0"/>
              <a:t>3</a:t>
            </a:r>
            <a:r>
              <a:rPr lang="en-US" sz="2050" i="1" dirty="0"/>
              <a:t>, </a:t>
            </a:r>
            <a:r>
              <a:rPr lang="en-US" sz="2055" b="1" i="1" dirty="0">
                <a:solidFill>
                  <a:srgbClr val="FF0000"/>
                </a:solidFill>
              </a:rPr>
              <a:t>t</a:t>
            </a:r>
            <a:r>
              <a:rPr lang="en-US" sz="2055" b="1" i="1" baseline="-25000" dirty="0">
                <a:solidFill>
                  <a:srgbClr val="FF0000"/>
                </a:solidFill>
              </a:rPr>
              <a:t>4</a:t>
            </a:r>
            <a:r>
              <a:rPr lang="en-US" sz="2050" dirty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52123" y="1165980"/>
            <a:ext cx="41862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g</a:t>
            </a:r>
            <a:r>
              <a:rPr lang="en-US" sz="2050" i="1" baseline="-25000" dirty="0"/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50974" y="1985499"/>
            <a:ext cx="37086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j</a:t>
            </a:r>
            <a:endParaRPr lang="en-US" sz="2050" i="1" baseline="-25000" dirty="0"/>
          </a:p>
        </p:txBody>
      </p:sp>
      <p:sp>
        <p:nvSpPr>
          <p:cNvPr id="68" name="TextBox 67"/>
          <p:cNvSpPr txBox="1"/>
          <p:nvPr/>
        </p:nvSpPr>
        <p:spPr>
          <a:xfrm>
            <a:off x="8720844" y="2804421"/>
            <a:ext cx="410393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k</a:t>
            </a:r>
            <a:endParaRPr lang="en-US" sz="2050" i="1" baseline="-25000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11663578" y="1034849"/>
            <a:ext cx="26095" cy="2646217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9069935" y="961927"/>
            <a:ext cx="1269369" cy="8368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041468" y="486813"/>
            <a:ext cx="151865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orientations</a:t>
            </a:r>
          </a:p>
        </p:txBody>
      </p:sp>
      <p:sp>
        <p:nvSpPr>
          <p:cNvPr id="77" name="TextBox 76"/>
          <p:cNvSpPr txBox="1"/>
          <p:nvPr/>
        </p:nvSpPr>
        <p:spPr>
          <a:xfrm rot="5400000">
            <a:off x="11234338" y="2325043"/>
            <a:ext cx="134329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gene trees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062058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24" name="Group 123"/>
          <p:cNvGrpSpPr/>
          <p:nvPr/>
        </p:nvGrpSpPr>
        <p:grpSpPr>
          <a:xfrm>
            <a:off x="3100993" y="1250555"/>
            <a:ext cx="1122885" cy="327607"/>
            <a:chOff x="3824287" y="1995689"/>
            <a:chExt cx="1092993" cy="318886"/>
          </a:xfrm>
        </p:grpSpPr>
        <p:sp>
          <p:nvSpPr>
            <p:cNvPr id="125" name="Rectangle 12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6" name="Straight Connector 12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Group 127"/>
          <p:cNvGrpSpPr/>
          <p:nvPr/>
        </p:nvGrpSpPr>
        <p:grpSpPr>
          <a:xfrm>
            <a:off x="3100992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29" name="Rectangle 12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30" name="Straight Connector 12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2" name="Straight Connector 131"/>
          <p:cNvCxnSpPr/>
          <p:nvPr/>
        </p:nvCxnSpPr>
        <p:spPr>
          <a:xfrm>
            <a:off x="3672208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/>
          <p:nvPr/>
        </p:nvCxnSpPr>
        <p:spPr>
          <a:xfrm>
            <a:off x="3662422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/>
          <p:nvPr/>
        </p:nvCxnSpPr>
        <p:spPr>
          <a:xfrm>
            <a:off x="3661197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3135684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518295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902620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766809" y="3864765"/>
            <a:ext cx="228496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44" dirty="0"/>
              <a:t>masked tensor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masked</a:t>
            </a:r>
            <a:endParaRPr lang="en-US" sz="2050" b="1" i="1" baseline="-25000" dirty="0"/>
          </a:p>
        </p:txBody>
      </p:sp>
      <p:grpSp>
        <p:nvGrpSpPr>
          <p:cNvPr id="139" name="Group 138"/>
          <p:cNvGrpSpPr/>
          <p:nvPr/>
        </p:nvGrpSpPr>
        <p:grpSpPr>
          <a:xfrm>
            <a:off x="3100992" y="2079242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40" name="Rectangle 13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41" name="Straight Connector 14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" name="TextBox 142"/>
          <p:cNvSpPr txBox="1"/>
          <p:nvPr/>
        </p:nvSpPr>
        <p:spPr>
          <a:xfrm>
            <a:off x="3063315" y="208461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3436139" y="208950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3813941" y="208236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3060703" y="28864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3433527" y="28913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3811329" y="28842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9" name="Right Arrow 148"/>
          <p:cNvSpPr/>
          <p:nvPr/>
        </p:nvSpPr>
        <p:spPr>
          <a:xfrm rot="10800000">
            <a:off x="4458785" y="1981814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0" name="TextBox 149"/>
          <p:cNvSpPr txBox="1"/>
          <p:nvPr/>
        </p:nvSpPr>
        <p:spPr>
          <a:xfrm>
            <a:off x="4836227" y="1163275"/>
            <a:ext cx="1134148" cy="1067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b="1" dirty="0"/>
              <a:t>Stacking</a:t>
            </a:r>
          </a:p>
          <a:p>
            <a:pPr algn="ctr"/>
            <a:r>
              <a:rPr lang="en-US" sz="2050" i="1" baseline="30000" dirty="0"/>
              <a:t>N</a:t>
            </a:r>
            <a:r>
              <a:rPr lang="en-US" sz="2050" i="1" baseline="16000" dirty="0"/>
              <a:t>c</a:t>
            </a:r>
            <a:r>
              <a:rPr lang="en-US" sz="2050" i="1" dirty="0"/>
              <a:t>C</a:t>
            </a:r>
            <a:r>
              <a:rPr lang="en-US" sz="2050" i="1" baseline="-25000" dirty="0"/>
              <a:t>4</a:t>
            </a:r>
            <a:r>
              <a:rPr lang="en-US" sz="2050" i="1" dirty="0"/>
              <a:t> </a:t>
            </a:r>
          </a:p>
          <a:p>
            <a:pPr algn="ctr"/>
            <a:r>
              <a:rPr lang="en-US" sz="2050" dirty="0"/>
              <a:t>matrices</a:t>
            </a:r>
          </a:p>
        </p:txBody>
      </p:sp>
      <p:cxnSp>
        <p:nvCxnSpPr>
          <p:cNvPr id="154" name="Straight Connector 153"/>
          <p:cNvCxnSpPr/>
          <p:nvPr/>
        </p:nvCxnSpPr>
        <p:spPr>
          <a:xfrm flipH="1">
            <a:off x="3251782" y="855096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/>
          <p:nvPr/>
        </p:nvCxnSpPr>
        <p:spPr>
          <a:xfrm flipH="1">
            <a:off x="4431759" y="8691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/>
          <p:cNvCxnSpPr/>
          <p:nvPr/>
        </p:nvCxnSpPr>
        <p:spPr>
          <a:xfrm flipH="1">
            <a:off x="4446982" y="35062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 flipV="1">
            <a:off x="2893719" y="659868"/>
            <a:ext cx="539811" cy="529320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 rot="18826477">
            <a:off x="2099324" y="545028"/>
            <a:ext cx="170020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four-taxa-sets</a:t>
            </a:r>
          </a:p>
        </p:txBody>
      </p:sp>
      <p:sp>
        <p:nvSpPr>
          <p:cNvPr id="103" name="Right Arrow 102"/>
          <p:cNvSpPr/>
          <p:nvPr/>
        </p:nvSpPr>
        <p:spPr>
          <a:xfrm rot="10800000">
            <a:off x="1526085" y="2008302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4" name="TextBox 103"/>
          <p:cNvSpPr txBox="1"/>
          <p:nvPr/>
        </p:nvSpPr>
        <p:spPr>
          <a:xfrm>
            <a:off x="1878311" y="1783219"/>
            <a:ext cx="91301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+ </a:t>
            </a:r>
            <a:r>
              <a:rPr lang="en-US" sz="2050" b="1" i="1" dirty="0" err="1"/>
              <a:t>PEnc</a:t>
            </a:r>
            <a:endParaRPr lang="en-US" sz="2050" b="1" i="1" dirty="0"/>
          </a:p>
        </p:txBody>
      </p:sp>
      <p:sp>
        <p:nvSpPr>
          <p:cNvPr id="171" name="Rectangle 170"/>
          <p:cNvSpPr/>
          <p:nvPr/>
        </p:nvSpPr>
        <p:spPr>
          <a:xfrm>
            <a:off x="13984204" y="822488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72" name="Rectangle 171"/>
          <p:cNvSpPr/>
          <p:nvPr/>
        </p:nvSpPr>
        <p:spPr>
          <a:xfrm>
            <a:off x="13713147" y="108258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73" name="Rectangle 172"/>
          <p:cNvSpPr/>
          <p:nvPr/>
        </p:nvSpPr>
        <p:spPr>
          <a:xfrm>
            <a:off x="13568947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4" name="Group 173"/>
          <p:cNvGrpSpPr/>
          <p:nvPr/>
        </p:nvGrpSpPr>
        <p:grpSpPr>
          <a:xfrm>
            <a:off x="13607881" y="1250555"/>
            <a:ext cx="1122885" cy="327607"/>
            <a:chOff x="3824287" y="1995689"/>
            <a:chExt cx="1092993" cy="318886"/>
          </a:xfrm>
        </p:grpSpPr>
        <p:sp>
          <p:nvSpPr>
            <p:cNvPr id="175" name="Rectangle 17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76" name="Straight Connector 17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/>
        </p:nvGrpSpPr>
        <p:grpSpPr>
          <a:xfrm>
            <a:off x="13607880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79" name="Rectangle 17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80" name="Straight Connector 17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2" name="Straight Connector 181"/>
          <p:cNvCxnSpPr/>
          <p:nvPr/>
        </p:nvCxnSpPr>
        <p:spPr>
          <a:xfrm>
            <a:off x="14179096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>
            <a:off x="14169311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/>
          <p:cNvCxnSpPr/>
          <p:nvPr/>
        </p:nvCxnSpPr>
        <p:spPr>
          <a:xfrm>
            <a:off x="14168085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>
            <a:off x="13642572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4025184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4409508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3144548" y="3803767"/>
            <a:ext cx="2398792" cy="743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dirty="0"/>
              <a:t>target of the </a:t>
            </a:r>
          </a:p>
          <a:p>
            <a:pPr algn="ctr"/>
            <a:r>
              <a:rPr lang="en-US" sz="2050" dirty="0" err="1"/>
              <a:t>autoencoder</a:t>
            </a:r>
            <a:r>
              <a:rPr lang="en-US" sz="2050" b="1" i="1" dirty="0"/>
              <a:t>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stacked</a:t>
            </a:r>
            <a:endParaRPr lang="en-US" sz="2050" b="1" i="1" baseline="-25000" dirty="0"/>
          </a:p>
        </p:txBody>
      </p:sp>
      <p:grpSp>
        <p:nvGrpSpPr>
          <p:cNvPr id="189" name="Group 188"/>
          <p:cNvGrpSpPr/>
          <p:nvPr/>
        </p:nvGrpSpPr>
        <p:grpSpPr>
          <a:xfrm>
            <a:off x="13607880" y="2079242"/>
            <a:ext cx="1122885" cy="327607"/>
            <a:chOff x="3976687" y="2148089"/>
            <a:chExt cx="1092993" cy="318886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90" name="Rectangle 18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91" name="Straight Connector 19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6" name="TextBox 195"/>
          <p:cNvSpPr txBox="1"/>
          <p:nvPr/>
        </p:nvSpPr>
        <p:spPr>
          <a:xfrm>
            <a:off x="13567591" y="28864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13940415" y="28913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14318217" y="28842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199" name="Straight Connector 198"/>
          <p:cNvCxnSpPr/>
          <p:nvPr/>
        </p:nvCxnSpPr>
        <p:spPr>
          <a:xfrm flipH="1">
            <a:off x="13758671" y="855096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/>
          <p:cNvCxnSpPr/>
          <p:nvPr/>
        </p:nvCxnSpPr>
        <p:spPr>
          <a:xfrm flipH="1">
            <a:off x="14938647" y="8691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/>
          <p:cNvCxnSpPr/>
          <p:nvPr/>
        </p:nvCxnSpPr>
        <p:spPr>
          <a:xfrm flipH="1">
            <a:off x="14953870" y="35062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Right Arrow 201"/>
          <p:cNvSpPr/>
          <p:nvPr/>
        </p:nvSpPr>
        <p:spPr>
          <a:xfrm>
            <a:off x="12056923" y="2097079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03" name="TextBox 202"/>
          <p:cNvSpPr txBox="1"/>
          <p:nvPr/>
        </p:nvSpPr>
        <p:spPr>
          <a:xfrm>
            <a:off x="12047277" y="1307561"/>
            <a:ext cx="1134148" cy="1067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b="1" dirty="0"/>
              <a:t>Stacking</a:t>
            </a:r>
          </a:p>
          <a:p>
            <a:pPr algn="ctr"/>
            <a:r>
              <a:rPr lang="en-US" sz="2050" i="1" baseline="30000" dirty="0"/>
              <a:t>N</a:t>
            </a:r>
            <a:r>
              <a:rPr lang="en-US" sz="2050" i="1" baseline="16000" dirty="0"/>
              <a:t>c</a:t>
            </a:r>
            <a:r>
              <a:rPr lang="en-US" sz="2050" i="1" dirty="0"/>
              <a:t>C</a:t>
            </a:r>
            <a:r>
              <a:rPr lang="en-US" sz="2050" i="1" baseline="-25000" dirty="0"/>
              <a:t>4</a:t>
            </a:r>
            <a:r>
              <a:rPr lang="en-US" sz="2050" i="1" dirty="0"/>
              <a:t> </a:t>
            </a:r>
          </a:p>
          <a:p>
            <a:pPr algn="ctr"/>
            <a:r>
              <a:rPr lang="en-US" sz="2050" dirty="0"/>
              <a:t>matrices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3638784" y="2082438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4021396" y="2082438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4405721" y="20818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41" name="Trapezoid 40"/>
          <p:cNvSpPr/>
          <p:nvPr/>
        </p:nvSpPr>
        <p:spPr>
          <a:xfrm rot="5400000">
            <a:off x="5218644" y="5686604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12" name="Trapezoid 211"/>
          <p:cNvSpPr/>
          <p:nvPr/>
        </p:nvSpPr>
        <p:spPr>
          <a:xfrm rot="16200000">
            <a:off x="7445755" y="5683728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2" name="Rectangle 41"/>
          <p:cNvSpPr/>
          <p:nvPr/>
        </p:nvSpPr>
        <p:spPr>
          <a:xfrm>
            <a:off x="7287543" y="6084931"/>
            <a:ext cx="269534" cy="104185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cxnSp>
        <p:nvCxnSpPr>
          <p:cNvPr id="213" name="Straight Arrow Connector 212"/>
          <p:cNvCxnSpPr/>
          <p:nvPr/>
        </p:nvCxnSpPr>
        <p:spPr>
          <a:xfrm>
            <a:off x="5387093" y="5344002"/>
            <a:ext cx="1900450" cy="583188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213"/>
          <p:cNvSpPr txBox="1"/>
          <p:nvPr/>
        </p:nvSpPr>
        <p:spPr>
          <a:xfrm rot="995966">
            <a:off x="5700924" y="5215555"/>
            <a:ext cx="143920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E</a:t>
            </a:r>
            <a:r>
              <a:rPr lang="en-US" sz="2050" dirty="0"/>
              <a:t> FC layers</a:t>
            </a:r>
          </a:p>
        </p:txBody>
      </p:sp>
      <p:cxnSp>
        <p:nvCxnSpPr>
          <p:cNvPr id="215" name="Straight Arrow Connector 214"/>
          <p:cNvCxnSpPr/>
          <p:nvPr/>
        </p:nvCxnSpPr>
        <p:spPr>
          <a:xfrm flipV="1">
            <a:off x="7606376" y="5354307"/>
            <a:ext cx="1841258" cy="555022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TextBox 215"/>
          <p:cNvSpPr txBox="1"/>
          <p:nvPr/>
        </p:nvSpPr>
        <p:spPr>
          <a:xfrm rot="20572771">
            <a:off x="7762038" y="5202735"/>
            <a:ext cx="146226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D</a:t>
            </a:r>
            <a:r>
              <a:rPr lang="en-US" sz="2050" dirty="0"/>
              <a:t> FC layers</a:t>
            </a:r>
          </a:p>
        </p:txBody>
      </p:sp>
      <p:sp>
        <p:nvSpPr>
          <p:cNvPr id="52" name="TextBox 51"/>
          <p:cNvSpPr txBox="1"/>
          <p:nvPr/>
        </p:nvSpPr>
        <p:spPr>
          <a:xfrm rot="20597095">
            <a:off x="5753600" y="7409600"/>
            <a:ext cx="110074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Encoder</a:t>
            </a:r>
          </a:p>
        </p:txBody>
      </p:sp>
      <p:sp>
        <p:nvSpPr>
          <p:cNvPr id="217" name="TextBox 216"/>
          <p:cNvSpPr txBox="1"/>
          <p:nvPr/>
        </p:nvSpPr>
        <p:spPr>
          <a:xfrm rot="1022148">
            <a:off x="7948880" y="7403188"/>
            <a:ext cx="113039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Decoder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96383" y="7062645"/>
            <a:ext cx="477914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>
                <a:solidFill>
                  <a:srgbClr val="0070C0"/>
                </a:solidFill>
              </a:rPr>
              <a:t>h</a:t>
            </a:r>
            <a:r>
              <a:rPr lang="en-US" sz="2876" b="1" i="1" baseline="-25000" dirty="0" err="1">
                <a:solidFill>
                  <a:srgbClr val="0070C0"/>
                </a:solidFill>
              </a:rPr>
              <a:t>r</a:t>
            </a:r>
            <a:endParaRPr lang="en-US" sz="3287" b="1" i="1" baseline="-25000" dirty="0">
              <a:solidFill>
                <a:srgbClr val="0070C0"/>
              </a:solidFill>
            </a:endParaRPr>
          </a:p>
        </p:txBody>
      </p:sp>
      <p:cxnSp>
        <p:nvCxnSpPr>
          <p:cNvPr id="36" name="Elbow Connector 35"/>
          <p:cNvCxnSpPr/>
          <p:nvPr/>
        </p:nvCxnSpPr>
        <p:spPr>
          <a:xfrm rot="16200000" flipH="1">
            <a:off x="1934384" y="3451397"/>
            <a:ext cx="2045849" cy="4241568"/>
          </a:xfrm>
          <a:prstGeom prst="bentConnector2">
            <a:avLst/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278536" y="6055920"/>
            <a:ext cx="815516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/>
              <a:t>X (</a:t>
            </a:r>
            <a:r>
              <a:rPr lang="en-US" sz="2876" b="1" i="1" dirty="0" err="1"/>
              <a:t>i</a:t>
            </a:r>
            <a:r>
              <a:rPr lang="en-US" sz="2876" b="1" i="1" dirty="0"/>
              <a:t>)</a:t>
            </a:r>
          </a:p>
        </p:txBody>
      </p:sp>
      <p:cxnSp>
        <p:nvCxnSpPr>
          <p:cNvPr id="204" name="Elbow Connector 203"/>
          <p:cNvCxnSpPr/>
          <p:nvPr/>
        </p:nvCxnSpPr>
        <p:spPr>
          <a:xfrm rot="5400000">
            <a:off x="11074979" y="3239727"/>
            <a:ext cx="1920291" cy="4774227"/>
          </a:xfrm>
          <a:prstGeom prst="bentConnector2">
            <a:avLst/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TextBox 204"/>
          <p:cNvSpPr txBox="1"/>
          <p:nvPr/>
        </p:nvSpPr>
        <p:spPr>
          <a:xfrm>
            <a:off x="11560198" y="6057259"/>
            <a:ext cx="1652179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/>
              <a:t>Q</a:t>
            </a:r>
            <a:r>
              <a:rPr lang="en-US" sz="2876" b="1" i="1" baseline="-25000" dirty="0" err="1"/>
              <a:t>stacked</a:t>
            </a:r>
            <a:r>
              <a:rPr lang="en-US" sz="2876" b="1" i="1" dirty="0"/>
              <a:t> (</a:t>
            </a:r>
            <a:r>
              <a:rPr lang="en-US" sz="2876" b="1" i="1" dirty="0" err="1"/>
              <a:t>i</a:t>
            </a:r>
            <a:r>
              <a:rPr lang="en-US" sz="2876" b="1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19994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04"/>
          <p:cNvSpPr/>
          <p:nvPr/>
        </p:nvSpPr>
        <p:spPr>
          <a:xfrm>
            <a:off x="568362" y="822484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6" name="Rectangle 105"/>
          <p:cNvSpPr/>
          <p:nvPr/>
        </p:nvSpPr>
        <p:spPr>
          <a:xfrm>
            <a:off x="297304" y="1082581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7" name="Rectangle 106"/>
          <p:cNvSpPr/>
          <p:nvPr/>
        </p:nvSpPr>
        <p:spPr>
          <a:xfrm>
            <a:off x="153103" y="121140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08" name="Group 107"/>
          <p:cNvGrpSpPr/>
          <p:nvPr/>
        </p:nvGrpSpPr>
        <p:grpSpPr>
          <a:xfrm>
            <a:off x="192423" y="1245391"/>
            <a:ext cx="1122885" cy="327607"/>
            <a:chOff x="3824287" y="1995689"/>
            <a:chExt cx="1092993" cy="318886"/>
          </a:xfrm>
        </p:grpSpPr>
        <p:sp>
          <p:nvSpPr>
            <p:cNvPr id="109" name="Rectangle 108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10" name="Straight Connector 109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Group 111"/>
          <p:cNvGrpSpPr/>
          <p:nvPr/>
        </p:nvGrpSpPr>
        <p:grpSpPr>
          <a:xfrm>
            <a:off x="192422" y="2879885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13" name="Rectangle 112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14" name="Straight Connector 113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6" name="Straight Connector 115"/>
          <p:cNvCxnSpPr/>
          <p:nvPr/>
        </p:nvCxnSpPr>
        <p:spPr>
          <a:xfrm>
            <a:off x="763648" y="168651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>
            <a:off x="753863" y="249609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752637" y="331513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227117" y="1251504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09729" y="1251504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94053" y="125089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0697" y="3803761"/>
            <a:ext cx="1800394" cy="743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dirty="0"/>
              <a:t>input of the </a:t>
            </a:r>
          </a:p>
          <a:p>
            <a:pPr algn="ctr"/>
            <a:r>
              <a:rPr lang="en-US" sz="2050" dirty="0" err="1"/>
              <a:t>autoencoder</a:t>
            </a:r>
            <a:r>
              <a:rPr lang="en-US" sz="2050" b="1" i="1" dirty="0"/>
              <a:t> X</a:t>
            </a:r>
            <a:endParaRPr lang="en-US" sz="2050" b="1" i="1" baseline="-25000" dirty="0"/>
          </a:p>
        </p:txBody>
      </p:sp>
      <p:grpSp>
        <p:nvGrpSpPr>
          <p:cNvPr id="152" name="Group 151"/>
          <p:cNvGrpSpPr/>
          <p:nvPr/>
        </p:nvGrpSpPr>
        <p:grpSpPr>
          <a:xfrm>
            <a:off x="192422" y="2074078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59" name="Rectangle 15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60" name="Straight Connector 15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2" name="TextBox 161"/>
          <p:cNvSpPr txBox="1"/>
          <p:nvPr/>
        </p:nvSpPr>
        <p:spPr>
          <a:xfrm>
            <a:off x="154748" y="2079446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527572" y="208433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904991" y="208236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152136" y="288132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524960" y="2886221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902379" y="288424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168" name="Straight Connector 167"/>
          <p:cNvCxnSpPr/>
          <p:nvPr/>
        </p:nvCxnSpPr>
        <p:spPr>
          <a:xfrm flipH="1">
            <a:off x="343220" y="849932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/>
          <p:nvPr/>
        </p:nvCxnSpPr>
        <p:spPr>
          <a:xfrm flipH="1">
            <a:off x="1522813" y="8691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/>
          <p:nvPr/>
        </p:nvCxnSpPr>
        <p:spPr>
          <a:xfrm flipH="1">
            <a:off x="1538036" y="35062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152"/>
          <p:cNvSpPr/>
          <p:nvPr/>
        </p:nvSpPr>
        <p:spPr>
          <a:xfrm>
            <a:off x="3477316" y="822488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1" name="Rectangle 150"/>
          <p:cNvSpPr/>
          <p:nvPr/>
        </p:nvSpPr>
        <p:spPr>
          <a:xfrm>
            <a:off x="3206259" y="108258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" name="Rectangle 3"/>
          <p:cNvSpPr/>
          <p:nvPr/>
        </p:nvSpPr>
        <p:spPr>
          <a:xfrm>
            <a:off x="9106589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" name="Group 16"/>
          <p:cNvGrpSpPr/>
          <p:nvPr/>
        </p:nvGrpSpPr>
        <p:grpSpPr>
          <a:xfrm>
            <a:off x="9145524" y="1250555"/>
            <a:ext cx="1122885" cy="327607"/>
            <a:chOff x="3824287" y="1995689"/>
            <a:chExt cx="1092993" cy="318886"/>
          </a:xfrm>
        </p:grpSpPr>
        <p:sp>
          <p:nvSpPr>
            <p:cNvPr id="10" name="Rectangle 9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" name="Straight Connector 11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9145522" y="2082322"/>
            <a:ext cx="1122885" cy="327607"/>
            <a:chOff x="3976687" y="2148089"/>
            <a:chExt cx="1092993" cy="318886"/>
          </a:xfrm>
        </p:grpSpPr>
        <p:sp>
          <p:nvSpPr>
            <p:cNvPr id="19" name="Rectangle 1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" name="Straight Connector 1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9145522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4" name="Rectangle 23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Connector 27"/>
          <p:cNvCxnSpPr/>
          <p:nvPr/>
        </p:nvCxnSpPr>
        <p:spPr>
          <a:xfrm>
            <a:off x="9716738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9706953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9705727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093523" y="289420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485919" y="290398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853935" y="289685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180215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62826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47151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1399" y="208556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64010" y="208556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48335" y="2084952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08438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61" name="Group 60"/>
          <p:cNvGrpSpPr/>
          <p:nvPr/>
        </p:nvGrpSpPr>
        <p:grpSpPr>
          <a:xfrm>
            <a:off x="6047373" y="1250555"/>
            <a:ext cx="1122885" cy="327607"/>
            <a:chOff x="3824287" y="1995689"/>
            <a:chExt cx="1092993" cy="318886"/>
          </a:xfrm>
        </p:grpSpPr>
        <p:sp>
          <p:nvSpPr>
            <p:cNvPr id="62" name="Rectangle 61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63" name="Straight Connector 62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/>
          <p:cNvGrpSpPr/>
          <p:nvPr/>
        </p:nvGrpSpPr>
        <p:grpSpPr>
          <a:xfrm>
            <a:off x="6047372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70" name="Rectangle 6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71" name="Straight Connector 7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Straight Connector 72"/>
          <p:cNvCxnSpPr/>
          <p:nvPr/>
        </p:nvCxnSpPr>
        <p:spPr>
          <a:xfrm>
            <a:off x="6618587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6608802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6607576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6082064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64675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49000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712425" y="3857624"/>
            <a:ext cx="2934344" cy="938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44" dirty="0"/>
              <a:t>orientation-encoding matrix </a:t>
            </a:r>
            <a:r>
              <a:rPr lang="en-US" sz="2050" b="1" i="1" dirty="0"/>
              <a:t>Q</a:t>
            </a:r>
            <a:r>
              <a:rPr lang="en-US" sz="1644" i="1" dirty="0"/>
              <a:t> </a:t>
            </a:r>
          </a:p>
          <a:p>
            <a:pPr algn="ctr"/>
            <a:r>
              <a:rPr lang="en-US" sz="1644" dirty="0"/>
              <a:t>for the four-taxa-set </a:t>
            </a:r>
          </a:p>
          <a:p>
            <a:pPr algn="ctr"/>
            <a:r>
              <a:rPr lang="en-US" sz="1644" dirty="0"/>
              <a:t>(</a:t>
            </a:r>
            <a:r>
              <a:rPr lang="en-US" sz="1644" i="1" dirty="0"/>
              <a:t>t</a:t>
            </a:r>
            <a:r>
              <a:rPr lang="en-US" sz="1644" i="1" baseline="-25000" dirty="0"/>
              <a:t>1</a:t>
            </a:r>
            <a:r>
              <a:rPr lang="en-US" sz="1644" i="1" dirty="0"/>
              <a:t>, t</a:t>
            </a:r>
            <a:r>
              <a:rPr lang="en-US" sz="1644" i="1" baseline="-25000" dirty="0"/>
              <a:t>2</a:t>
            </a:r>
            <a:r>
              <a:rPr lang="en-US" sz="1644" i="1" dirty="0"/>
              <a:t>, t</a:t>
            </a:r>
            <a:r>
              <a:rPr lang="en-US" sz="1644" i="1" baseline="-25000" dirty="0"/>
              <a:t>3</a:t>
            </a:r>
            <a:r>
              <a:rPr lang="en-US" sz="1644" i="1" dirty="0"/>
              <a:t>, t</a:t>
            </a:r>
            <a:r>
              <a:rPr lang="en-US" sz="1644" i="1" baseline="-25000" dirty="0"/>
              <a:t>4</a:t>
            </a:r>
            <a:r>
              <a:rPr lang="en-US" sz="1644" dirty="0"/>
              <a:t>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713189" y="3864765"/>
            <a:ext cx="185553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44" dirty="0"/>
              <a:t>masked matrix </a:t>
            </a:r>
            <a:r>
              <a:rPr lang="en-US" sz="2050" b="1" i="1" dirty="0" err="1"/>
              <a:t>Q</a:t>
            </a:r>
            <a:r>
              <a:rPr lang="en-US" sz="2050" b="1" i="1" baseline="30000" dirty="0" err="1"/>
              <a:t>m</a:t>
            </a:r>
            <a:endParaRPr lang="en-US" sz="2050" b="1" i="1" baseline="30000" dirty="0"/>
          </a:p>
        </p:txBody>
      </p:sp>
      <p:grpSp>
        <p:nvGrpSpPr>
          <p:cNvPr id="91" name="Group 90"/>
          <p:cNvGrpSpPr/>
          <p:nvPr/>
        </p:nvGrpSpPr>
        <p:grpSpPr>
          <a:xfrm>
            <a:off x="6047372" y="2079242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92" name="Rectangle 91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TextBox 94"/>
          <p:cNvSpPr txBox="1"/>
          <p:nvPr/>
        </p:nvSpPr>
        <p:spPr>
          <a:xfrm>
            <a:off x="6009695" y="208461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6382519" y="208950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760321" y="208236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6007083" y="28864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6379906" y="28913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757708" y="28842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1" name="Right Arrow 100"/>
          <p:cNvSpPr/>
          <p:nvPr/>
        </p:nvSpPr>
        <p:spPr>
          <a:xfrm rot="10800000">
            <a:off x="7286083" y="1981814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2" name="TextBox 101"/>
          <p:cNvSpPr txBox="1"/>
          <p:nvPr/>
        </p:nvSpPr>
        <p:spPr>
          <a:xfrm>
            <a:off x="7711187" y="1756731"/>
            <a:ext cx="113500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Masking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265423" y="1193962"/>
            <a:ext cx="146437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t</a:t>
            </a:r>
            <a:r>
              <a:rPr lang="en-US" sz="2050" i="1" baseline="-25000" dirty="0"/>
              <a:t>3</a:t>
            </a:r>
            <a:r>
              <a:rPr lang="en-US" sz="2050" i="1" dirty="0"/>
              <a:t>,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67793" y="2000410"/>
            <a:ext cx="146766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</a:t>
            </a:r>
            <a:r>
              <a:rPr lang="en-US" sz="2050" b="1" i="1" dirty="0">
                <a:solidFill>
                  <a:srgbClr val="0070C0"/>
                </a:solidFill>
              </a:rPr>
              <a:t>t</a:t>
            </a:r>
            <a:r>
              <a:rPr lang="en-US" sz="2050" b="1" i="1" baseline="-25000" dirty="0">
                <a:solidFill>
                  <a:srgbClr val="0070C0"/>
                </a:solidFill>
              </a:rPr>
              <a:t>3</a:t>
            </a:r>
            <a:r>
              <a:rPr lang="en-US" sz="2050" i="1" dirty="0"/>
              <a:t>,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61979" y="2833073"/>
            <a:ext cx="1469314" cy="419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t</a:t>
            </a:r>
            <a:r>
              <a:rPr lang="en-US" sz="2050" i="1" baseline="-25000" dirty="0"/>
              <a:t>3</a:t>
            </a:r>
            <a:r>
              <a:rPr lang="en-US" sz="2050" i="1" dirty="0"/>
              <a:t>, </a:t>
            </a:r>
            <a:r>
              <a:rPr lang="en-US" sz="2055" b="1" i="1" dirty="0">
                <a:solidFill>
                  <a:srgbClr val="FF0000"/>
                </a:solidFill>
              </a:rPr>
              <a:t>t</a:t>
            </a:r>
            <a:r>
              <a:rPr lang="en-US" sz="2055" b="1" i="1" baseline="-25000" dirty="0">
                <a:solidFill>
                  <a:srgbClr val="FF0000"/>
                </a:solidFill>
              </a:rPr>
              <a:t>4</a:t>
            </a:r>
            <a:r>
              <a:rPr lang="en-US" sz="2050" dirty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52123" y="1165980"/>
            <a:ext cx="41862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g</a:t>
            </a:r>
            <a:r>
              <a:rPr lang="en-US" sz="2050" i="1" baseline="-25000" dirty="0"/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50974" y="1985499"/>
            <a:ext cx="37086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j</a:t>
            </a:r>
            <a:endParaRPr lang="en-US" sz="2050" i="1" baseline="-25000" dirty="0"/>
          </a:p>
        </p:txBody>
      </p:sp>
      <p:sp>
        <p:nvSpPr>
          <p:cNvPr id="68" name="TextBox 67"/>
          <p:cNvSpPr txBox="1"/>
          <p:nvPr/>
        </p:nvSpPr>
        <p:spPr>
          <a:xfrm>
            <a:off x="8720844" y="2804421"/>
            <a:ext cx="410393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k</a:t>
            </a:r>
            <a:endParaRPr lang="en-US" sz="2050" i="1" baseline="-25000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11663578" y="1034849"/>
            <a:ext cx="26095" cy="2646217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9069935" y="961927"/>
            <a:ext cx="1269369" cy="8368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041468" y="486813"/>
            <a:ext cx="151865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orientations</a:t>
            </a:r>
          </a:p>
        </p:txBody>
      </p:sp>
      <p:sp>
        <p:nvSpPr>
          <p:cNvPr id="77" name="TextBox 76"/>
          <p:cNvSpPr txBox="1"/>
          <p:nvPr/>
        </p:nvSpPr>
        <p:spPr>
          <a:xfrm rot="5400000">
            <a:off x="11234338" y="2325043"/>
            <a:ext cx="134329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gene trees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062058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24" name="Group 123"/>
          <p:cNvGrpSpPr/>
          <p:nvPr/>
        </p:nvGrpSpPr>
        <p:grpSpPr>
          <a:xfrm>
            <a:off x="3100993" y="1250555"/>
            <a:ext cx="1122885" cy="327607"/>
            <a:chOff x="3824287" y="1995689"/>
            <a:chExt cx="1092993" cy="318886"/>
          </a:xfrm>
        </p:grpSpPr>
        <p:sp>
          <p:nvSpPr>
            <p:cNvPr id="125" name="Rectangle 12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6" name="Straight Connector 12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Group 127"/>
          <p:cNvGrpSpPr/>
          <p:nvPr/>
        </p:nvGrpSpPr>
        <p:grpSpPr>
          <a:xfrm>
            <a:off x="3100992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29" name="Rectangle 12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30" name="Straight Connector 12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2" name="Straight Connector 131"/>
          <p:cNvCxnSpPr/>
          <p:nvPr/>
        </p:nvCxnSpPr>
        <p:spPr>
          <a:xfrm>
            <a:off x="3672208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/>
          <p:nvPr/>
        </p:nvCxnSpPr>
        <p:spPr>
          <a:xfrm>
            <a:off x="3662422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/>
          <p:nvPr/>
        </p:nvCxnSpPr>
        <p:spPr>
          <a:xfrm>
            <a:off x="3661197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3135684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518295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902620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766809" y="3864765"/>
            <a:ext cx="228496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44" dirty="0"/>
              <a:t>masked tensor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masked</a:t>
            </a:r>
            <a:endParaRPr lang="en-US" sz="2050" b="1" i="1" baseline="-25000" dirty="0"/>
          </a:p>
        </p:txBody>
      </p:sp>
      <p:grpSp>
        <p:nvGrpSpPr>
          <p:cNvPr id="139" name="Group 138"/>
          <p:cNvGrpSpPr/>
          <p:nvPr/>
        </p:nvGrpSpPr>
        <p:grpSpPr>
          <a:xfrm>
            <a:off x="3100992" y="2079242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40" name="Rectangle 13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41" name="Straight Connector 14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" name="TextBox 142"/>
          <p:cNvSpPr txBox="1"/>
          <p:nvPr/>
        </p:nvSpPr>
        <p:spPr>
          <a:xfrm>
            <a:off x="3063315" y="208461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3436139" y="208950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3813941" y="208236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3060703" y="28864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3433527" y="28913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3811329" y="28842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9" name="Right Arrow 148"/>
          <p:cNvSpPr/>
          <p:nvPr/>
        </p:nvSpPr>
        <p:spPr>
          <a:xfrm rot="10800000">
            <a:off x="4458785" y="1981814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0" name="TextBox 149"/>
          <p:cNvSpPr txBox="1"/>
          <p:nvPr/>
        </p:nvSpPr>
        <p:spPr>
          <a:xfrm>
            <a:off x="4836227" y="1163275"/>
            <a:ext cx="1134148" cy="1067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b="1" dirty="0"/>
              <a:t>Stacking</a:t>
            </a:r>
          </a:p>
          <a:p>
            <a:pPr algn="ctr"/>
            <a:r>
              <a:rPr lang="en-US" sz="2050" i="1" baseline="30000" dirty="0"/>
              <a:t>N</a:t>
            </a:r>
            <a:r>
              <a:rPr lang="en-US" sz="2050" i="1" baseline="16000" dirty="0"/>
              <a:t>c</a:t>
            </a:r>
            <a:r>
              <a:rPr lang="en-US" sz="2050" i="1" dirty="0"/>
              <a:t>C</a:t>
            </a:r>
            <a:r>
              <a:rPr lang="en-US" sz="2050" i="1" baseline="-25000" dirty="0"/>
              <a:t>4</a:t>
            </a:r>
            <a:r>
              <a:rPr lang="en-US" sz="2050" i="1" dirty="0"/>
              <a:t> </a:t>
            </a:r>
          </a:p>
          <a:p>
            <a:pPr algn="ctr"/>
            <a:r>
              <a:rPr lang="en-US" sz="2050" dirty="0"/>
              <a:t>matrices</a:t>
            </a:r>
          </a:p>
        </p:txBody>
      </p:sp>
      <p:cxnSp>
        <p:nvCxnSpPr>
          <p:cNvPr id="154" name="Straight Connector 153"/>
          <p:cNvCxnSpPr/>
          <p:nvPr/>
        </p:nvCxnSpPr>
        <p:spPr>
          <a:xfrm flipH="1">
            <a:off x="3251782" y="855096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/>
          <p:nvPr/>
        </p:nvCxnSpPr>
        <p:spPr>
          <a:xfrm flipH="1">
            <a:off x="4431759" y="8691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/>
          <p:cNvCxnSpPr/>
          <p:nvPr/>
        </p:nvCxnSpPr>
        <p:spPr>
          <a:xfrm flipH="1">
            <a:off x="4446982" y="35062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 flipV="1">
            <a:off x="2893719" y="659868"/>
            <a:ext cx="539811" cy="529320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 rot="18826477">
            <a:off x="2099324" y="545028"/>
            <a:ext cx="170020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four-taxa-sets</a:t>
            </a:r>
          </a:p>
        </p:txBody>
      </p:sp>
      <p:sp>
        <p:nvSpPr>
          <p:cNvPr id="103" name="Right Arrow 102"/>
          <p:cNvSpPr/>
          <p:nvPr/>
        </p:nvSpPr>
        <p:spPr>
          <a:xfrm rot="10800000">
            <a:off x="1526085" y="2008302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4" name="TextBox 103"/>
          <p:cNvSpPr txBox="1"/>
          <p:nvPr/>
        </p:nvSpPr>
        <p:spPr>
          <a:xfrm>
            <a:off x="1878311" y="1783219"/>
            <a:ext cx="91301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+ </a:t>
            </a:r>
            <a:r>
              <a:rPr lang="en-US" sz="2050" b="1" i="1" dirty="0" err="1"/>
              <a:t>PEnc</a:t>
            </a:r>
            <a:endParaRPr lang="en-US" sz="2050" b="1" i="1" dirty="0"/>
          </a:p>
        </p:txBody>
      </p:sp>
      <p:sp>
        <p:nvSpPr>
          <p:cNvPr id="171" name="Rectangle 170"/>
          <p:cNvSpPr/>
          <p:nvPr/>
        </p:nvSpPr>
        <p:spPr>
          <a:xfrm>
            <a:off x="13984204" y="822488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72" name="Rectangle 171"/>
          <p:cNvSpPr/>
          <p:nvPr/>
        </p:nvSpPr>
        <p:spPr>
          <a:xfrm>
            <a:off x="13713147" y="108258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73" name="Rectangle 172"/>
          <p:cNvSpPr/>
          <p:nvPr/>
        </p:nvSpPr>
        <p:spPr>
          <a:xfrm>
            <a:off x="13568947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4" name="Group 173"/>
          <p:cNvGrpSpPr/>
          <p:nvPr/>
        </p:nvGrpSpPr>
        <p:grpSpPr>
          <a:xfrm>
            <a:off x="13607881" y="1250555"/>
            <a:ext cx="1122885" cy="327607"/>
            <a:chOff x="3824287" y="1995689"/>
            <a:chExt cx="1092993" cy="318886"/>
          </a:xfrm>
        </p:grpSpPr>
        <p:sp>
          <p:nvSpPr>
            <p:cNvPr id="175" name="Rectangle 17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76" name="Straight Connector 17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/>
        </p:nvGrpSpPr>
        <p:grpSpPr>
          <a:xfrm>
            <a:off x="13607880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79" name="Rectangle 17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80" name="Straight Connector 17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2" name="Straight Connector 181"/>
          <p:cNvCxnSpPr/>
          <p:nvPr/>
        </p:nvCxnSpPr>
        <p:spPr>
          <a:xfrm>
            <a:off x="14179096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>
            <a:off x="14169311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/>
          <p:cNvCxnSpPr/>
          <p:nvPr/>
        </p:nvCxnSpPr>
        <p:spPr>
          <a:xfrm>
            <a:off x="14168085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>
            <a:off x="13642572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4025184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4409508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3144548" y="3803767"/>
            <a:ext cx="2398792" cy="743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dirty="0"/>
              <a:t>target of the </a:t>
            </a:r>
          </a:p>
          <a:p>
            <a:pPr algn="ctr"/>
            <a:r>
              <a:rPr lang="en-US" sz="2050" dirty="0" err="1"/>
              <a:t>autoencoder</a:t>
            </a:r>
            <a:r>
              <a:rPr lang="en-US" sz="2050" b="1" i="1" dirty="0"/>
              <a:t>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stacked</a:t>
            </a:r>
            <a:endParaRPr lang="en-US" sz="2050" b="1" i="1" baseline="-25000" dirty="0"/>
          </a:p>
        </p:txBody>
      </p:sp>
      <p:grpSp>
        <p:nvGrpSpPr>
          <p:cNvPr id="189" name="Group 188"/>
          <p:cNvGrpSpPr/>
          <p:nvPr/>
        </p:nvGrpSpPr>
        <p:grpSpPr>
          <a:xfrm>
            <a:off x="13607880" y="2079242"/>
            <a:ext cx="1122885" cy="327607"/>
            <a:chOff x="3976687" y="2148089"/>
            <a:chExt cx="1092993" cy="318886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90" name="Rectangle 18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91" name="Straight Connector 19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6" name="TextBox 195"/>
          <p:cNvSpPr txBox="1"/>
          <p:nvPr/>
        </p:nvSpPr>
        <p:spPr>
          <a:xfrm>
            <a:off x="13567591" y="28864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13940415" y="28913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14318217" y="28842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199" name="Straight Connector 198"/>
          <p:cNvCxnSpPr/>
          <p:nvPr/>
        </p:nvCxnSpPr>
        <p:spPr>
          <a:xfrm flipH="1">
            <a:off x="13758671" y="855096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/>
          <p:cNvCxnSpPr/>
          <p:nvPr/>
        </p:nvCxnSpPr>
        <p:spPr>
          <a:xfrm flipH="1">
            <a:off x="14938647" y="8691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/>
          <p:cNvCxnSpPr/>
          <p:nvPr/>
        </p:nvCxnSpPr>
        <p:spPr>
          <a:xfrm flipH="1">
            <a:off x="14953870" y="35062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Right Arrow 201"/>
          <p:cNvSpPr/>
          <p:nvPr/>
        </p:nvSpPr>
        <p:spPr>
          <a:xfrm>
            <a:off x="12056923" y="2097079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03" name="TextBox 202"/>
          <p:cNvSpPr txBox="1"/>
          <p:nvPr/>
        </p:nvSpPr>
        <p:spPr>
          <a:xfrm>
            <a:off x="12047277" y="1307561"/>
            <a:ext cx="1134148" cy="1067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b="1" dirty="0"/>
              <a:t>Stacking</a:t>
            </a:r>
          </a:p>
          <a:p>
            <a:pPr algn="ctr"/>
            <a:r>
              <a:rPr lang="en-US" sz="2050" i="1" baseline="30000" dirty="0"/>
              <a:t>N</a:t>
            </a:r>
            <a:r>
              <a:rPr lang="en-US" sz="2050" i="1" baseline="16000" dirty="0"/>
              <a:t>c</a:t>
            </a:r>
            <a:r>
              <a:rPr lang="en-US" sz="2050" i="1" dirty="0"/>
              <a:t>C</a:t>
            </a:r>
            <a:r>
              <a:rPr lang="en-US" sz="2050" i="1" baseline="-25000" dirty="0"/>
              <a:t>4</a:t>
            </a:r>
            <a:r>
              <a:rPr lang="en-US" sz="2050" i="1" dirty="0"/>
              <a:t> </a:t>
            </a:r>
          </a:p>
          <a:p>
            <a:pPr algn="ctr"/>
            <a:r>
              <a:rPr lang="en-US" sz="2050" dirty="0"/>
              <a:t>matrices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3638784" y="2082438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4021396" y="2082438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4405721" y="20818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41" name="Trapezoid 40"/>
          <p:cNvSpPr/>
          <p:nvPr/>
        </p:nvSpPr>
        <p:spPr>
          <a:xfrm rot="5400000">
            <a:off x="5218644" y="5686604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12" name="Trapezoid 211"/>
          <p:cNvSpPr/>
          <p:nvPr/>
        </p:nvSpPr>
        <p:spPr>
          <a:xfrm rot="16200000">
            <a:off x="7445755" y="5683728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2" name="Rectangle 41"/>
          <p:cNvSpPr/>
          <p:nvPr/>
        </p:nvSpPr>
        <p:spPr>
          <a:xfrm>
            <a:off x="7287543" y="6084931"/>
            <a:ext cx="269534" cy="104185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cxnSp>
        <p:nvCxnSpPr>
          <p:cNvPr id="213" name="Straight Arrow Connector 212"/>
          <p:cNvCxnSpPr/>
          <p:nvPr/>
        </p:nvCxnSpPr>
        <p:spPr>
          <a:xfrm>
            <a:off x="5387093" y="5344002"/>
            <a:ext cx="1900450" cy="583188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213"/>
          <p:cNvSpPr txBox="1"/>
          <p:nvPr/>
        </p:nvSpPr>
        <p:spPr>
          <a:xfrm rot="995966">
            <a:off x="5700924" y="5215555"/>
            <a:ext cx="143920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E</a:t>
            </a:r>
            <a:r>
              <a:rPr lang="en-US" sz="2050" dirty="0"/>
              <a:t> FC layers</a:t>
            </a:r>
          </a:p>
        </p:txBody>
      </p:sp>
      <p:cxnSp>
        <p:nvCxnSpPr>
          <p:cNvPr id="215" name="Straight Arrow Connector 214"/>
          <p:cNvCxnSpPr/>
          <p:nvPr/>
        </p:nvCxnSpPr>
        <p:spPr>
          <a:xfrm flipV="1">
            <a:off x="7606376" y="5354307"/>
            <a:ext cx="1841258" cy="555022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TextBox 215"/>
          <p:cNvSpPr txBox="1"/>
          <p:nvPr/>
        </p:nvSpPr>
        <p:spPr>
          <a:xfrm rot="20572771">
            <a:off x="7762038" y="5202735"/>
            <a:ext cx="146226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D</a:t>
            </a:r>
            <a:r>
              <a:rPr lang="en-US" sz="2050" dirty="0"/>
              <a:t> FC layers</a:t>
            </a:r>
          </a:p>
        </p:txBody>
      </p:sp>
      <p:sp>
        <p:nvSpPr>
          <p:cNvPr id="52" name="TextBox 51"/>
          <p:cNvSpPr txBox="1"/>
          <p:nvPr/>
        </p:nvSpPr>
        <p:spPr>
          <a:xfrm rot="20597095">
            <a:off x="5753600" y="7409600"/>
            <a:ext cx="110074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Encoder</a:t>
            </a:r>
          </a:p>
        </p:txBody>
      </p:sp>
      <p:sp>
        <p:nvSpPr>
          <p:cNvPr id="217" name="TextBox 216"/>
          <p:cNvSpPr txBox="1"/>
          <p:nvPr/>
        </p:nvSpPr>
        <p:spPr>
          <a:xfrm rot="1022148">
            <a:off x="7948880" y="7403188"/>
            <a:ext cx="113039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Decoder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96383" y="7062645"/>
            <a:ext cx="477914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>
                <a:solidFill>
                  <a:srgbClr val="0070C0"/>
                </a:solidFill>
              </a:rPr>
              <a:t>h</a:t>
            </a:r>
            <a:r>
              <a:rPr lang="en-US" sz="2876" b="1" i="1" baseline="-25000" dirty="0" err="1">
                <a:solidFill>
                  <a:srgbClr val="0070C0"/>
                </a:solidFill>
              </a:rPr>
              <a:t>r</a:t>
            </a:r>
            <a:endParaRPr lang="en-US" sz="3287" b="1" i="1" baseline="-25000" dirty="0">
              <a:solidFill>
                <a:srgbClr val="0070C0"/>
              </a:solidFill>
            </a:endParaRPr>
          </a:p>
        </p:txBody>
      </p:sp>
      <p:cxnSp>
        <p:nvCxnSpPr>
          <p:cNvPr id="36" name="Elbow Connector 35"/>
          <p:cNvCxnSpPr>
            <a:stCxn id="122" idx="2"/>
            <a:endCxn id="41" idx="2"/>
          </p:cNvCxnSpPr>
          <p:nvPr/>
        </p:nvCxnSpPr>
        <p:spPr>
          <a:xfrm rot="16200000" flipH="1">
            <a:off x="2134188" y="3353524"/>
            <a:ext cx="2059625" cy="4446207"/>
          </a:xfrm>
          <a:prstGeom prst="bentConnector2">
            <a:avLst/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278536" y="6055920"/>
            <a:ext cx="815516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/>
              <a:t>X (</a:t>
            </a:r>
            <a:r>
              <a:rPr lang="en-US" sz="2876" b="1" i="1" dirty="0" err="1"/>
              <a:t>i</a:t>
            </a:r>
            <a:r>
              <a:rPr lang="en-US" sz="2876" b="1" i="1" dirty="0"/>
              <a:t>)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9655796" y="6021754"/>
            <a:ext cx="1306768" cy="534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/>
              <a:t>Q</a:t>
            </a:r>
            <a:r>
              <a:rPr lang="en-US" sz="2876" b="1" i="1" baseline="-25000" dirty="0" err="1"/>
              <a:t>pred</a:t>
            </a:r>
            <a:r>
              <a:rPr lang="en-US" sz="2876" b="1" i="1" dirty="0"/>
              <a:t> (</a:t>
            </a:r>
            <a:r>
              <a:rPr lang="en-US" sz="2876" b="1" i="1" dirty="0" err="1"/>
              <a:t>i</a:t>
            </a:r>
            <a:r>
              <a:rPr lang="en-US" sz="2876" b="1" i="1" dirty="0"/>
              <a:t>)</a:t>
            </a:r>
          </a:p>
        </p:txBody>
      </p:sp>
      <p:cxnSp>
        <p:nvCxnSpPr>
          <p:cNvPr id="11" name="Straight Connector 10"/>
          <p:cNvCxnSpPr>
            <a:stCxn id="212" idx="2"/>
            <a:endCxn id="30" idx="0"/>
          </p:cNvCxnSpPr>
          <p:nvPr/>
        </p:nvCxnSpPr>
        <p:spPr>
          <a:xfrm>
            <a:off x="9453888" y="6603561"/>
            <a:ext cx="1759829" cy="21534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TextBox 192"/>
          <p:cNvSpPr txBox="1"/>
          <p:nvPr/>
        </p:nvSpPr>
        <p:spPr>
          <a:xfrm rot="16200000">
            <a:off x="13175398" y="5264827"/>
            <a:ext cx="1652179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/>
              <a:t>Q</a:t>
            </a:r>
            <a:r>
              <a:rPr lang="en-US" sz="2876" b="1" i="1" baseline="-25000" dirty="0" err="1"/>
              <a:t>stacked</a:t>
            </a:r>
            <a:r>
              <a:rPr lang="en-US" sz="2876" b="1" i="1" dirty="0"/>
              <a:t> (</a:t>
            </a:r>
            <a:r>
              <a:rPr lang="en-US" sz="2876" b="1" i="1" dirty="0" err="1"/>
              <a:t>i</a:t>
            </a:r>
            <a:r>
              <a:rPr lang="en-US" sz="2876" b="1" i="1" dirty="0"/>
              <a:t>)</a:t>
            </a:r>
          </a:p>
        </p:txBody>
      </p:sp>
      <p:sp>
        <p:nvSpPr>
          <p:cNvPr id="30" name="Snip Same Side Corner Rectangle 29"/>
          <p:cNvSpPr/>
          <p:nvPr/>
        </p:nvSpPr>
        <p:spPr>
          <a:xfrm rot="10800000">
            <a:off x="11213717" y="6003404"/>
            <a:ext cx="2201919" cy="1243389"/>
          </a:xfrm>
          <a:prstGeom prst="snip2SameRect">
            <a:avLst/>
          </a:prstGeom>
          <a:solidFill>
            <a:schemeClr val="bg1"/>
          </a:solidFill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06" name="Elbow Connector 205"/>
          <p:cNvCxnSpPr>
            <a:stCxn id="188" idx="2"/>
            <a:endCxn id="30" idx="2"/>
          </p:cNvCxnSpPr>
          <p:nvPr/>
        </p:nvCxnSpPr>
        <p:spPr>
          <a:xfrm rot="5400000">
            <a:off x="12840651" y="5121805"/>
            <a:ext cx="2078276" cy="928311"/>
          </a:xfrm>
          <a:prstGeom prst="bentConnector2">
            <a:avLst/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1256351" y="6122094"/>
            <a:ext cx="2130327" cy="1013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Cross-entropy loss</a:t>
            </a:r>
          </a:p>
          <a:p>
            <a:pPr algn="ctr"/>
            <a:r>
              <a:rPr lang="en-US" dirty="0"/>
              <a:t>(as reconstruction</a:t>
            </a:r>
          </a:p>
          <a:p>
            <a:pPr algn="ctr"/>
            <a:r>
              <a:rPr lang="en-US" dirty="0"/>
              <a:t> loss)</a:t>
            </a:r>
          </a:p>
        </p:txBody>
      </p:sp>
    </p:spTree>
    <p:extLst>
      <p:ext uri="{BB962C8B-B14F-4D97-AF65-F5344CB8AC3E}">
        <p14:creationId xmlns:p14="http://schemas.microsoft.com/office/powerpoint/2010/main" val="2438560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04"/>
          <p:cNvSpPr/>
          <p:nvPr/>
        </p:nvSpPr>
        <p:spPr>
          <a:xfrm>
            <a:off x="568362" y="822484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6" name="Rectangle 105"/>
          <p:cNvSpPr/>
          <p:nvPr/>
        </p:nvSpPr>
        <p:spPr>
          <a:xfrm>
            <a:off x="297304" y="1082581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7" name="Rectangle 106"/>
          <p:cNvSpPr/>
          <p:nvPr/>
        </p:nvSpPr>
        <p:spPr>
          <a:xfrm>
            <a:off x="153103" y="121140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08" name="Group 107"/>
          <p:cNvGrpSpPr/>
          <p:nvPr/>
        </p:nvGrpSpPr>
        <p:grpSpPr>
          <a:xfrm>
            <a:off x="192423" y="1245391"/>
            <a:ext cx="1122885" cy="327607"/>
            <a:chOff x="3824287" y="1995689"/>
            <a:chExt cx="1092993" cy="318886"/>
          </a:xfrm>
        </p:grpSpPr>
        <p:sp>
          <p:nvSpPr>
            <p:cNvPr id="109" name="Rectangle 108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10" name="Straight Connector 109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Group 111"/>
          <p:cNvGrpSpPr/>
          <p:nvPr/>
        </p:nvGrpSpPr>
        <p:grpSpPr>
          <a:xfrm>
            <a:off x="192422" y="2879885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13" name="Rectangle 112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14" name="Straight Connector 113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6" name="Straight Connector 115"/>
          <p:cNvCxnSpPr/>
          <p:nvPr/>
        </p:nvCxnSpPr>
        <p:spPr>
          <a:xfrm>
            <a:off x="763648" y="168651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>
            <a:off x="753863" y="249609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752637" y="331513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227117" y="1251504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09729" y="1251504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94053" y="125089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0697" y="3803761"/>
            <a:ext cx="1800394" cy="743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dirty="0"/>
              <a:t>input of the </a:t>
            </a:r>
          </a:p>
          <a:p>
            <a:pPr algn="ctr"/>
            <a:r>
              <a:rPr lang="en-US" sz="2050" dirty="0" err="1"/>
              <a:t>autoencoder</a:t>
            </a:r>
            <a:r>
              <a:rPr lang="en-US" sz="2050" b="1" i="1" dirty="0"/>
              <a:t> X</a:t>
            </a:r>
            <a:endParaRPr lang="en-US" sz="2050" b="1" i="1" baseline="-25000" dirty="0"/>
          </a:p>
        </p:txBody>
      </p:sp>
      <p:grpSp>
        <p:nvGrpSpPr>
          <p:cNvPr id="152" name="Group 151"/>
          <p:cNvGrpSpPr/>
          <p:nvPr/>
        </p:nvGrpSpPr>
        <p:grpSpPr>
          <a:xfrm>
            <a:off x="192422" y="2074078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59" name="Rectangle 15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60" name="Straight Connector 15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2" name="TextBox 161"/>
          <p:cNvSpPr txBox="1"/>
          <p:nvPr/>
        </p:nvSpPr>
        <p:spPr>
          <a:xfrm>
            <a:off x="154748" y="2079446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527572" y="208433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904991" y="208236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152136" y="288132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524960" y="2886221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902379" y="288424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168" name="Straight Connector 167"/>
          <p:cNvCxnSpPr/>
          <p:nvPr/>
        </p:nvCxnSpPr>
        <p:spPr>
          <a:xfrm flipH="1">
            <a:off x="343220" y="849932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/>
          <p:nvPr/>
        </p:nvCxnSpPr>
        <p:spPr>
          <a:xfrm flipH="1">
            <a:off x="1522813" y="8691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/>
          <p:nvPr/>
        </p:nvCxnSpPr>
        <p:spPr>
          <a:xfrm flipH="1">
            <a:off x="1538036" y="35062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152"/>
          <p:cNvSpPr/>
          <p:nvPr/>
        </p:nvSpPr>
        <p:spPr>
          <a:xfrm>
            <a:off x="3477316" y="822488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1" name="Rectangle 150"/>
          <p:cNvSpPr/>
          <p:nvPr/>
        </p:nvSpPr>
        <p:spPr>
          <a:xfrm>
            <a:off x="3206259" y="108258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" name="Rectangle 3"/>
          <p:cNvSpPr/>
          <p:nvPr/>
        </p:nvSpPr>
        <p:spPr>
          <a:xfrm>
            <a:off x="9106589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" name="Group 16"/>
          <p:cNvGrpSpPr/>
          <p:nvPr/>
        </p:nvGrpSpPr>
        <p:grpSpPr>
          <a:xfrm>
            <a:off x="9145524" y="1250555"/>
            <a:ext cx="1122885" cy="327607"/>
            <a:chOff x="3824287" y="1995689"/>
            <a:chExt cx="1092993" cy="318886"/>
          </a:xfrm>
        </p:grpSpPr>
        <p:sp>
          <p:nvSpPr>
            <p:cNvPr id="10" name="Rectangle 9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" name="Straight Connector 11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9145522" y="2082322"/>
            <a:ext cx="1122885" cy="327607"/>
            <a:chOff x="3976687" y="2148089"/>
            <a:chExt cx="1092993" cy="318886"/>
          </a:xfrm>
        </p:grpSpPr>
        <p:sp>
          <p:nvSpPr>
            <p:cNvPr id="19" name="Rectangle 1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" name="Straight Connector 1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9145522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4" name="Rectangle 23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Connector 27"/>
          <p:cNvCxnSpPr/>
          <p:nvPr/>
        </p:nvCxnSpPr>
        <p:spPr>
          <a:xfrm>
            <a:off x="9716738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9706953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9705727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093523" y="289420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485919" y="290398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853935" y="289685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180215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62826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47151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1399" y="208556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64010" y="208556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48335" y="2084952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08438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61" name="Group 60"/>
          <p:cNvGrpSpPr/>
          <p:nvPr/>
        </p:nvGrpSpPr>
        <p:grpSpPr>
          <a:xfrm>
            <a:off x="6047373" y="1250555"/>
            <a:ext cx="1122885" cy="327607"/>
            <a:chOff x="3824287" y="1995689"/>
            <a:chExt cx="1092993" cy="318886"/>
          </a:xfrm>
        </p:grpSpPr>
        <p:sp>
          <p:nvSpPr>
            <p:cNvPr id="62" name="Rectangle 61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63" name="Straight Connector 62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/>
          <p:cNvGrpSpPr/>
          <p:nvPr/>
        </p:nvGrpSpPr>
        <p:grpSpPr>
          <a:xfrm>
            <a:off x="6047372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70" name="Rectangle 6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71" name="Straight Connector 7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Straight Connector 72"/>
          <p:cNvCxnSpPr/>
          <p:nvPr/>
        </p:nvCxnSpPr>
        <p:spPr>
          <a:xfrm>
            <a:off x="6618587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6608802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6607576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6082064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64675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49000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712425" y="3857624"/>
            <a:ext cx="2934344" cy="938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44" dirty="0"/>
              <a:t>orientation-encoding matrix </a:t>
            </a:r>
            <a:r>
              <a:rPr lang="en-US" sz="2050" b="1" i="1" dirty="0"/>
              <a:t>Q</a:t>
            </a:r>
            <a:r>
              <a:rPr lang="en-US" sz="1644" i="1" dirty="0"/>
              <a:t> </a:t>
            </a:r>
          </a:p>
          <a:p>
            <a:pPr algn="ctr"/>
            <a:r>
              <a:rPr lang="en-US" sz="1644" dirty="0"/>
              <a:t>for the four-taxa-set </a:t>
            </a:r>
          </a:p>
          <a:p>
            <a:pPr algn="ctr"/>
            <a:r>
              <a:rPr lang="en-US" sz="1644" dirty="0"/>
              <a:t>(</a:t>
            </a:r>
            <a:r>
              <a:rPr lang="en-US" sz="1644" i="1" dirty="0"/>
              <a:t>t</a:t>
            </a:r>
            <a:r>
              <a:rPr lang="en-US" sz="1644" i="1" baseline="-25000" dirty="0"/>
              <a:t>1</a:t>
            </a:r>
            <a:r>
              <a:rPr lang="en-US" sz="1644" i="1" dirty="0"/>
              <a:t>, t</a:t>
            </a:r>
            <a:r>
              <a:rPr lang="en-US" sz="1644" i="1" baseline="-25000" dirty="0"/>
              <a:t>2</a:t>
            </a:r>
            <a:r>
              <a:rPr lang="en-US" sz="1644" i="1" dirty="0"/>
              <a:t>, t</a:t>
            </a:r>
            <a:r>
              <a:rPr lang="en-US" sz="1644" i="1" baseline="-25000" dirty="0"/>
              <a:t>3</a:t>
            </a:r>
            <a:r>
              <a:rPr lang="en-US" sz="1644" i="1" dirty="0"/>
              <a:t>, t</a:t>
            </a:r>
            <a:r>
              <a:rPr lang="en-US" sz="1644" i="1" baseline="-25000" dirty="0"/>
              <a:t>4</a:t>
            </a:r>
            <a:r>
              <a:rPr lang="en-US" sz="1644" dirty="0"/>
              <a:t>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713189" y="3864765"/>
            <a:ext cx="185553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44" dirty="0"/>
              <a:t>masked matrix </a:t>
            </a:r>
            <a:r>
              <a:rPr lang="en-US" sz="2050" b="1" i="1" dirty="0" err="1"/>
              <a:t>Q</a:t>
            </a:r>
            <a:r>
              <a:rPr lang="en-US" sz="2050" b="1" i="1" baseline="30000" dirty="0" err="1"/>
              <a:t>m</a:t>
            </a:r>
            <a:endParaRPr lang="en-US" sz="2050" b="1" i="1" baseline="30000" dirty="0"/>
          </a:p>
        </p:txBody>
      </p:sp>
      <p:grpSp>
        <p:nvGrpSpPr>
          <p:cNvPr id="91" name="Group 90"/>
          <p:cNvGrpSpPr/>
          <p:nvPr/>
        </p:nvGrpSpPr>
        <p:grpSpPr>
          <a:xfrm>
            <a:off x="6047372" y="2079242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92" name="Rectangle 91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TextBox 94"/>
          <p:cNvSpPr txBox="1"/>
          <p:nvPr/>
        </p:nvSpPr>
        <p:spPr>
          <a:xfrm>
            <a:off x="6009695" y="208461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6382519" y="208950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760321" y="208236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6007083" y="28864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6379906" y="28913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757708" y="28842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1" name="Right Arrow 100"/>
          <p:cNvSpPr/>
          <p:nvPr/>
        </p:nvSpPr>
        <p:spPr>
          <a:xfrm rot="10800000">
            <a:off x="7286083" y="1981814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2" name="TextBox 101"/>
          <p:cNvSpPr txBox="1"/>
          <p:nvPr/>
        </p:nvSpPr>
        <p:spPr>
          <a:xfrm>
            <a:off x="7711187" y="1756731"/>
            <a:ext cx="113500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Masking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265423" y="1193962"/>
            <a:ext cx="146437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t</a:t>
            </a:r>
            <a:r>
              <a:rPr lang="en-US" sz="2050" i="1" baseline="-25000" dirty="0"/>
              <a:t>3</a:t>
            </a:r>
            <a:r>
              <a:rPr lang="en-US" sz="2050" i="1" dirty="0"/>
              <a:t>,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67793" y="2000410"/>
            <a:ext cx="146766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</a:t>
            </a:r>
            <a:r>
              <a:rPr lang="en-US" sz="2050" b="1" i="1" dirty="0">
                <a:solidFill>
                  <a:srgbClr val="0070C0"/>
                </a:solidFill>
              </a:rPr>
              <a:t>t</a:t>
            </a:r>
            <a:r>
              <a:rPr lang="en-US" sz="2050" b="1" i="1" baseline="-25000" dirty="0">
                <a:solidFill>
                  <a:srgbClr val="0070C0"/>
                </a:solidFill>
              </a:rPr>
              <a:t>3</a:t>
            </a:r>
            <a:r>
              <a:rPr lang="en-US" sz="2050" i="1" dirty="0"/>
              <a:t>,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61979" y="2833073"/>
            <a:ext cx="1469314" cy="419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t</a:t>
            </a:r>
            <a:r>
              <a:rPr lang="en-US" sz="2050" i="1" baseline="-25000" dirty="0"/>
              <a:t>3</a:t>
            </a:r>
            <a:r>
              <a:rPr lang="en-US" sz="2050" i="1" dirty="0"/>
              <a:t>, </a:t>
            </a:r>
            <a:r>
              <a:rPr lang="en-US" sz="2055" b="1" i="1" dirty="0">
                <a:solidFill>
                  <a:srgbClr val="FF0000"/>
                </a:solidFill>
              </a:rPr>
              <a:t>t</a:t>
            </a:r>
            <a:r>
              <a:rPr lang="en-US" sz="2055" b="1" i="1" baseline="-25000" dirty="0">
                <a:solidFill>
                  <a:srgbClr val="FF0000"/>
                </a:solidFill>
              </a:rPr>
              <a:t>4</a:t>
            </a:r>
            <a:r>
              <a:rPr lang="en-US" sz="2050" dirty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52123" y="1165980"/>
            <a:ext cx="41862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g</a:t>
            </a:r>
            <a:r>
              <a:rPr lang="en-US" sz="2050" i="1" baseline="-25000" dirty="0"/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50974" y="1985499"/>
            <a:ext cx="37086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j</a:t>
            </a:r>
            <a:endParaRPr lang="en-US" sz="2050" i="1" baseline="-25000" dirty="0"/>
          </a:p>
        </p:txBody>
      </p:sp>
      <p:sp>
        <p:nvSpPr>
          <p:cNvPr id="68" name="TextBox 67"/>
          <p:cNvSpPr txBox="1"/>
          <p:nvPr/>
        </p:nvSpPr>
        <p:spPr>
          <a:xfrm>
            <a:off x="8720844" y="2804421"/>
            <a:ext cx="410393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k</a:t>
            </a:r>
            <a:endParaRPr lang="en-US" sz="2050" i="1" baseline="-25000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11663578" y="1034849"/>
            <a:ext cx="26095" cy="2646217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9069935" y="961927"/>
            <a:ext cx="1269369" cy="8368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041468" y="486813"/>
            <a:ext cx="151865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orientations</a:t>
            </a:r>
          </a:p>
        </p:txBody>
      </p:sp>
      <p:sp>
        <p:nvSpPr>
          <p:cNvPr id="77" name="TextBox 76"/>
          <p:cNvSpPr txBox="1"/>
          <p:nvPr/>
        </p:nvSpPr>
        <p:spPr>
          <a:xfrm rot="5400000">
            <a:off x="11234338" y="2325043"/>
            <a:ext cx="134329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gene trees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062058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24" name="Group 123"/>
          <p:cNvGrpSpPr/>
          <p:nvPr/>
        </p:nvGrpSpPr>
        <p:grpSpPr>
          <a:xfrm>
            <a:off x="3100993" y="1250555"/>
            <a:ext cx="1122885" cy="327607"/>
            <a:chOff x="3824287" y="1995689"/>
            <a:chExt cx="1092993" cy="318886"/>
          </a:xfrm>
        </p:grpSpPr>
        <p:sp>
          <p:nvSpPr>
            <p:cNvPr id="125" name="Rectangle 12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6" name="Straight Connector 12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Group 127"/>
          <p:cNvGrpSpPr/>
          <p:nvPr/>
        </p:nvGrpSpPr>
        <p:grpSpPr>
          <a:xfrm>
            <a:off x="3100992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29" name="Rectangle 12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30" name="Straight Connector 12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2" name="Straight Connector 131"/>
          <p:cNvCxnSpPr/>
          <p:nvPr/>
        </p:nvCxnSpPr>
        <p:spPr>
          <a:xfrm>
            <a:off x="3672208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/>
          <p:nvPr/>
        </p:nvCxnSpPr>
        <p:spPr>
          <a:xfrm>
            <a:off x="3662422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/>
          <p:nvPr/>
        </p:nvCxnSpPr>
        <p:spPr>
          <a:xfrm>
            <a:off x="3661197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3135684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518295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902620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766809" y="3864765"/>
            <a:ext cx="228496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44" dirty="0"/>
              <a:t>masked tensor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masked</a:t>
            </a:r>
            <a:endParaRPr lang="en-US" sz="2050" b="1" i="1" baseline="-25000" dirty="0"/>
          </a:p>
        </p:txBody>
      </p:sp>
      <p:grpSp>
        <p:nvGrpSpPr>
          <p:cNvPr id="139" name="Group 138"/>
          <p:cNvGrpSpPr/>
          <p:nvPr/>
        </p:nvGrpSpPr>
        <p:grpSpPr>
          <a:xfrm>
            <a:off x="3100992" y="2079242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40" name="Rectangle 13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41" name="Straight Connector 14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" name="TextBox 142"/>
          <p:cNvSpPr txBox="1"/>
          <p:nvPr/>
        </p:nvSpPr>
        <p:spPr>
          <a:xfrm>
            <a:off x="3063315" y="208461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3436139" y="208950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3813941" y="208236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3060703" y="28864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3433527" y="28913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3811329" y="28842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9" name="Right Arrow 148"/>
          <p:cNvSpPr/>
          <p:nvPr/>
        </p:nvSpPr>
        <p:spPr>
          <a:xfrm rot="10800000">
            <a:off x="4458785" y="1981814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0" name="TextBox 149"/>
          <p:cNvSpPr txBox="1"/>
          <p:nvPr/>
        </p:nvSpPr>
        <p:spPr>
          <a:xfrm>
            <a:off x="4836227" y="1163275"/>
            <a:ext cx="1134148" cy="1067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b="1" dirty="0"/>
              <a:t>Stacking</a:t>
            </a:r>
          </a:p>
          <a:p>
            <a:pPr algn="ctr"/>
            <a:r>
              <a:rPr lang="en-US" sz="2050" i="1" baseline="30000" dirty="0"/>
              <a:t>N</a:t>
            </a:r>
            <a:r>
              <a:rPr lang="en-US" sz="2050" i="1" baseline="16000" dirty="0"/>
              <a:t>c</a:t>
            </a:r>
            <a:r>
              <a:rPr lang="en-US" sz="2050" i="1" dirty="0"/>
              <a:t>C</a:t>
            </a:r>
            <a:r>
              <a:rPr lang="en-US" sz="2050" i="1" baseline="-25000" dirty="0"/>
              <a:t>4</a:t>
            </a:r>
            <a:r>
              <a:rPr lang="en-US" sz="2050" i="1" dirty="0"/>
              <a:t> </a:t>
            </a:r>
          </a:p>
          <a:p>
            <a:pPr algn="ctr"/>
            <a:r>
              <a:rPr lang="en-US" sz="2050" dirty="0"/>
              <a:t>matrices</a:t>
            </a:r>
          </a:p>
        </p:txBody>
      </p:sp>
      <p:cxnSp>
        <p:nvCxnSpPr>
          <p:cNvPr id="154" name="Straight Connector 153"/>
          <p:cNvCxnSpPr/>
          <p:nvPr/>
        </p:nvCxnSpPr>
        <p:spPr>
          <a:xfrm flipH="1">
            <a:off x="3251782" y="855096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/>
          <p:nvPr/>
        </p:nvCxnSpPr>
        <p:spPr>
          <a:xfrm flipH="1">
            <a:off x="4431759" y="8691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/>
          <p:cNvCxnSpPr/>
          <p:nvPr/>
        </p:nvCxnSpPr>
        <p:spPr>
          <a:xfrm flipH="1">
            <a:off x="4446982" y="35062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 flipV="1">
            <a:off x="2893719" y="659868"/>
            <a:ext cx="539811" cy="529320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 rot="18826477">
            <a:off x="2099324" y="545028"/>
            <a:ext cx="170020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four-taxa-sets</a:t>
            </a:r>
          </a:p>
        </p:txBody>
      </p:sp>
      <p:sp>
        <p:nvSpPr>
          <p:cNvPr id="103" name="Right Arrow 102"/>
          <p:cNvSpPr/>
          <p:nvPr/>
        </p:nvSpPr>
        <p:spPr>
          <a:xfrm rot="10800000">
            <a:off x="1526085" y="2008302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4" name="TextBox 103"/>
          <p:cNvSpPr txBox="1"/>
          <p:nvPr/>
        </p:nvSpPr>
        <p:spPr>
          <a:xfrm>
            <a:off x="1878311" y="1783219"/>
            <a:ext cx="91301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+ </a:t>
            </a:r>
            <a:r>
              <a:rPr lang="en-US" sz="2050" b="1" i="1" dirty="0" err="1"/>
              <a:t>PEnc</a:t>
            </a:r>
            <a:endParaRPr lang="en-US" sz="2050" b="1" i="1" dirty="0"/>
          </a:p>
        </p:txBody>
      </p:sp>
      <p:sp>
        <p:nvSpPr>
          <p:cNvPr id="171" name="Rectangle 170"/>
          <p:cNvSpPr/>
          <p:nvPr/>
        </p:nvSpPr>
        <p:spPr>
          <a:xfrm>
            <a:off x="13984204" y="822488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72" name="Rectangle 171"/>
          <p:cNvSpPr/>
          <p:nvPr/>
        </p:nvSpPr>
        <p:spPr>
          <a:xfrm>
            <a:off x="13713147" y="108258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73" name="Rectangle 172"/>
          <p:cNvSpPr/>
          <p:nvPr/>
        </p:nvSpPr>
        <p:spPr>
          <a:xfrm>
            <a:off x="13568947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4" name="Group 173"/>
          <p:cNvGrpSpPr/>
          <p:nvPr/>
        </p:nvGrpSpPr>
        <p:grpSpPr>
          <a:xfrm>
            <a:off x="13607881" y="1250555"/>
            <a:ext cx="1122885" cy="327607"/>
            <a:chOff x="3824287" y="1995689"/>
            <a:chExt cx="1092993" cy="318886"/>
          </a:xfrm>
        </p:grpSpPr>
        <p:sp>
          <p:nvSpPr>
            <p:cNvPr id="175" name="Rectangle 17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76" name="Straight Connector 17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/>
        </p:nvGrpSpPr>
        <p:grpSpPr>
          <a:xfrm>
            <a:off x="13607880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79" name="Rectangle 17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80" name="Straight Connector 17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2" name="Straight Connector 181"/>
          <p:cNvCxnSpPr/>
          <p:nvPr/>
        </p:nvCxnSpPr>
        <p:spPr>
          <a:xfrm>
            <a:off x="14179096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>
            <a:off x="14169311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/>
          <p:cNvCxnSpPr/>
          <p:nvPr/>
        </p:nvCxnSpPr>
        <p:spPr>
          <a:xfrm>
            <a:off x="14168085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>
            <a:off x="13642572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4025184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4409508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3144548" y="3803767"/>
            <a:ext cx="2398792" cy="743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dirty="0"/>
              <a:t>target of the </a:t>
            </a:r>
          </a:p>
          <a:p>
            <a:pPr algn="ctr"/>
            <a:r>
              <a:rPr lang="en-US" sz="2050" dirty="0" err="1"/>
              <a:t>autoencoder</a:t>
            </a:r>
            <a:r>
              <a:rPr lang="en-US" sz="2050" b="1" i="1" dirty="0"/>
              <a:t>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stacked</a:t>
            </a:r>
            <a:endParaRPr lang="en-US" sz="2050" b="1" i="1" baseline="-25000" dirty="0"/>
          </a:p>
        </p:txBody>
      </p:sp>
      <p:grpSp>
        <p:nvGrpSpPr>
          <p:cNvPr id="189" name="Group 188"/>
          <p:cNvGrpSpPr/>
          <p:nvPr/>
        </p:nvGrpSpPr>
        <p:grpSpPr>
          <a:xfrm>
            <a:off x="13607880" y="2079242"/>
            <a:ext cx="1122885" cy="327607"/>
            <a:chOff x="3976687" y="2148089"/>
            <a:chExt cx="1092993" cy="318886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90" name="Rectangle 18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91" name="Straight Connector 19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6" name="TextBox 195"/>
          <p:cNvSpPr txBox="1"/>
          <p:nvPr/>
        </p:nvSpPr>
        <p:spPr>
          <a:xfrm>
            <a:off x="13567591" y="28864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13940415" y="28913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14318217" y="28842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199" name="Straight Connector 198"/>
          <p:cNvCxnSpPr/>
          <p:nvPr/>
        </p:nvCxnSpPr>
        <p:spPr>
          <a:xfrm flipH="1">
            <a:off x="13758671" y="855096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/>
          <p:cNvCxnSpPr/>
          <p:nvPr/>
        </p:nvCxnSpPr>
        <p:spPr>
          <a:xfrm flipH="1">
            <a:off x="14938647" y="8691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/>
          <p:cNvCxnSpPr/>
          <p:nvPr/>
        </p:nvCxnSpPr>
        <p:spPr>
          <a:xfrm flipH="1">
            <a:off x="14953870" y="35062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Right Arrow 201"/>
          <p:cNvSpPr/>
          <p:nvPr/>
        </p:nvSpPr>
        <p:spPr>
          <a:xfrm>
            <a:off x="12056923" y="2097079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03" name="TextBox 202"/>
          <p:cNvSpPr txBox="1"/>
          <p:nvPr/>
        </p:nvSpPr>
        <p:spPr>
          <a:xfrm>
            <a:off x="12047277" y="1307561"/>
            <a:ext cx="1134148" cy="1067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b="1" dirty="0"/>
              <a:t>Stacking</a:t>
            </a:r>
          </a:p>
          <a:p>
            <a:pPr algn="ctr"/>
            <a:r>
              <a:rPr lang="en-US" sz="2050" i="1" baseline="30000" dirty="0"/>
              <a:t>N</a:t>
            </a:r>
            <a:r>
              <a:rPr lang="en-US" sz="2050" i="1" baseline="16000" dirty="0"/>
              <a:t>c</a:t>
            </a:r>
            <a:r>
              <a:rPr lang="en-US" sz="2050" i="1" dirty="0"/>
              <a:t>C</a:t>
            </a:r>
            <a:r>
              <a:rPr lang="en-US" sz="2050" i="1" baseline="-25000" dirty="0"/>
              <a:t>4</a:t>
            </a:r>
            <a:r>
              <a:rPr lang="en-US" sz="2050" i="1" dirty="0"/>
              <a:t> </a:t>
            </a:r>
          </a:p>
          <a:p>
            <a:pPr algn="ctr"/>
            <a:r>
              <a:rPr lang="en-US" sz="2050" dirty="0"/>
              <a:t>matrices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3638784" y="2082438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4021396" y="2082438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4405721" y="20818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41" name="Trapezoid 40"/>
          <p:cNvSpPr/>
          <p:nvPr/>
        </p:nvSpPr>
        <p:spPr>
          <a:xfrm rot="5400000">
            <a:off x="2989794" y="5480864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12" name="Trapezoid 211"/>
          <p:cNvSpPr/>
          <p:nvPr/>
        </p:nvSpPr>
        <p:spPr>
          <a:xfrm rot="16200000">
            <a:off x="5216905" y="5477988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2" name="Rectangle 41"/>
          <p:cNvSpPr/>
          <p:nvPr/>
        </p:nvSpPr>
        <p:spPr>
          <a:xfrm>
            <a:off x="5058693" y="5879191"/>
            <a:ext cx="269534" cy="104185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cxnSp>
        <p:nvCxnSpPr>
          <p:cNvPr id="213" name="Straight Arrow Connector 212"/>
          <p:cNvCxnSpPr/>
          <p:nvPr/>
        </p:nvCxnSpPr>
        <p:spPr>
          <a:xfrm>
            <a:off x="3158243" y="5138262"/>
            <a:ext cx="1900450" cy="583188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213"/>
          <p:cNvSpPr txBox="1"/>
          <p:nvPr/>
        </p:nvSpPr>
        <p:spPr>
          <a:xfrm rot="995966">
            <a:off x="3472074" y="5009815"/>
            <a:ext cx="143920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E</a:t>
            </a:r>
            <a:r>
              <a:rPr lang="en-US" sz="2050" dirty="0"/>
              <a:t> FC layers</a:t>
            </a:r>
          </a:p>
        </p:txBody>
      </p:sp>
      <p:cxnSp>
        <p:nvCxnSpPr>
          <p:cNvPr id="215" name="Straight Arrow Connector 214"/>
          <p:cNvCxnSpPr/>
          <p:nvPr/>
        </p:nvCxnSpPr>
        <p:spPr>
          <a:xfrm flipV="1">
            <a:off x="5377526" y="5148567"/>
            <a:ext cx="1841258" cy="555022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TextBox 215"/>
          <p:cNvSpPr txBox="1"/>
          <p:nvPr/>
        </p:nvSpPr>
        <p:spPr>
          <a:xfrm rot="20572771">
            <a:off x="5533188" y="4996995"/>
            <a:ext cx="146226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D</a:t>
            </a:r>
            <a:r>
              <a:rPr lang="en-US" sz="2050" dirty="0"/>
              <a:t> FC layers</a:t>
            </a:r>
          </a:p>
        </p:txBody>
      </p:sp>
      <p:sp>
        <p:nvSpPr>
          <p:cNvPr id="52" name="TextBox 51"/>
          <p:cNvSpPr txBox="1"/>
          <p:nvPr/>
        </p:nvSpPr>
        <p:spPr>
          <a:xfrm rot="20597095">
            <a:off x="3524750" y="7203860"/>
            <a:ext cx="110074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Encoder</a:t>
            </a:r>
          </a:p>
        </p:txBody>
      </p:sp>
      <p:sp>
        <p:nvSpPr>
          <p:cNvPr id="217" name="TextBox 216"/>
          <p:cNvSpPr txBox="1"/>
          <p:nvPr/>
        </p:nvSpPr>
        <p:spPr>
          <a:xfrm rot="1022148">
            <a:off x="5720030" y="7197448"/>
            <a:ext cx="113039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Decoder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67533" y="6856905"/>
            <a:ext cx="477914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>
                <a:solidFill>
                  <a:srgbClr val="0070C0"/>
                </a:solidFill>
              </a:rPr>
              <a:t>h</a:t>
            </a:r>
            <a:r>
              <a:rPr lang="en-US" sz="2876" b="1" i="1" baseline="-25000" dirty="0" err="1">
                <a:solidFill>
                  <a:srgbClr val="0070C0"/>
                </a:solidFill>
              </a:rPr>
              <a:t>r</a:t>
            </a:r>
            <a:endParaRPr lang="en-US" sz="3287" b="1" i="1" baseline="-25000" dirty="0">
              <a:solidFill>
                <a:srgbClr val="0070C0"/>
              </a:solidFill>
            </a:endParaRPr>
          </a:p>
        </p:txBody>
      </p:sp>
      <p:cxnSp>
        <p:nvCxnSpPr>
          <p:cNvPr id="36" name="Elbow Connector 35"/>
          <p:cNvCxnSpPr>
            <a:stCxn id="122" idx="2"/>
            <a:endCxn id="41" idx="2"/>
          </p:cNvCxnSpPr>
          <p:nvPr/>
        </p:nvCxnSpPr>
        <p:spPr>
          <a:xfrm rot="16200000" flipH="1">
            <a:off x="1122633" y="4365079"/>
            <a:ext cx="1853885" cy="2217357"/>
          </a:xfrm>
          <a:prstGeom prst="bentConnector2">
            <a:avLst/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220033" y="5798788"/>
            <a:ext cx="815516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/>
              <a:t>X (</a:t>
            </a:r>
            <a:r>
              <a:rPr lang="en-US" sz="2876" b="1" i="1" dirty="0" err="1"/>
              <a:t>i</a:t>
            </a:r>
            <a:r>
              <a:rPr lang="en-US" sz="2876" b="1" i="1" dirty="0"/>
              <a:t>)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9822486" y="5760187"/>
            <a:ext cx="1306768" cy="534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/>
              <a:t>Q</a:t>
            </a:r>
            <a:r>
              <a:rPr lang="en-US" sz="2876" b="1" i="1" baseline="-25000" dirty="0" err="1"/>
              <a:t>pred</a:t>
            </a:r>
            <a:r>
              <a:rPr lang="en-US" sz="2876" b="1" i="1" dirty="0"/>
              <a:t> (</a:t>
            </a:r>
            <a:r>
              <a:rPr lang="en-US" sz="2876" b="1" i="1" dirty="0" err="1"/>
              <a:t>i</a:t>
            </a:r>
            <a:r>
              <a:rPr lang="en-US" sz="2876" b="1" i="1" dirty="0"/>
              <a:t>)</a:t>
            </a:r>
          </a:p>
        </p:txBody>
      </p:sp>
      <p:cxnSp>
        <p:nvCxnSpPr>
          <p:cNvPr id="11" name="Straight Connector 10"/>
          <p:cNvCxnSpPr>
            <a:stCxn id="212" idx="2"/>
            <a:endCxn id="194" idx="1"/>
          </p:cNvCxnSpPr>
          <p:nvPr/>
        </p:nvCxnSpPr>
        <p:spPr>
          <a:xfrm>
            <a:off x="7225035" y="6397824"/>
            <a:ext cx="1380408" cy="2399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TextBox 192"/>
          <p:cNvSpPr txBox="1"/>
          <p:nvPr/>
        </p:nvSpPr>
        <p:spPr>
          <a:xfrm rot="16200000">
            <a:off x="13175398" y="5264827"/>
            <a:ext cx="1652179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/>
              <a:t>Q</a:t>
            </a:r>
            <a:r>
              <a:rPr lang="en-US" sz="2876" b="1" i="1" baseline="-25000" dirty="0" err="1"/>
              <a:t>stacked</a:t>
            </a:r>
            <a:r>
              <a:rPr lang="en-US" sz="2876" b="1" i="1" dirty="0"/>
              <a:t> (</a:t>
            </a:r>
            <a:r>
              <a:rPr lang="en-US" sz="2876" b="1" i="1" dirty="0" err="1"/>
              <a:t>i</a:t>
            </a:r>
            <a:r>
              <a:rPr lang="en-US" sz="2876" b="1" i="1" dirty="0"/>
              <a:t>)</a:t>
            </a:r>
          </a:p>
        </p:txBody>
      </p:sp>
      <p:sp>
        <p:nvSpPr>
          <p:cNvPr id="30" name="Snip Same Side Corner Rectangle 29"/>
          <p:cNvSpPr/>
          <p:nvPr/>
        </p:nvSpPr>
        <p:spPr>
          <a:xfrm rot="10800000">
            <a:off x="11213717" y="5782066"/>
            <a:ext cx="2201919" cy="1243389"/>
          </a:xfrm>
          <a:prstGeom prst="snip2SameRect">
            <a:avLst/>
          </a:prstGeom>
          <a:solidFill>
            <a:schemeClr val="bg1"/>
          </a:solidFill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06" name="Elbow Connector 205"/>
          <p:cNvCxnSpPr>
            <a:stCxn id="188" idx="2"/>
            <a:endCxn id="30" idx="2"/>
          </p:cNvCxnSpPr>
          <p:nvPr/>
        </p:nvCxnSpPr>
        <p:spPr>
          <a:xfrm rot="5400000">
            <a:off x="12951320" y="5011136"/>
            <a:ext cx="1856938" cy="928311"/>
          </a:xfrm>
          <a:prstGeom prst="bentConnector2">
            <a:avLst/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1256351" y="5875356"/>
            <a:ext cx="2130327" cy="1013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Cross-entropy loss</a:t>
            </a:r>
          </a:p>
          <a:p>
            <a:pPr algn="ctr"/>
            <a:r>
              <a:rPr lang="en-US" dirty="0"/>
              <a:t>(as reconstruction</a:t>
            </a:r>
          </a:p>
          <a:p>
            <a:pPr algn="ctr"/>
            <a:r>
              <a:rPr lang="en-US" dirty="0"/>
              <a:t> loss)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8605446" y="5077114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95" name="Group 194"/>
          <p:cNvGrpSpPr/>
          <p:nvPr/>
        </p:nvGrpSpPr>
        <p:grpSpPr>
          <a:xfrm>
            <a:off x="8644381" y="5116256"/>
            <a:ext cx="1122885" cy="327607"/>
            <a:chOff x="3824287" y="1995689"/>
            <a:chExt cx="1092993" cy="318886"/>
          </a:xfrm>
        </p:grpSpPr>
        <p:sp>
          <p:nvSpPr>
            <p:cNvPr id="204" name="Rectangle 203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7" name="Straight Connector 206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8" name="Group 217"/>
          <p:cNvGrpSpPr/>
          <p:nvPr/>
        </p:nvGrpSpPr>
        <p:grpSpPr>
          <a:xfrm>
            <a:off x="8644380" y="6750750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19" name="Rectangle 21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20" name="Straight Connector 21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2" name="Straight Connector 221"/>
          <p:cNvCxnSpPr/>
          <p:nvPr/>
        </p:nvCxnSpPr>
        <p:spPr>
          <a:xfrm>
            <a:off x="9215595" y="5557378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/>
          <p:cNvCxnSpPr/>
          <p:nvPr/>
        </p:nvCxnSpPr>
        <p:spPr>
          <a:xfrm>
            <a:off x="9205810" y="6366955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/>
          <p:cNvCxnSpPr/>
          <p:nvPr/>
        </p:nvCxnSpPr>
        <p:spPr>
          <a:xfrm>
            <a:off x="9204584" y="7185991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224"/>
          <p:cNvSpPr txBox="1"/>
          <p:nvPr/>
        </p:nvSpPr>
        <p:spPr>
          <a:xfrm>
            <a:off x="8682592" y="512176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9061683" y="5122371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9446008" y="512176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8310197" y="7654266"/>
            <a:ext cx="185553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44" dirty="0"/>
              <a:t>masked matrix </a:t>
            </a:r>
            <a:r>
              <a:rPr lang="en-US" sz="2050" b="1" i="1" dirty="0" err="1"/>
              <a:t>Q</a:t>
            </a:r>
            <a:r>
              <a:rPr lang="en-US" sz="2050" b="1" i="1" baseline="30000" dirty="0" err="1"/>
              <a:t>m</a:t>
            </a:r>
            <a:endParaRPr lang="en-US" sz="2050" b="1" i="1" baseline="30000" dirty="0"/>
          </a:p>
        </p:txBody>
      </p:sp>
      <p:grpSp>
        <p:nvGrpSpPr>
          <p:cNvPr id="229" name="Group 228"/>
          <p:cNvGrpSpPr/>
          <p:nvPr/>
        </p:nvGrpSpPr>
        <p:grpSpPr>
          <a:xfrm>
            <a:off x="8644380" y="5944943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30" name="Rectangle 22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31" name="Straight Connector 23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8606703" y="595031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234" name="TextBox 233"/>
          <p:cNvSpPr txBox="1"/>
          <p:nvPr/>
        </p:nvSpPr>
        <p:spPr>
          <a:xfrm>
            <a:off x="8979527" y="595520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9357329" y="5948070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8604091" y="6752196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237" name="TextBox 236"/>
          <p:cNvSpPr txBox="1"/>
          <p:nvPr/>
        </p:nvSpPr>
        <p:spPr>
          <a:xfrm>
            <a:off x="8976914" y="675708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238" name="TextBox 237"/>
          <p:cNvSpPr txBox="1"/>
          <p:nvPr/>
        </p:nvSpPr>
        <p:spPr>
          <a:xfrm>
            <a:off x="9354716" y="674995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239" name="Straight Connector 238"/>
          <p:cNvCxnSpPr>
            <a:stCxn id="194" idx="3"/>
            <a:endCxn id="30" idx="0"/>
          </p:cNvCxnSpPr>
          <p:nvPr/>
        </p:nvCxnSpPr>
        <p:spPr>
          <a:xfrm>
            <a:off x="9809472" y="6400223"/>
            <a:ext cx="1404242" cy="3537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2853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04"/>
          <p:cNvSpPr/>
          <p:nvPr/>
        </p:nvSpPr>
        <p:spPr>
          <a:xfrm>
            <a:off x="568362" y="822484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6" name="Rectangle 105"/>
          <p:cNvSpPr/>
          <p:nvPr/>
        </p:nvSpPr>
        <p:spPr>
          <a:xfrm>
            <a:off x="297304" y="1082581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7" name="Rectangle 106"/>
          <p:cNvSpPr/>
          <p:nvPr/>
        </p:nvSpPr>
        <p:spPr>
          <a:xfrm>
            <a:off x="153103" y="121140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08" name="Group 107"/>
          <p:cNvGrpSpPr/>
          <p:nvPr/>
        </p:nvGrpSpPr>
        <p:grpSpPr>
          <a:xfrm>
            <a:off x="192423" y="1245391"/>
            <a:ext cx="1122885" cy="327607"/>
            <a:chOff x="3824287" y="1995689"/>
            <a:chExt cx="1092993" cy="318886"/>
          </a:xfrm>
        </p:grpSpPr>
        <p:sp>
          <p:nvSpPr>
            <p:cNvPr id="109" name="Rectangle 108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10" name="Straight Connector 109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Group 111"/>
          <p:cNvGrpSpPr/>
          <p:nvPr/>
        </p:nvGrpSpPr>
        <p:grpSpPr>
          <a:xfrm>
            <a:off x="192422" y="2879885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13" name="Rectangle 112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14" name="Straight Connector 113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6" name="Straight Connector 115"/>
          <p:cNvCxnSpPr/>
          <p:nvPr/>
        </p:nvCxnSpPr>
        <p:spPr>
          <a:xfrm>
            <a:off x="763648" y="168651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>
            <a:off x="753863" y="249609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752637" y="331513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227117" y="1251504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09729" y="1251504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94053" y="125089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0697" y="3803761"/>
            <a:ext cx="1800394" cy="743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dirty="0"/>
              <a:t>input of the </a:t>
            </a:r>
          </a:p>
          <a:p>
            <a:pPr algn="ctr"/>
            <a:r>
              <a:rPr lang="en-US" sz="2050" dirty="0" err="1"/>
              <a:t>autoencoder</a:t>
            </a:r>
            <a:r>
              <a:rPr lang="en-US" sz="2050" b="1" i="1" dirty="0"/>
              <a:t> X</a:t>
            </a:r>
            <a:endParaRPr lang="en-US" sz="2050" b="1" i="1" baseline="-25000" dirty="0"/>
          </a:p>
        </p:txBody>
      </p:sp>
      <p:grpSp>
        <p:nvGrpSpPr>
          <p:cNvPr id="152" name="Group 151"/>
          <p:cNvGrpSpPr/>
          <p:nvPr/>
        </p:nvGrpSpPr>
        <p:grpSpPr>
          <a:xfrm>
            <a:off x="192422" y="2074078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59" name="Rectangle 15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60" name="Straight Connector 15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2" name="TextBox 161"/>
          <p:cNvSpPr txBox="1"/>
          <p:nvPr/>
        </p:nvSpPr>
        <p:spPr>
          <a:xfrm>
            <a:off x="154748" y="2079446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527572" y="208433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904991" y="208236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152136" y="288132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524960" y="2886221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902379" y="288424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168" name="Straight Connector 167"/>
          <p:cNvCxnSpPr/>
          <p:nvPr/>
        </p:nvCxnSpPr>
        <p:spPr>
          <a:xfrm flipH="1">
            <a:off x="343220" y="849932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/>
          <p:nvPr/>
        </p:nvCxnSpPr>
        <p:spPr>
          <a:xfrm flipH="1">
            <a:off x="1522813" y="8691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/>
          <p:nvPr/>
        </p:nvCxnSpPr>
        <p:spPr>
          <a:xfrm flipH="1">
            <a:off x="1538036" y="35062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152"/>
          <p:cNvSpPr/>
          <p:nvPr/>
        </p:nvSpPr>
        <p:spPr>
          <a:xfrm>
            <a:off x="3477316" y="822488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1" name="Rectangle 150"/>
          <p:cNvSpPr/>
          <p:nvPr/>
        </p:nvSpPr>
        <p:spPr>
          <a:xfrm>
            <a:off x="3206259" y="108258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" name="Rectangle 3"/>
          <p:cNvSpPr/>
          <p:nvPr/>
        </p:nvSpPr>
        <p:spPr>
          <a:xfrm>
            <a:off x="9106589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" name="Group 16"/>
          <p:cNvGrpSpPr/>
          <p:nvPr/>
        </p:nvGrpSpPr>
        <p:grpSpPr>
          <a:xfrm>
            <a:off x="9145524" y="1250555"/>
            <a:ext cx="1122885" cy="327607"/>
            <a:chOff x="3824287" y="1995689"/>
            <a:chExt cx="1092993" cy="318886"/>
          </a:xfrm>
        </p:grpSpPr>
        <p:sp>
          <p:nvSpPr>
            <p:cNvPr id="10" name="Rectangle 9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" name="Straight Connector 11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9145522" y="2082322"/>
            <a:ext cx="1122885" cy="327607"/>
            <a:chOff x="3976687" y="2148089"/>
            <a:chExt cx="1092993" cy="318886"/>
          </a:xfrm>
        </p:grpSpPr>
        <p:sp>
          <p:nvSpPr>
            <p:cNvPr id="19" name="Rectangle 1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" name="Straight Connector 1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9145522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4" name="Rectangle 23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Connector 27"/>
          <p:cNvCxnSpPr/>
          <p:nvPr/>
        </p:nvCxnSpPr>
        <p:spPr>
          <a:xfrm>
            <a:off x="9716738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9706953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9705727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093523" y="289420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485919" y="290398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853935" y="289685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180215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62826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47151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1399" y="208556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64010" y="208556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48335" y="2084952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08438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61" name="Group 60"/>
          <p:cNvGrpSpPr/>
          <p:nvPr/>
        </p:nvGrpSpPr>
        <p:grpSpPr>
          <a:xfrm>
            <a:off x="6047373" y="1250555"/>
            <a:ext cx="1122885" cy="327607"/>
            <a:chOff x="3824287" y="1995689"/>
            <a:chExt cx="1092993" cy="318886"/>
          </a:xfrm>
        </p:grpSpPr>
        <p:sp>
          <p:nvSpPr>
            <p:cNvPr id="62" name="Rectangle 61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63" name="Straight Connector 62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/>
          <p:cNvGrpSpPr/>
          <p:nvPr/>
        </p:nvGrpSpPr>
        <p:grpSpPr>
          <a:xfrm>
            <a:off x="6047372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70" name="Rectangle 6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71" name="Straight Connector 7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Straight Connector 72"/>
          <p:cNvCxnSpPr/>
          <p:nvPr/>
        </p:nvCxnSpPr>
        <p:spPr>
          <a:xfrm>
            <a:off x="6618587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6608802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6607576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6082064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64675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49000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712425" y="3857624"/>
            <a:ext cx="2934344" cy="938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44" dirty="0"/>
              <a:t>orientation-encoding matrix </a:t>
            </a:r>
            <a:r>
              <a:rPr lang="en-US" sz="2050" b="1" i="1" dirty="0"/>
              <a:t>Q</a:t>
            </a:r>
            <a:r>
              <a:rPr lang="en-US" sz="1644" i="1" dirty="0"/>
              <a:t> </a:t>
            </a:r>
          </a:p>
          <a:p>
            <a:pPr algn="ctr"/>
            <a:r>
              <a:rPr lang="en-US" sz="1644" dirty="0"/>
              <a:t>for the four-taxa-set </a:t>
            </a:r>
          </a:p>
          <a:p>
            <a:pPr algn="ctr"/>
            <a:r>
              <a:rPr lang="en-US" sz="1644" dirty="0"/>
              <a:t>(</a:t>
            </a:r>
            <a:r>
              <a:rPr lang="en-US" sz="1644" i="1" dirty="0"/>
              <a:t>t</a:t>
            </a:r>
            <a:r>
              <a:rPr lang="en-US" sz="1644" i="1" baseline="-25000" dirty="0"/>
              <a:t>1</a:t>
            </a:r>
            <a:r>
              <a:rPr lang="en-US" sz="1644" i="1" dirty="0"/>
              <a:t>, t</a:t>
            </a:r>
            <a:r>
              <a:rPr lang="en-US" sz="1644" i="1" baseline="-25000" dirty="0"/>
              <a:t>2</a:t>
            </a:r>
            <a:r>
              <a:rPr lang="en-US" sz="1644" i="1" dirty="0"/>
              <a:t>, t</a:t>
            </a:r>
            <a:r>
              <a:rPr lang="en-US" sz="1644" i="1" baseline="-25000" dirty="0"/>
              <a:t>3</a:t>
            </a:r>
            <a:r>
              <a:rPr lang="en-US" sz="1644" i="1" dirty="0"/>
              <a:t>, t</a:t>
            </a:r>
            <a:r>
              <a:rPr lang="en-US" sz="1644" i="1" baseline="-25000" dirty="0"/>
              <a:t>4</a:t>
            </a:r>
            <a:r>
              <a:rPr lang="en-US" sz="1644" dirty="0"/>
              <a:t>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713189" y="3864765"/>
            <a:ext cx="185553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44" dirty="0"/>
              <a:t>masked matrix </a:t>
            </a:r>
            <a:r>
              <a:rPr lang="en-US" sz="2050" b="1" i="1" dirty="0" err="1"/>
              <a:t>Q</a:t>
            </a:r>
            <a:r>
              <a:rPr lang="en-US" sz="2050" b="1" i="1" baseline="30000" dirty="0" err="1"/>
              <a:t>m</a:t>
            </a:r>
            <a:endParaRPr lang="en-US" sz="2050" b="1" i="1" baseline="30000" dirty="0"/>
          </a:p>
        </p:txBody>
      </p:sp>
      <p:grpSp>
        <p:nvGrpSpPr>
          <p:cNvPr id="91" name="Group 90"/>
          <p:cNvGrpSpPr/>
          <p:nvPr/>
        </p:nvGrpSpPr>
        <p:grpSpPr>
          <a:xfrm>
            <a:off x="6047372" y="2079242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92" name="Rectangle 91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TextBox 94"/>
          <p:cNvSpPr txBox="1"/>
          <p:nvPr/>
        </p:nvSpPr>
        <p:spPr>
          <a:xfrm>
            <a:off x="6009695" y="208461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6382519" y="208950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760321" y="208236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6007083" y="28864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6379906" y="28913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757708" y="28842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1" name="Right Arrow 100"/>
          <p:cNvSpPr/>
          <p:nvPr/>
        </p:nvSpPr>
        <p:spPr>
          <a:xfrm rot="10800000">
            <a:off x="7286083" y="1981814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2" name="TextBox 101"/>
          <p:cNvSpPr txBox="1"/>
          <p:nvPr/>
        </p:nvSpPr>
        <p:spPr>
          <a:xfrm>
            <a:off x="7711187" y="1756731"/>
            <a:ext cx="113500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Masking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265423" y="1193962"/>
            <a:ext cx="146437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t</a:t>
            </a:r>
            <a:r>
              <a:rPr lang="en-US" sz="2050" i="1" baseline="-25000" dirty="0"/>
              <a:t>3</a:t>
            </a:r>
            <a:r>
              <a:rPr lang="en-US" sz="2050" i="1" dirty="0"/>
              <a:t>,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67793" y="2000410"/>
            <a:ext cx="146766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</a:t>
            </a:r>
            <a:r>
              <a:rPr lang="en-US" sz="2050" b="1" i="1" dirty="0">
                <a:solidFill>
                  <a:srgbClr val="0070C0"/>
                </a:solidFill>
              </a:rPr>
              <a:t>t</a:t>
            </a:r>
            <a:r>
              <a:rPr lang="en-US" sz="2050" b="1" i="1" baseline="-25000" dirty="0">
                <a:solidFill>
                  <a:srgbClr val="0070C0"/>
                </a:solidFill>
              </a:rPr>
              <a:t>3</a:t>
            </a:r>
            <a:r>
              <a:rPr lang="en-US" sz="2050" i="1" dirty="0"/>
              <a:t>,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61979" y="2833073"/>
            <a:ext cx="1469314" cy="419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t</a:t>
            </a:r>
            <a:r>
              <a:rPr lang="en-US" sz="2050" i="1" baseline="-25000" dirty="0"/>
              <a:t>3</a:t>
            </a:r>
            <a:r>
              <a:rPr lang="en-US" sz="2050" i="1" dirty="0"/>
              <a:t>, </a:t>
            </a:r>
            <a:r>
              <a:rPr lang="en-US" sz="2055" b="1" i="1" dirty="0">
                <a:solidFill>
                  <a:srgbClr val="FF0000"/>
                </a:solidFill>
              </a:rPr>
              <a:t>t</a:t>
            </a:r>
            <a:r>
              <a:rPr lang="en-US" sz="2055" b="1" i="1" baseline="-25000" dirty="0">
                <a:solidFill>
                  <a:srgbClr val="FF0000"/>
                </a:solidFill>
              </a:rPr>
              <a:t>4</a:t>
            </a:r>
            <a:r>
              <a:rPr lang="en-US" sz="2050" dirty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52123" y="1165980"/>
            <a:ext cx="41862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g</a:t>
            </a:r>
            <a:r>
              <a:rPr lang="en-US" sz="2050" i="1" baseline="-25000" dirty="0"/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50974" y="1985499"/>
            <a:ext cx="37086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j</a:t>
            </a:r>
            <a:endParaRPr lang="en-US" sz="2050" i="1" baseline="-25000" dirty="0"/>
          </a:p>
        </p:txBody>
      </p:sp>
      <p:sp>
        <p:nvSpPr>
          <p:cNvPr id="68" name="TextBox 67"/>
          <p:cNvSpPr txBox="1"/>
          <p:nvPr/>
        </p:nvSpPr>
        <p:spPr>
          <a:xfrm>
            <a:off x="8720844" y="2804421"/>
            <a:ext cx="410393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k</a:t>
            </a:r>
            <a:endParaRPr lang="en-US" sz="2050" i="1" baseline="-25000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11663578" y="1034849"/>
            <a:ext cx="26095" cy="2646217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9069935" y="961927"/>
            <a:ext cx="1269369" cy="8368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041468" y="486813"/>
            <a:ext cx="151865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orientations</a:t>
            </a:r>
          </a:p>
        </p:txBody>
      </p:sp>
      <p:sp>
        <p:nvSpPr>
          <p:cNvPr id="77" name="TextBox 76"/>
          <p:cNvSpPr txBox="1"/>
          <p:nvPr/>
        </p:nvSpPr>
        <p:spPr>
          <a:xfrm rot="5400000">
            <a:off x="11234338" y="2325043"/>
            <a:ext cx="134329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gene trees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062058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24" name="Group 123"/>
          <p:cNvGrpSpPr/>
          <p:nvPr/>
        </p:nvGrpSpPr>
        <p:grpSpPr>
          <a:xfrm>
            <a:off x="3100993" y="1250555"/>
            <a:ext cx="1122885" cy="327607"/>
            <a:chOff x="3824287" y="1995689"/>
            <a:chExt cx="1092993" cy="318886"/>
          </a:xfrm>
        </p:grpSpPr>
        <p:sp>
          <p:nvSpPr>
            <p:cNvPr id="125" name="Rectangle 12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6" name="Straight Connector 12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Group 127"/>
          <p:cNvGrpSpPr/>
          <p:nvPr/>
        </p:nvGrpSpPr>
        <p:grpSpPr>
          <a:xfrm>
            <a:off x="3100992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29" name="Rectangle 12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30" name="Straight Connector 12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2" name="Straight Connector 131"/>
          <p:cNvCxnSpPr/>
          <p:nvPr/>
        </p:nvCxnSpPr>
        <p:spPr>
          <a:xfrm>
            <a:off x="3672208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/>
          <p:nvPr/>
        </p:nvCxnSpPr>
        <p:spPr>
          <a:xfrm>
            <a:off x="3662422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/>
          <p:nvPr/>
        </p:nvCxnSpPr>
        <p:spPr>
          <a:xfrm>
            <a:off x="3661197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3135684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518295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902620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766809" y="3864765"/>
            <a:ext cx="228496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44" dirty="0"/>
              <a:t>masked tensor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masked</a:t>
            </a:r>
            <a:endParaRPr lang="en-US" sz="2050" b="1" i="1" baseline="-25000" dirty="0"/>
          </a:p>
        </p:txBody>
      </p:sp>
      <p:grpSp>
        <p:nvGrpSpPr>
          <p:cNvPr id="139" name="Group 138"/>
          <p:cNvGrpSpPr/>
          <p:nvPr/>
        </p:nvGrpSpPr>
        <p:grpSpPr>
          <a:xfrm>
            <a:off x="3100992" y="2079242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40" name="Rectangle 13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41" name="Straight Connector 14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" name="TextBox 142"/>
          <p:cNvSpPr txBox="1"/>
          <p:nvPr/>
        </p:nvSpPr>
        <p:spPr>
          <a:xfrm>
            <a:off x="3063315" y="208461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3436139" y="208950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3813941" y="208236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3060703" y="28864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3433527" y="28913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3811329" y="28842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9" name="Right Arrow 148"/>
          <p:cNvSpPr/>
          <p:nvPr/>
        </p:nvSpPr>
        <p:spPr>
          <a:xfrm rot="10800000">
            <a:off x="4458785" y="1981814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0" name="TextBox 149"/>
          <p:cNvSpPr txBox="1"/>
          <p:nvPr/>
        </p:nvSpPr>
        <p:spPr>
          <a:xfrm>
            <a:off x="4836227" y="1163275"/>
            <a:ext cx="1134148" cy="1067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b="1" dirty="0"/>
              <a:t>Stacking</a:t>
            </a:r>
          </a:p>
          <a:p>
            <a:pPr algn="ctr"/>
            <a:r>
              <a:rPr lang="en-US" sz="2050" i="1" baseline="30000" dirty="0"/>
              <a:t>N</a:t>
            </a:r>
            <a:r>
              <a:rPr lang="en-US" sz="2050" i="1" baseline="16000" dirty="0"/>
              <a:t>c</a:t>
            </a:r>
            <a:r>
              <a:rPr lang="en-US" sz="2050" i="1" dirty="0"/>
              <a:t>C</a:t>
            </a:r>
            <a:r>
              <a:rPr lang="en-US" sz="2050" i="1" baseline="-25000" dirty="0"/>
              <a:t>4</a:t>
            </a:r>
            <a:r>
              <a:rPr lang="en-US" sz="2050" i="1" dirty="0"/>
              <a:t> </a:t>
            </a:r>
          </a:p>
          <a:p>
            <a:pPr algn="ctr"/>
            <a:r>
              <a:rPr lang="en-US" sz="2050" dirty="0"/>
              <a:t>matrices</a:t>
            </a:r>
          </a:p>
        </p:txBody>
      </p:sp>
      <p:cxnSp>
        <p:nvCxnSpPr>
          <p:cNvPr id="154" name="Straight Connector 153"/>
          <p:cNvCxnSpPr/>
          <p:nvPr/>
        </p:nvCxnSpPr>
        <p:spPr>
          <a:xfrm flipH="1">
            <a:off x="3251782" y="855096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/>
          <p:nvPr/>
        </p:nvCxnSpPr>
        <p:spPr>
          <a:xfrm flipH="1">
            <a:off x="4431759" y="8691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/>
          <p:cNvCxnSpPr/>
          <p:nvPr/>
        </p:nvCxnSpPr>
        <p:spPr>
          <a:xfrm flipH="1">
            <a:off x="4446982" y="35062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 flipV="1">
            <a:off x="2893719" y="659868"/>
            <a:ext cx="539811" cy="529320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 rot="18826477">
            <a:off x="2099324" y="545028"/>
            <a:ext cx="170020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four-taxa-sets</a:t>
            </a:r>
          </a:p>
        </p:txBody>
      </p:sp>
      <p:sp>
        <p:nvSpPr>
          <p:cNvPr id="103" name="Right Arrow 102"/>
          <p:cNvSpPr/>
          <p:nvPr/>
        </p:nvSpPr>
        <p:spPr>
          <a:xfrm rot="10800000">
            <a:off x="1526085" y="2008302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4" name="TextBox 103"/>
          <p:cNvSpPr txBox="1"/>
          <p:nvPr/>
        </p:nvSpPr>
        <p:spPr>
          <a:xfrm>
            <a:off x="1878311" y="1783219"/>
            <a:ext cx="91301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+ </a:t>
            </a:r>
            <a:r>
              <a:rPr lang="en-US" sz="2050" b="1" i="1" dirty="0" err="1"/>
              <a:t>PEnc</a:t>
            </a:r>
            <a:endParaRPr lang="en-US" sz="2050" b="1" i="1" dirty="0"/>
          </a:p>
        </p:txBody>
      </p:sp>
      <p:sp>
        <p:nvSpPr>
          <p:cNvPr id="171" name="Rectangle 170"/>
          <p:cNvSpPr/>
          <p:nvPr/>
        </p:nvSpPr>
        <p:spPr>
          <a:xfrm>
            <a:off x="13984204" y="822488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72" name="Rectangle 171"/>
          <p:cNvSpPr/>
          <p:nvPr/>
        </p:nvSpPr>
        <p:spPr>
          <a:xfrm>
            <a:off x="13713147" y="108258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73" name="Rectangle 172"/>
          <p:cNvSpPr/>
          <p:nvPr/>
        </p:nvSpPr>
        <p:spPr>
          <a:xfrm>
            <a:off x="13568947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4" name="Group 173"/>
          <p:cNvGrpSpPr/>
          <p:nvPr/>
        </p:nvGrpSpPr>
        <p:grpSpPr>
          <a:xfrm>
            <a:off x="13607881" y="1250555"/>
            <a:ext cx="1122885" cy="327607"/>
            <a:chOff x="3824287" y="1995689"/>
            <a:chExt cx="1092993" cy="318886"/>
          </a:xfrm>
        </p:grpSpPr>
        <p:sp>
          <p:nvSpPr>
            <p:cNvPr id="175" name="Rectangle 17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76" name="Straight Connector 17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/>
        </p:nvGrpSpPr>
        <p:grpSpPr>
          <a:xfrm>
            <a:off x="13607880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79" name="Rectangle 17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80" name="Straight Connector 17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2" name="Straight Connector 181"/>
          <p:cNvCxnSpPr/>
          <p:nvPr/>
        </p:nvCxnSpPr>
        <p:spPr>
          <a:xfrm>
            <a:off x="14179096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>
            <a:off x="14169311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/>
          <p:cNvCxnSpPr/>
          <p:nvPr/>
        </p:nvCxnSpPr>
        <p:spPr>
          <a:xfrm>
            <a:off x="14168085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>
            <a:off x="13642572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4025184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4409508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3144548" y="3803767"/>
            <a:ext cx="2398792" cy="743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dirty="0"/>
              <a:t>target of the </a:t>
            </a:r>
          </a:p>
          <a:p>
            <a:pPr algn="ctr"/>
            <a:r>
              <a:rPr lang="en-US" sz="2050" dirty="0" err="1"/>
              <a:t>autoencoder</a:t>
            </a:r>
            <a:r>
              <a:rPr lang="en-US" sz="2050" b="1" i="1" dirty="0"/>
              <a:t>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stacked</a:t>
            </a:r>
            <a:endParaRPr lang="en-US" sz="2050" b="1" i="1" baseline="-25000" dirty="0"/>
          </a:p>
        </p:txBody>
      </p:sp>
      <p:grpSp>
        <p:nvGrpSpPr>
          <p:cNvPr id="189" name="Group 188"/>
          <p:cNvGrpSpPr/>
          <p:nvPr/>
        </p:nvGrpSpPr>
        <p:grpSpPr>
          <a:xfrm>
            <a:off x="13607880" y="2079242"/>
            <a:ext cx="1122885" cy="327607"/>
            <a:chOff x="3976687" y="2148089"/>
            <a:chExt cx="1092993" cy="318886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90" name="Rectangle 18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91" name="Straight Connector 19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6" name="TextBox 195"/>
          <p:cNvSpPr txBox="1"/>
          <p:nvPr/>
        </p:nvSpPr>
        <p:spPr>
          <a:xfrm>
            <a:off x="13567591" y="28864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13940415" y="28913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14318217" y="28842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199" name="Straight Connector 198"/>
          <p:cNvCxnSpPr/>
          <p:nvPr/>
        </p:nvCxnSpPr>
        <p:spPr>
          <a:xfrm flipH="1">
            <a:off x="13758671" y="855096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/>
          <p:cNvCxnSpPr/>
          <p:nvPr/>
        </p:nvCxnSpPr>
        <p:spPr>
          <a:xfrm flipH="1">
            <a:off x="14938647" y="8691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/>
          <p:cNvCxnSpPr/>
          <p:nvPr/>
        </p:nvCxnSpPr>
        <p:spPr>
          <a:xfrm flipH="1">
            <a:off x="14953870" y="35062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Right Arrow 201"/>
          <p:cNvSpPr/>
          <p:nvPr/>
        </p:nvSpPr>
        <p:spPr>
          <a:xfrm>
            <a:off x="12056923" y="2097079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03" name="TextBox 202"/>
          <p:cNvSpPr txBox="1"/>
          <p:nvPr/>
        </p:nvSpPr>
        <p:spPr>
          <a:xfrm>
            <a:off x="12047277" y="1307561"/>
            <a:ext cx="1134148" cy="1067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b="1" dirty="0"/>
              <a:t>Stacking</a:t>
            </a:r>
          </a:p>
          <a:p>
            <a:pPr algn="ctr"/>
            <a:r>
              <a:rPr lang="en-US" sz="2050" i="1" baseline="30000" dirty="0"/>
              <a:t>N</a:t>
            </a:r>
            <a:r>
              <a:rPr lang="en-US" sz="2050" i="1" baseline="16000" dirty="0"/>
              <a:t>c</a:t>
            </a:r>
            <a:r>
              <a:rPr lang="en-US" sz="2050" i="1" dirty="0"/>
              <a:t>C</a:t>
            </a:r>
            <a:r>
              <a:rPr lang="en-US" sz="2050" i="1" baseline="-25000" dirty="0"/>
              <a:t>4</a:t>
            </a:r>
            <a:r>
              <a:rPr lang="en-US" sz="2050" i="1" dirty="0"/>
              <a:t> </a:t>
            </a:r>
          </a:p>
          <a:p>
            <a:pPr algn="ctr"/>
            <a:r>
              <a:rPr lang="en-US" sz="2050" dirty="0"/>
              <a:t>matrices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3638784" y="2082438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4021396" y="2082438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4405721" y="20818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41" name="Trapezoid 40"/>
          <p:cNvSpPr/>
          <p:nvPr/>
        </p:nvSpPr>
        <p:spPr>
          <a:xfrm rot="5400000">
            <a:off x="2989794" y="5480864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12" name="Trapezoid 211"/>
          <p:cNvSpPr/>
          <p:nvPr/>
        </p:nvSpPr>
        <p:spPr>
          <a:xfrm rot="16200000">
            <a:off x="5216905" y="5477988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2" name="Rectangle 41"/>
          <p:cNvSpPr/>
          <p:nvPr/>
        </p:nvSpPr>
        <p:spPr>
          <a:xfrm>
            <a:off x="5058693" y="5879191"/>
            <a:ext cx="269534" cy="104185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cxnSp>
        <p:nvCxnSpPr>
          <p:cNvPr id="213" name="Straight Arrow Connector 212"/>
          <p:cNvCxnSpPr/>
          <p:nvPr/>
        </p:nvCxnSpPr>
        <p:spPr>
          <a:xfrm>
            <a:off x="3158243" y="5138262"/>
            <a:ext cx="1900450" cy="583188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213"/>
          <p:cNvSpPr txBox="1"/>
          <p:nvPr/>
        </p:nvSpPr>
        <p:spPr>
          <a:xfrm rot="995966">
            <a:off x="3472074" y="5009815"/>
            <a:ext cx="143920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E</a:t>
            </a:r>
            <a:r>
              <a:rPr lang="en-US" sz="2050" dirty="0"/>
              <a:t> FC layers</a:t>
            </a:r>
          </a:p>
        </p:txBody>
      </p:sp>
      <p:cxnSp>
        <p:nvCxnSpPr>
          <p:cNvPr id="215" name="Straight Arrow Connector 214"/>
          <p:cNvCxnSpPr/>
          <p:nvPr/>
        </p:nvCxnSpPr>
        <p:spPr>
          <a:xfrm flipV="1">
            <a:off x="5377526" y="5148567"/>
            <a:ext cx="1841258" cy="555022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TextBox 215"/>
          <p:cNvSpPr txBox="1"/>
          <p:nvPr/>
        </p:nvSpPr>
        <p:spPr>
          <a:xfrm rot="20572771">
            <a:off x="5533188" y="4996995"/>
            <a:ext cx="146226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D</a:t>
            </a:r>
            <a:r>
              <a:rPr lang="en-US" sz="2050" dirty="0"/>
              <a:t> FC layers</a:t>
            </a:r>
          </a:p>
        </p:txBody>
      </p:sp>
      <p:sp>
        <p:nvSpPr>
          <p:cNvPr id="52" name="TextBox 51"/>
          <p:cNvSpPr txBox="1"/>
          <p:nvPr/>
        </p:nvSpPr>
        <p:spPr>
          <a:xfrm rot="20597095">
            <a:off x="3524750" y="7203860"/>
            <a:ext cx="110074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Encoder</a:t>
            </a:r>
          </a:p>
        </p:txBody>
      </p:sp>
      <p:sp>
        <p:nvSpPr>
          <p:cNvPr id="217" name="TextBox 216"/>
          <p:cNvSpPr txBox="1"/>
          <p:nvPr/>
        </p:nvSpPr>
        <p:spPr>
          <a:xfrm rot="1022148">
            <a:off x="5720030" y="7197448"/>
            <a:ext cx="113039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Decoder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67533" y="6856905"/>
            <a:ext cx="477914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>
                <a:solidFill>
                  <a:srgbClr val="0070C0"/>
                </a:solidFill>
              </a:rPr>
              <a:t>h</a:t>
            </a:r>
            <a:r>
              <a:rPr lang="en-US" sz="2876" b="1" i="1" baseline="-25000" dirty="0" err="1">
                <a:solidFill>
                  <a:srgbClr val="0070C0"/>
                </a:solidFill>
              </a:rPr>
              <a:t>r</a:t>
            </a:r>
            <a:endParaRPr lang="en-US" sz="3287" b="1" i="1" baseline="-25000" dirty="0">
              <a:solidFill>
                <a:srgbClr val="0070C0"/>
              </a:solidFill>
            </a:endParaRPr>
          </a:p>
        </p:txBody>
      </p:sp>
      <p:cxnSp>
        <p:nvCxnSpPr>
          <p:cNvPr id="36" name="Elbow Connector 35"/>
          <p:cNvCxnSpPr>
            <a:stCxn id="122" idx="2"/>
            <a:endCxn id="41" idx="2"/>
          </p:cNvCxnSpPr>
          <p:nvPr/>
        </p:nvCxnSpPr>
        <p:spPr>
          <a:xfrm rot="16200000" flipH="1">
            <a:off x="1122633" y="4365079"/>
            <a:ext cx="1853885" cy="2217357"/>
          </a:xfrm>
          <a:prstGeom prst="bentConnector2">
            <a:avLst/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243038" y="5206090"/>
            <a:ext cx="1514197" cy="11464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dirty="0"/>
              <a:t>flatten </a:t>
            </a:r>
            <a:r>
              <a:rPr lang="en-US" sz="2400" b="1" i="1" dirty="0"/>
              <a:t>X (</a:t>
            </a:r>
            <a:r>
              <a:rPr lang="en-US" sz="2400" b="1" i="1" dirty="0" err="1"/>
              <a:t>i</a:t>
            </a:r>
            <a:r>
              <a:rPr lang="en-US" sz="2400" b="1" i="1" dirty="0"/>
              <a:t>)</a:t>
            </a:r>
            <a:r>
              <a:rPr lang="en-US" sz="2050" dirty="0"/>
              <a:t> </a:t>
            </a:r>
          </a:p>
          <a:p>
            <a:pPr algn="ctr"/>
            <a:r>
              <a:rPr lang="en-US" sz="2050" dirty="0"/>
              <a:t>to generate </a:t>
            </a:r>
          </a:p>
          <a:p>
            <a:pPr algn="ctr"/>
            <a:r>
              <a:rPr lang="en-US" sz="2050" dirty="0"/>
              <a:t>the input </a:t>
            </a:r>
            <a:r>
              <a:rPr lang="en-US" sz="2400" b="1" i="1" dirty="0" err="1"/>
              <a:t>x</a:t>
            </a:r>
            <a:r>
              <a:rPr lang="en-US" sz="2400" b="1" i="1" baseline="-25000" dirty="0" err="1"/>
              <a:t>r</a:t>
            </a:r>
            <a:endParaRPr lang="en-US" sz="2050" b="1" i="1" baseline="-25000" dirty="0"/>
          </a:p>
        </p:txBody>
      </p:sp>
      <p:sp>
        <p:nvSpPr>
          <p:cNvPr id="205" name="TextBox 204"/>
          <p:cNvSpPr txBox="1"/>
          <p:nvPr/>
        </p:nvSpPr>
        <p:spPr>
          <a:xfrm>
            <a:off x="9822486" y="5760187"/>
            <a:ext cx="1306768" cy="534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/>
              <a:t>Q</a:t>
            </a:r>
            <a:r>
              <a:rPr lang="en-US" sz="2876" b="1" i="1" baseline="-25000" dirty="0" err="1"/>
              <a:t>pred</a:t>
            </a:r>
            <a:r>
              <a:rPr lang="en-US" sz="2876" b="1" i="1" dirty="0"/>
              <a:t> (</a:t>
            </a:r>
            <a:r>
              <a:rPr lang="en-US" sz="2876" b="1" i="1" dirty="0" err="1"/>
              <a:t>i</a:t>
            </a:r>
            <a:r>
              <a:rPr lang="en-US" sz="2876" b="1" i="1" dirty="0"/>
              <a:t>)</a:t>
            </a:r>
          </a:p>
        </p:txBody>
      </p:sp>
      <p:cxnSp>
        <p:nvCxnSpPr>
          <p:cNvPr id="11" name="Straight Connector 10"/>
          <p:cNvCxnSpPr>
            <a:stCxn id="212" idx="2"/>
            <a:endCxn id="194" idx="1"/>
          </p:cNvCxnSpPr>
          <p:nvPr/>
        </p:nvCxnSpPr>
        <p:spPr>
          <a:xfrm>
            <a:off x="7225035" y="6397824"/>
            <a:ext cx="1380408" cy="2399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TextBox 192"/>
          <p:cNvSpPr txBox="1"/>
          <p:nvPr/>
        </p:nvSpPr>
        <p:spPr>
          <a:xfrm rot="16200000">
            <a:off x="13175398" y="5264827"/>
            <a:ext cx="1652179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/>
              <a:t>Q</a:t>
            </a:r>
            <a:r>
              <a:rPr lang="en-US" sz="2876" b="1" i="1" baseline="-25000" dirty="0" err="1"/>
              <a:t>stacked</a:t>
            </a:r>
            <a:r>
              <a:rPr lang="en-US" sz="2876" b="1" i="1" dirty="0"/>
              <a:t> (</a:t>
            </a:r>
            <a:r>
              <a:rPr lang="en-US" sz="2876" b="1" i="1" dirty="0" err="1"/>
              <a:t>i</a:t>
            </a:r>
            <a:r>
              <a:rPr lang="en-US" sz="2876" b="1" i="1" dirty="0"/>
              <a:t>)</a:t>
            </a:r>
          </a:p>
        </p:txBody>
      </p:sp>
      <p:sp>
        <p:nvSpPr>
          <p:cNvPr id="30" name="Snip Same Side Corner Rectangle 29"/>
          <p:cNvSpPr/>
          <p:nvPr/>
        </p:nvSpPr>
        <p:spPr>
          <a:xfrm rot="10800000">
            <a:off x="11213717" y="5782066"/>
            <a:ext cx="2201919" cy="1243389"/>
          </a:xfrm>
          <a:prstGeom prst="snip2SameRect">
            <a:avLst/>
          </a:prstGeom>
          <a:solidFill>
            <a:schemeClr val="bg1"/>
          </a:solidFill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06" name="Elbow Connector 205"/>
          <p:cNvCxnSpPr>
            <a:stCxn id="188" idx="2"/>
            <a:endCxn id="30" idx="2"/>
          </p:cNvCxnSpPr>
          <p:nvPr/>
        </p:nvCxnSpPr>
        <p:spPr>
          <a:xfrm rot="5400000">
            <a:off x="12951320" y="5011136"/>
            <a:ext cx="1856938" cy="928311"/>
          </a:xfrm>
          <a:prstGeom prst="bentConnector2">
            <a:avLst/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1256351" y="5875356"/>
            <a:ext cx="2130327" cy="1013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Cross-entropy loss</a:t>
            </a:r>
          </a:p>
          <a:p>
            <a:pPr algn="ctr"/>
            <a:r>
              <a:rPr lang="en-US" dirty="0"/>
              <a:t>(as reconstruction</a:t>
            </a:r>
          </a:p>
          <a:p>
            <a:pPr algn="ctr"/>
            <a:r>
              <a:rPr lang="en-US" dirty="0"/>
              <a:t> loss)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8605446" y="5077114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95" name="Group 194"/>
          <p:cNvGrpSpPr/>
          <p:nvPr/>
        </p:nvGrpSpPr>
        <p:grpSpPr>
          <a:xfrm>
            <a:off x="8644381" y="5116256"/>
            <a:ext cx="1122885" cy="327607"/>
            <a:chOff x="3824287" y="1995689"/>
            <a:chExt cx="1092993" cy="31888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04" name="Rectangle 203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7" name="Straight Connector 206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8" name="Group 217"/>
          <p:cNvGrpSpPr/>
          <p:nvPr/>
        </p:nvGrpSpPr>
        <p:grpSpPr>
          <a:xfrm>
            <a:off x="8644380" y="6750750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19" name="Rectangle 21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chemeClr val="tx1"/>
                </a:solidFill>
              </a:endParaRPr>
            </a:p>
          </p:txBody>
        </p:sp>
        <p:cxnSp>
          <p:nvCxnSpPr>
            <p:cNvPr id="220" name="Straight Connector 21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2" name="Straight Connector 221"/>
          <p:cNvCxnSpPr/>
          <p:nvPr/>
        </p:nvCxnSpPr>
        <p:spPr>
          <a:xfrm>
            <a:off x="9215595" y="5557378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/>
          <p:cNvCxnSpPr/>
          <p:nvPr/>
        </p:nvCxnSpPr>
        <p:spPr>
          <a:xfrm>
            <a:off x="9205810" y="6366955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/>
          <p:cNvCxnSpPr/>
          <p:nvPr/>
        </p:nvCxnSpPr>
        <p:spPr>
          <a:xfrm>
            <a:off x="9204584" y="7185991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224"/>
          <p:cNvSpPr txBox="1"/>
          <p:nvPr/>
        </p:nvSpPr>
        <p:spPr>
          <a:xfrm>
            <a:off x="8624986" y="5121757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0.2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9003624" y="5122368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0.7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9368899" y="5121757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8310197" y="7654266"/>
            <a:ext cx="185553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44" dirty="0"/>
              <a:t>masked matrix </a:t>
            </a:r>
            <a:r>
              <a:rPr lang="en-US" sz="2050" b="1" i="1" dirty="0" err="1"/>
              <a:t>Q</a:t>
            </a:r>
            <a:r>
              <a:rPr lang="en-US" sz="2050" b="1" i="1" baseline="30000" dirty="0" err="1"/>
              <a:t>m</a:t>
            </a:r>
            <a:endParaRPr lang="en-US" sz="2050" b="1" i="1" baseline="30000" dirty="0"/>
          </a:p>
        </p:txBody>
      </p:sp>
      <p:grpSp>
        <p:nvGrpSpPr>
          <p:cNvPr id="229" name="Group 228"/>
          <p:cNvGrpSpPr/>
          <p:nvPr/>
        </p:nvGrpSpPr>
        <p:grpSpPr>
          <a:xfrm>
            <a:off x="8644380" y="5944943"/>
            <a:ext cx="1122885" cy="327607"/>
            <a:chOff x="3976687" y="2148089"/>
            <a:chExt cx="1092993" cy="31888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30" name="Rectangle 22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31" name="Straight Connector 23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8573134" y="5950310"/>
            <a:ext cx="510076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0.15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4" name="TextBox 233"/>
          <p:cNvSpPr txBox="1"/>
          <p:nvPr/>
        </p:nvSpPr>
        <p:spPr>
          <a:xfrm>
            <a:off x="8955484" y="5955202"/>
            <a:ext cx="510076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0.15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9371840" y="5962581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0.7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8623138" y="6752193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0.6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7" name="TextBox 236"/>
          <p:cNvSpPr txBox="1"/>
          <p:nvPr/>
        </p:nvSpPr>
        <p:spPr>
          <a:xfrm>
            <a:off x="8995961" y="6757085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0.2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8" name="TextBox 237"/>
          <p:cNvSpPr txBox="1"/>
          <p:nvPr/>
        </p:nvSpPr>
        <p:spPr>
          <a:xfrm>
            <a:off x="9373763" y="6749950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39" name="Straight Connector 238"/>
          <p:cNvCxnSpPr>
            <a:stCxn id="194" idx="3"/>
            <a:endCxn id="30" idx="0"/>
          </p:cNvCxnSpPr>
          <p:nvPr/>
        </p:nvCxnSpPr>
        <p:spPr>
          <a:xfrm>
            <a:off x="9809472" y="6400223"/>
            <a:ext cx="1404242" cy="3537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07146" y="5275192"/>
            <a:ext cx="1096775" cy="10387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dirty="0"/>
              <a:t>split and</a:t>
            </a:r>
          </a:p>
          <a:p>
            <a:pPr algn="ctr"/>
            <a:r>
              <a:rPr lang="en-US" sz="2050" dirty="0"/>
              <a:t>apply</a:t>
            </a:r>
          </a:p>
          <a:p>
            <a:pPr algn="ctr"/>
            <a:r>
              <a:rPr lang="en-US" sz="2050" b="1" dirty="0" err="1"/>
              <a:t>softmax</a:t>
            </a:r>
            <a:endParaRPr lang="en-US" sz="2050" b="1" dirty="0"/>
          </a:p>
        </p:txBody>
      </p:sp>
    </p:spTree>
    <p:extLst>
      <p:ext uri="{BB962C8B-B14F-4D97-AF65-F5344CB8AC3E}">
        <p14:creationId xmlns:p14="http://schemas.microsoft.com/office/powerpoint/2010/main" val="2707617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04"/>
          <p:cNvSpPr/>
          <p:nvPr/>
        </p:nvSpPr>
        <p:spPr>
          <a:xfrm>
            <a:off x="568362" y="822484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6" name="Rectangle 105"/>
          <p:cNvSpPr/>
          <p:nvPr/>
        </p:nvSpPr>
        <p:spPr>
          <a:xfrm>
            <a:off x="297304" y="1082581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7" name="Rectangle 106"/>
          <p:cNvSpPr/>
          <p:nvPr/>
        </p:nvSpPr>
        <p:spPr>
          <a:xfrm>
            <a:off x="153103" y="121140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08" name="Group 107"/>
          <p:cNvGrpSpPr/>
          <p:nvPr/>
        </p:nvGrpSpPr>
        <p:grpSpPr>
          <a:xfrm>
            <a:off x="192423" y="1245391"/>
            <a:ext cx="1122885" cy="327607"/>
            <a:chOff x="3824287" y="1995689"/>
            <a:chExt cx="1092993" cy="318886"/>
          </a:xfrm>
        </p:grpSpPr>
        <p:sp>
          <p:nvSpPr>
            <p:cNvPr id="109" name="Rectangle 108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10" name="Straight Connector 109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Group 111"/>
          <p:cNvGrpSpPr/>
          <p:nvPr/>
        </p:nvGrpSpPr>
        <p:grpSpPr>
          <a:xfrm>
            <a:off x="192422" y="2879885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13" name="Rectangle 112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14" name="Straight Connector 113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6" name="Straight Connector 115"/>
          <p:cNvCxnSpPr/>
          <p:nvPr/>
        </p:nvCxnSpPr>
        <p:spPr>
          <a:xfrm>
            <a:off x="763648" y="168651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>
            <a:off x="753863" y="249609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752637" y="331513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227117" y="1251504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09729" y="1251504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94053" y="125089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0626" y="3803761"/>
            <a:ext cx="1720536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input of the </a:t>
            </a:r>
          </a:p>
          <a:p>
            <a:pPr algn="ctr"/>
            <a:r>
              <a:rPr lang="en-US" sz="2000" dirty="0" err="1"/>
              <a:t>autoencoder</a:t>
            </a:r>
            <a:r>
              <a:rPr lang="en-US" sz="2000" b="1" i="1" dirty="0"/>
              <a:t> </a:t>
            </a:r>
            <a:r>
              <a:rPr lang="en-US" sz="2050" b="1" i="1" dirty="0"/>
              <a:t>X</a:t>
            </a:r>
            <a:endParaRPr lang="en-US" sz="2050" b="1" i="1" baseline="-25000" dirty="0"/>
          </a:p>
        </p:txBody>
      </p:sp>
      <p:grpSp>
        <p:nvGrpSpPr>
          <p:cNvPr id="152" name="Group 151"/>
          <p:cNvGrpSpPr/>
          <p:nvPr/>
        </p:nvGrpSpPr>
        <p:grpSpPr>
          <a:xfrm>
            <a:off x="192422" y="2074078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59" name="Rectangle 15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60" name="Straight Connector 15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2" name="TextBox 161"/>
          <p:cNvSpPr txBox="1"/>
          <p:nvPr/>
        </p:nvSpPr>
        <p:spPr>
          <a:xfrm>
            <a:off x="154748" y="2079446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527572" y="208433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904991" y="208236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152136" y="288132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524960" y="2886221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902379" y="288424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168" name="Straight Connector 167"/>
          <p:cNvCxnSpPr/>
          <p:nvPr/>
        </p:nvCxnSpPr>
        <p:spPr>
          <a:xfrm flipH="1">
            <a:off x="343220" y="849932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/>
          <p:nvPr/>
        </p:nvCxnSpPr>
        <p:spPr>
          <a:xfrm flipH="1">
            <a:off x="1522813" y="8691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/>
          <p:nvPr/>
        </p:nvCxnSpPr>
        <p:spPr>
          <a:xfrm flipH="1">
            <a:off x="1538036" y="35062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152"/>
          <p:cNvSpPr/>
          <p:nvPr/>
        </p:nvSpPr>
        <p:spPr>
          <a:xfrm>
            <a:off x="3477316" y="822488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1" name="Rectangle 150"/>
          <p:cNvSpPr/>
          <p:nvPr/>
        </p:nvSpPr>
        <p:spPr>
          <a:xfrm>
            <a:off x="3206259" y="108258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" name="Rectangle 3"/>
          <p:cNvSpPr/>
          <p:nvPr/>
        </p:nvSpPr>
        <p:spPr>
          <a:xfrm>
            <a:off x="9106589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" name="Group 16"/>
          <p:cNvGrpSpPr/>
          <p:nvPr/>
        </p:nvGrpSpPr>
        <p:grpSpPr>
          <a:xfrm>
            <a:off x="9145524" y="1250555"/>
            <a:ext cx="1122885" cy="327607"/>
            <a:chOff x="3824287" y="1995689"/>
            <a:chExt cx="1092993" cy="318886"/>
          </a:xfrm>
        </p:grpSpPr>
        <p:sp>
          <p:nvSpPr>
            <p:cNvPr id="10" name="Rectangle 9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" name="Straight Connector 11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9145522" y="2082322"/>
            <a:ext cx="1122885" cy="327607"/>
            <a:chOff x="3976687" y="2148089"/>
            <a:chExt cx="1092993" cy="318886"/>
          </a:xfrm>
        </p:grpSpPr>
        <p:sp>
          <p:nvSpPr>
            <p:cNvPr id="19" name="Rectangle 1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" name="Straight Connector 1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9145522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4" name="Rectangle 23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Connector 27"/>
          <p:cNvCxnSpPr/>
          <p:nvPr/>
        </p:nvCxnSpPr>
        <p:spPr>
          <a:xfrm>
            <a:off x="9716738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9706953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9705727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093523" y="289420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485919" y="290398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853935" y="289685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180215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62826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47151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1399" y="208556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64010" y="208556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48335" y="2084952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08438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61" name="Group 60"/>
          <p:cNvGrpSpPr/>
          <p:nvPr/>
        </p:nvGrpSpPr>
        <p:grpSpPr>
          <a:xfrm>
            <a:off x="6047373" y="1250555"/>
            <a:ext cx="1122885" cy="327607"/>
            <a:chOff x="3824287" y="1995689"/>
            <a:chExt cx="1092993" cy="318886"/>
          </a:xfrm>
        </p:grpSpPr>
        <p:sp>
          <p:nvSpPr>
            <p:cNvPr id="62" name="Rectangle 61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63" name="Straight Connector 62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/>
          <p:cNvGrpSpPr/>
          <p:nvPr/>
        </p:nvGrpSpPr>
        <p:grpSpPr>
          <a:xfrm>
            <a:off x="6047372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70" name="Rectangle 6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71" name="Straight Connector 7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Straight Connector 72"/>
          <p:cNvCxnSpPr/>
          <p:nvPr/>
        </p:nvCxnSpPr>
        <p:spPr>
          <a:xfrm>
            <a:off x="6618587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6608802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6607576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6082064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64675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49000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199034" y="3723964"/>
            <a:ext cx="3469668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orientation-encoding matrix </a:t>
            </a:r>
            <a:r>
              <a:rPr lang="en-US" sz="2800" b="1" i="1" dirty="0"/>
              <a:t>Q</a:t>
            </a:r>
            <a:r>
              <a:rPr lang="en-US" sz="2000" i="1" dirty="0"/>
              <a:t> </a:t>
            </a:r>
          </a:p>
          <a:p>
            <a:pPr algn="ctr"/>
            <a:r>
              <a:rPr lang="en-US" sz="2000" dirty="0"/>
              <a:t>for the four-taxa-set </a:t>
            </a:r>
          </a:p>
          <a:p>
            <a:pPr algn="ctr"/>
            <a:r>
              <a:rPr lang="en-US" sz="2000" dirty="0"/>
              <a:t>(</a:t>
            </a:r>
            <a:r>
              <a:rPr lang="en-US" sz="2000" i="1" dirty="0"/>
              <a:t>t</a:t>
            </a:r>
            <a:r>
              <a:rPr lang="en-US" sz="2000" i="1" baseline="-25000" dirty="0"/>
              <a:t>1</a:t>
            </a:r>
            <a:r>
              <a:rPr lang="en-US" sz="2000" i="1" dirty="0"/>
              <a:t>, t</a:t>
            </a:r>
            <a:r>
              <a:rPr lang="en-US" sz="2000" i="1" baseline="-25000" dirty="0"/>
              <a:t>2</a:t>
            </a:r>
            <a:r>
              <a:rPr lang="en-US" sz="2000" i="1" dirty="0"/>
              <a:t>, t</a:t>
            </a:r>
            <a:r>
              <a:rPr lang="en-US" sz="2000" i="1" baseline="-25000" dirty="0"/>
              <a:t>3</a:t>
            </a:r>
            <a:r>
              <a:rPr lang="en-US" sz="2000" i="1" dirty="0"/>
              <a:t>, t</a:t>
            </a:r>
            <a:r>
              <a:rPr lang="en-US" sz="2000" i="1" baseline="-25000" dirty="0"/>
              <a:t>4</a:t>
            </a:r>
            <a:r>
              <a:rPr lang="en-US" sz="2000" dirty="0"/>
              <a:t>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579634" y="3808227"/>
            <a:ext cx="2209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masked matrix </a:t>
            </a:r>
            <a:r>
              <a:rPr lang="en-US" sz="2800" b="1" i="1" dirty="0" err="1"/>
              <a:t>Q</a:t>
            </a:r>
            <a:r>
              <a:rPr lang="en-US" sz="2800" b="1" i="1" baseline="30000" dirty="0" err="1"/>
              <a:t>m</a:t>
            </a:r>
            <a:endParaRPr lang="en-US" sz="2800" b="1" i="1" baseline="30000" dirty="0"/>
          </a:p>
        </p:txBody>
      </p:sp>
      <p:grpSp>
        <p:nvGrpSpPr>
          <p:cNvPr id="91" name="Group 90"/>
          <p:cNvGrpSpPr/>
          <p:nvPr/>
        </p:nvGrpSpPr>
        <p:grpSpPr>
          <a:xfrm>
            <a:off x="6047372" y="2079242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92" name="Rectangle 91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TextBox 94"/>
          <p:cNvSpPr txBox="1"/>
          <p:nvPr/>
        </p:nvSpPr>
        <p:spPr>
          <a:xfrm>
            <a:off x="6009695" y="208461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6382519" y="208950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760321" y="208236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6007083" y="28864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6379906" y="28913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757708" y="28842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1" name="Right Arrow 100"/>
          <p:cNvSpPr/>
          <p:nvPr/>
        </p:nvSpPr>
        <p:spPr>
          <a:xfrm rot="10800000">
            <a:off x="7286083" y="1981814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2" name="TextBox 101"/>
          <p:cNvSpPr txBox="1"/>
          <p:nvPr/>
        </p:nvSpPr>
        <p:spPr>
          <a:xfrm>
            <a:off x="7711187" y="1756731"/>
            <a:ext cx="113500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Masking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265423" y="1193962"/>
            <a:ext cx="146437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t</a:t>
            </a:r>
            <a:r>
              <a:rPr lang="en-US" sz="2050" i="1" baseline="-25000" dirty="0"/>
              <a:t>3</a:t>
            </a:r>
            <a:r>
              <a:rPr lang="en-US" sz="2050" i="1" dirty="0"/>
              <a:t>,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67793" y="2000410"/>
            <a:ext cx="146766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</a:t>
            </a:r>
            <a:r>
              <a:rPr lang="en-US" sz="2050" b="1" i="1" dirty="0">
                <a:solidFill>
                  <a:srgbClr val="0070C0"/>
                </a:solidFill>
              </a:rPr>
              <a:t>t</a:t>
            </a:r>
            <a:r>
              <a:rPr lang="en-US" sz="2050" b="1" i="1" baseline="-25000" dirty="0">
                <a:solidFill>
                  <a:srgbClr val="0070C0"/>
                </a:solidFill>
              </a:rPr>
              <a:t>3</a:t>
            </a:r>
            <a:r>
              <a:rPr lang="en-US" sz="2050" i="1" dirty="0"/>
              <a:t>,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61979" y="2833073"/>
            <a:ext cx="1469314" cy="419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i="1" dirty="0"/>
              <a:t>, t</a:t>
            </a:r>
            <a:r>
              <a:rPr lang="en-US" sz="2050" i="1" baseline="-25000" dirty="0"/>
              <a:t>2</a:t>
            </a:r>
            <a:r>
              <a:rPr lang="en-US" sz="2050" i="1" dirty="0"/>
              <a:t>, t</a:t>
            </a:r>
            <a:r>
              <a:rPr lang="en-US" sz="2050" i="1" baseline="-25000" dirty="0"/>
              <a:t>3</a:t>
            </a:r>
            <a:r>
              <a:rPr lang="en-US" sz="2050" i="1" dirty="0"/>
              <a:t>, </a:t>
            </a:r>
            <a:r>
              <a:rPr lang="en-US" sz="2055" b="1" i="1" dirty="0">
                <a:solidFill>
                  <a:srgbClr val="FF0000"/>
                </a:solidFill>
              </a:rPr>
              <a:t>t</a:t>
            </a:r>
            <a:r>
              <a:rPr lang="en-US" sz="2055" b="1" i="1" baseline="-25000" dirty="0">
                <a:solidFill>
                  <a:srgbClr val="FF0000"/>
                </a:solidFill>
              </a:rPr>
              <a:t>4</a:t>
            </a:r>
            <a:r>
              <a:rPr lang="en-US" sz="2050" dirty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52123" y="1165980"/>
            <a:ext cx="41862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g</a:t>
            </a:r>
            <a:r>
              <a:rPr lang="en-US" sz="2050" i="1" baseline="-25000" dirty="0"/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50974" y="1985499"/>
            <a:ext cx="37086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j</a:t>
            </a:r>
            <a:endParaRPr lang="en-US" sz="2050" i="1" baseline="-25000" dirty="0"/>
          </a:p>
        </p:txBody>
      </p:sp>
      <p:sp>
        <p:nvSpPr>
          <p:cNvPr id="68" name="TextBox 67"/>
          <p:cNvSpPr txBox="1"/>
          <p:nvPr/>
        </p:nvSpPr>
        <p:spPr>
          <a:xfrm>
            <a:off x="8720844" y="2804421"/>
            <a:ext cx="410393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k</a:t>
            </a:r>
            <a:endParaRPr lang="en-US" sz="2050" i="1" baseline="-25000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11663578" y="1034849"/>
            <a:ext cx="26095" cy="2646217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9069935" y="961927"/>
            <a:ext cx="1269369" cy="8368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041468" y="486813"/>
            <a:ext cx="151865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orientations</a:t>
            </a:r>
          </a:p>
        </p:txBody>
      </p:sp>
      <p:sp>
        <p:nvSpPr>
          <p:cNvPr id="77" name="TextBox 76"/>
          <p:cNvSpPr txBox="1"/>
          <p:nvPr/>
        </p:nvSpPr>
        <p:spPr>
          <a:xfrm rot="5400000">
            <a:off x="11234338" y="2325043"/>
            <a:ext cx="134329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gene trees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062058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24" name="Group 123"/>
          <p:cNvGrpSpPr/>
          <p:nvPr/>
        </p:nvGrpSpPr>
        <p:grpSpPr>
          <a:xfrm>
            <a:off x="3100993" y="1250555"/>
            <a:ext cx="1122885" cy="327607"/>
            <a:chOff x="3824287" y="1995689"/>
            <a:chExt cx="1092993" cy="318886"/>
          </a:xfrm>
        </p:grpSpPr>
        <p:sp>
          <p:nvSpPr>
            <p:cNvPr id="125" name="Rectangle 12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6" name="Straight Connector 12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Group 127"/>
          <p:cNvGrpSpPr/>
          <p:nvPr/>
        </p:nvGrpSpPr>
        <p:grpSpPr>
          <a:xfrm>
            <a:off x="3100992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29" name="Rectangle 12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30" name="Straight Connector 12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2" name="Straight Connector 131"/>
          <p:cNvCxnSpPr/>
          <p:nvPr/>
        </p:nvCxnSpPr>
        <p:spPr>
          <a:xfrm>
            <a:off x="3672208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/>
          <p:nvPr/>
        </p:nvCxnSpPr>
        <p:spPr>
          <a:xfrm>
            <a:off x="3662422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/>
          <p:nvPr/>
        </p:nvCxnSpPr>
        <p:spPr>
          <a:xfrm>
            <a:off x="3661197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3135684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518295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902620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511149" y="3789123"/>
            <a:ext cx="27829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masked tensor </a:t>
            </a:r>
            <a:r>
              <a:rPr lang="en-US" sz="2800" b="1" i="1" dirty="0" err="1"/>
              <a:t>Q</a:t>
            </a:r>
            <a:r>
              <a:rPr lang="en-US" sz="2800" b="1" i="1" baseline="-25000" dirty="0" err="1"/>
              <a:t>masked</a:t>
            </a:r>
            <a:endParaRPr lang="en-US" sz="2800" b="1" i="1" baseline="-25000" dirty="0"/>
          </a:p>
        </p:txBody>
      </p:sp>
      <p:grpSp>
        <p:nvGrpSpPr>
          <p:cNvPr id="139" name="Group 138"/>
          <p:cNvGrpSpPr/>
          <p:nvPr/>
        </p:nvGrpSpPr>
        <p:grpSpPr>
          <a:xfrm>
            <a:off x="3100992" y="2079242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40" name="Rectangle 13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41" name="Straight Connector 14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" name="TextBox 142"/>
          <p:cNvSpPr txBox="1"/>
          <p:nvPr/>
        </p:nvSpPr>
        <p:spPr>
          <a:xfrm>
            <a:off x="3063315" y="208461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3436139" y="208950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3813941" y="208236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3060703" y="28864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3433527" y="28913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3811329" y="28842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9" name="Right Arrow 148"/>
          <p:cNvSpPr/>
          <p:nvPr/>
        </p:nvSpPr>
        <p:spPr>
          <a:xfrm rot="10800000">
            <a:off x="4458785" y="1981814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0" name="TextBox 149"/>
          <p:cNvSpPr txBox="1"/>
          <p:nvPr/>
        </p:nvSpPr>
        <p:spPr>
          <a:xfrm>
            <a:off x="4836227" y="1163275"/>
            <a:ext cx="1134148" cy="1067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b="1" dirty="0"/>
              <a:t>Stacking</a:t>
            </a:r>
          </a:p>
          <a:p>
            <a:pPr algn="ctr"/>
            <a:r>
              <a:rPr lang="en-US" sz="2050" i="1" baseline="30000" dirty="0"/>
              <a:t>N</a:t>
            </a:r>
            <a:r>
              <a:rPr lang="en-US" sz="2050" i="1" baseline="16000" dirty="0"/>
              <a:t>c</a:t>
            </a:r>
            <a:r>
              <a:rPr lang="en-US" sz="2050" i="1" dirty="0"/>
              <a:t>C</a:t>
            </a:r>
            <a:r>
              <a:rPr lang="en-US" sz="2050" i="1" baseline="-25000" dirty="0"/>
              <a:t>4</a:t>
            </a:r>
            <a:r>
              <a:rPr lang="en-US" sz="2050" i="1" dirty="0"/>
              <a:t> </a:t>
            </a:r>
          </a:p>
          <a:p>
            <a:pPr algn="ctr"/>
            <a:r>
              <a:rPr lang="en-US" sz="2050" dirty="0"/>
              <a:t>matrices</a:t>
            </a:r>
          </a:p>
        </p:txBody>
      </p:sp>
      <p:cxnSp>
        <p:nvCxnSpPr>
          <p:cNvPr id="154" name="Straight Connector 153"/>
          <p:cNvCxnSpPr/>
          <p:nvPr/>
        </p:nvCxnSpPr>
        <p:spPr>
          <a:xfrm flipH="1">
            <a:off x="3251782" y="855096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/>
          <p:nvPr/>
        </p:nvCxnSpPr>
        <p:spPr>
          <a:xfrm flipH="1">
            <a:off x="4431759" y="8691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/>
          <p:cNvCxnSpPr/>
          <p:nvPr/>
        </p:nvCxnSpPr>
        <p:spPr>
          <a:xfrm flipH="1">
            <a:off x="4446982" y="35062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 flipV="1">
            <a:off x="2893719" y="659868"/>
            <a:ext cx="539811" cy="529320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 rot="18826477">
            <a:off x="2099324" y="545028"/>
            <a:ext cx="170020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four-taxa-sets</a:t>
            </a:r>
          </a:p>
        </p:txBody>
      </p:sp>
      <p:sp>
        <p:nvSpPr>
          <p:cNvPr id="103" name="Right Arrow 102"/>
          <p:cNvSpPr/>
          <p:nvPr/>
        </p:nvSpPr>
        <p:spPr>
          <a:xfrm rot="10800000">
            <a:off x="1526085" y="2008302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4" name="TextBox 103"/>
          <p:cNvSpPr txBox="1"/>
          <p:nvPr/>
        </p:nvSpPr>
        <p:spPr>
          <a:xfrm>
            <a:off x="1878311" y="1783219"/>
            <a:ext cx="91301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+ </a:t>
            </a:r>
            <a:r>
              <a:rPr lang="en-US" sz="2050" b="1" i="1" dirty="0" err="1"/>
              <a:t>PEnc</a:t>
            </a:r>
            <a:endParaRPr lang="en-US" sz="2050" b="1" i="1" dirty="0"/>
          </a:p>
        </p:txBody>
      </p:sp>
      <p:sp>
        <p:nvSpPr>
          <p:cNvPr id="171" name="Rectangle 170"/>
          <p:cNvSpPr/>
          <p:nvPr/>
        </p:nvSpPr>
        <p:spPr>
          <a:xfrm>
            <a:off x="13984204" y="822488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72" name="Rectangle 171"/>
          <p:cNvSpPr/>
          <p:nvPr/>
        </p:nvSpPr>
        <p:spPr>
          <a:xfrm>
            <a:off x="13713147" y="108258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73" name="Rectangle 172"/>
          <p:cNvSpPr/>
          <p:nvPr/>
        </p:nvSpPr>
        <p:spPr>
          <a:xfrm>
            <a:off x="13568947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4" name="Group 173"/>
          <p:cNvGrpSpPr/>
          <p:nvPr/>
        </p:nvGrpSpPr>
        <p:grpSpPr>
          <a:xfrm>
            <a:off x="13607881" y="1250555"/>
            <a:ext cx="1122885" cy="327607"/>
            <a:chOff x="3824287" y="1995689"/>
            <a:chExt cx="1092993" cy="318886"/>
          </a:xfrm>
        </p:grpSpPr>
        <p:sp>
          <p:nvSpPr>
            <p:cNvPr id="175" name="Rectangle 17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76" name="Straight Connector 17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/>
        </p:nvGrpSpPr>
        <p:grpSpPr>
          <a:xfrm>
            <a:off x="13607880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79" name="Rectangle 17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80" name="Straight Connector 17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2" name="Straight Connector 181"/>
          <p:cNvCxnSpPr/>
          <p:nvPr/>
        </p:nvCxnSpPr>
        <p:spPr>
          <a:xfrm>
            <a:off x="14179096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>
            <a:off x="14169311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/>
          <p:cNvCxnSpPr/>
          <p:nvPr/>
        </p:nvCxnSpPr>
        <p:spPr>
          <a:xfrm>
            <a:off x="14168085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>
            <a:off x="13642572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4025184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4409508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3192443" y="3803767"/>
            <a:ext cx="2303002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target of the </a:t>
            </a:r>
          </a:p>
          <a:p>
            <a:pPr algn="ctr"/>
            <a:r>
              <a:rPr lang="en-US" sz="2000" dirty="0" err="1"/>
              <a:t>autoencoder</a:t>
            </a:r>
            <a:r>
              <a:rPr lang="en-US" sz="2000" b="1" i="1" dirty="0"/>
              <a:t>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stacked</a:t>
            </a:r>
            <a:endParaRPr lang="en-US" sz="2050" b="1" i="1" baseline="-25000" dirty="0"/>
          </a:p>
        </p:txBody>
      </p:sp>
      <p:grpSp>
        <p:nvGrpSpPr>
          <p:cNvPr id="189" name="Group 188"/>
          <p:cNvGrpSpPr/>
          <p:nvPr/>
        </p:nvGrpSpPr>
        <p:grpSpPr>
          <a:xfrm>
            <a:off x="13607880" y="2079242"/>
            <a:ext cx="1122885" cy="327607"/>
            <a:chOff x="3976687" y="2148089"/>
            <a:chExt cx="1092993" cy="318886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90" name="Rectangle 18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91" name="Straight Connector 19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6" name="TextBox 195"/>
          <p:cNvSpPr txBox="1"/>
          <p:nvPr/>
        </p:nvSpPr>
        <p:spPr>
          <a:xfrm>
            <a:off x="13567591" y="28864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13940415" y="28913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14318217" y="28842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199" name="Straight Connector 198"/>
          <p:cNvCxnSpPr/>
          <p:nvPr/>
        </p:nvCxnSpPr>
        <p:spPr>
          <a:xfrm flipH="1">
            <a:off x="13758671" y="855096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/>
          <p:cNvCxnSpPr/>
          <p:nvPr/>
        </p:nvCxnSpPr>
        <p:spPr>
          <a:xfrm flipH="1">
            <a:off x="14938647" y="8691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/>
          <p:cNvCxnSpPr/>
          <p:nvPr/>
        </p:nvCxnSpPr>
        <p:spPr>
          <a:xfrm flipH="1">
            <a:off x="14953870" y="35062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Right Arrow 201"/>
          <p:cNvSpPr/>
          <p:nvPr/>
        </p:nvSpPr>
        <p:spPr>
          <a:xfrm>
            <a:off x="12056923" y="2097079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03" name="TextBox 202"/>
          <p:cNvSpPr txBox="1"/>
          <p:nvPr/>
        </p:nvSpPr>
        <p:spPr>
          <a:xfrm>
            <a:off x="12047277" y="1307561"/>
            <a:ext cx="1134148" cy="1067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b="1" dirty="0"/>
              <a:t>Stacking</a:t>
            </a:r>
          </a:p>
          <a:p>
            <a:pPr algn="ctr"/>
            <a:r>
              <a:rPr lang="en-US" sz="2050" i="1" baseline="30000" dirty="0"/>
              <a:t>N</a:t>
            </a:r>
            <a:r>
              <a:rPr lang="en-US" sz="2050" i="1" baseline="16000" dirty="0"/>
              <a:t>c</a:t>
            </a:r>
            <a:r>
              <a:rPr lang="en-US" sz="2050" i="1" dirty="0"/>
              <a:t>C</a:t>
            </a:r>
            <a:r>
              <a:rPr lang="en-US" sz="2050" i="1" baseline="-25000" dirty="0"/>
              <a:t>4</a:t>
            </a:r>
            <a:r>
              <a:rPr lang="en-US" sz="2050" i="1" dirty="0"/>
              <a:t> </a:t>
            </a:r>
          </a:p>
          <a:p>
            <a:pPr algn="ctr"/>
            <a:r>
              <a:rPr lang="en-US" sz="2050" dirty="0"/>
              <a:t>matrices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3638784" y="2082438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4021396" y="2082438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4405721" y="20818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41" name="Trapezoid 40"/>
          <p:cNvSpPr/>
          <p:nvPr/>
        </p:nvSpPr>
        <p:spPr>
          <a:xfrm rot="5400000">
            <a:off x="2989794" y="5480864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12" name="Trapezoid 211"/>
          <p:cNvSpPr/>
          <p:nvPr/>
        </p:nvSpPr>
        <p:spPr>
          <a:xfrm rot="16200000">
            <a:off x="5216905" y="5477988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2" name="Rectangle 41"/>
          <p:cNvSpPr/>
          <p:nvPr/>
        </p:nvSpPr>
        <p:spPr>
          <a:xfrm>
            <a:off x="5058693" y="5879191"/>
            <a:ext cx="269534" cy="104185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cxnSp>
        <p:nvCxnSpPr>
          <p:cNvPr id="213" name="Straight Arrow Connector 212"/>
          <p:cNvCxnSpPr/>
          <p:nvPr/>
        </p:nvCxnSpPr>
        <p:spPr>
          <a:xfrm>
            <a:off x="3158243" y="5138262"/>
            <a:ext cx="1900450" cy="583188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213"/>
          <p:cNvSpPr txBox="1"/>
          <p:nvPr/>
        </p:nvSpPr>
        <p:spPr>
          <a:xfrm rot="995966">
            <a:off x="3472074" y="5009815"/>
            <a:ext cx="143920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E</a:t>
            </a:r>
            <a:r>
              <a:rPr lang="en-US" sz="2050" dirty="0"/>
              <a:t> FC layers</a:t>
            </a:r>
          </a:p>
        </p:txBody>
      </p:sp>
      <p:cxnSp>
        <p:nvCxnSpPr>
          <p:cNvPr id="215" name="Straight Arrow Connector 214"/>
          <p:cNvCxnSpPr/>
          <p:nvPr/>
        </p:nvCxnSpPr>
        <p:spPr>
          <a:xfrm flipV="1">
            <a:off x="5377526" y="5148567"/>
            <a:ext cx="1841258" cy="555022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TextBox 215"/>
          <p:cNvSpPr txBox="1"/>
          <p:nvPr/>
        </p:nvSpPr>
        <p:spPr>
          <a:xfrm rot="20572771">
            <a:off x="5533188" y="4996995"/>
            <a:ext cx="146226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D</a:t>
            </a:r>
            <a:r>
              <a:rPr lang="en-US" sz="2050" dirty="0"/>
              <a:t> FC layers</a:t>
            </a:r>
          </a:p>
        </p:txBody>
      </p:sp>
      <p:sp>
        <p:nvSpPr>
          <p:cNvPr id="52" name="TextBox 51"/>
          <p:cNvSpPr txBox="1"/>
          <p:nvPr/>
        </p:nvSpPr>
        <p:spPr>
          <a:xfrm rot="20597095">
            <a:off x="3524750" y="7203860"/>
            <a:ext cx="110074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Encoder</a:t>
            </a:r>
          </a:p>
        </p:txBody>
      </p:sp>
      <p:sp>
        <p:nvSpPr>
          <p:cNvPr id="217" name="TextBox 216"/>
          <p:cNvSpPr txBox="1"/>
          <p:nvPr/>
        </p:nvSpPr>
        <p:spPr>
          <a:xfrm rot="1022148">
            <a:off x="5720030" y="7197448"/>
            <a:ext cx="113039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Decoder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67533" y="6856905"/>
            <a:ext cx="477914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>
                <a:solidFill>
                  <a:srgbClr val="0070C0"/>
                </a:solidFill>
              </a:rPr>
              <a:t>h</a:t>
            </a:r>
            <a:r>
              <a:rPr lang="en-US" sz="2876" b="1" i="1" baseline="-25000" dirty="0" err="1">
                <a:solidFill>
                  <a:srgbClr val="0070C0"/>
                </a:solidFill>
              </a:rPr>
              <a:t>r</a:t>
            </a:r>
            <a:endParaRPr lang="en-US" sz="3287" b="1" i="1" baseline="-25000" dirty="0">
              <a:solidFill>
                <a:srgbClr val="0070C0"/>
              </a:solidFill>
            </a:endParaRPr>
          </a:p>
        </p:txBody>
      </p:sp>
      <p:cxnSp>
        <p:nvCxnSpPr>
          <p:cNvPr id="36" name="Elbow Connector 35"/>
          <p:cNvCxnSpPr>
            <a:stCxn id="122" idx="2"/>
            <a:endCxn id="41" idx="2"/>
          </p:cNvCxnSpPr>
          <p:nvPr/>
        </p:nvCxnSpPr>
        <p:spPr>
          <a:xfrm rot="16200000" flipH="1">
            <a:off x="1108896" y="4351342"/>
            <a:ext cx="1881359" cy="2217357"/>
          </a:xfrm>
          <a:prstGeom prst="bentConnector2">
            <a:avLst/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243038" y="5206090"/>
            <a:ext cx="1514197" cy="11464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flatten</a:t>
            </a:r>
            <a:r>
              <a:rPr lang="en-US" sz="2050" dirty="0"/>
              <a:t> </a:t>
            </a:r>
            <a:r>
              <a:rPr lang="en-US" sz="2400" b="1" i="1" dirty="0"/>
              <a:t>X (</a:t>
            </a:r>
            <a:r>
              <a:rPr lang="en-US" sz="2400" b="1" i="1" dirty="0" err="1"/>
              <a:t>i</a:t>
            </a:r>
            <a:r>
              <a:rPr lang="en-US" sz="2400" b="1" i="1" dirty="0"/>
              <a:t>)</a:t>
            </a:r>
            <a:r>
              <a:rPr lang="en-US" sz="2050" dirty="0"/>
              <a:t> </a:t>
            </a:r>
          </a:p>
          <a:p>
            <a:pPr algn="ctr"/>
            <a:r>
              <a:rPr lang="en-US" sz="2000" dirty="0"/>
              <a:t>to generate </a:t>
            </a:r>
          </a:p>
          <a:p>
            <a:pPr algn="ctr"/>
            <a:r>
              <a:rPr lang="en-US" sz="2000" dirty="0"/>
              <a:t>the input </a:t>
            </a:r>
            <a:r>
              <a:rPr lang="en-US" sz="2400" b="1" i="1" dirty="0" err="1"/>
              <a:t>x</a:t>
            </a:r>
            <a:r>
              <a:rPr lang="en-US" sz="2400" b="1" i="1" baseline="-25000" dirty="0" err="1"/>
              <a:t>r</a:t>
            </a:r>
            <a:endParaRPr lang="en-US" sz="2050" b="1" i="1" baseline="-25000" dirty="0"/>
          </a:p>
        </p:txBody>
      </p:sp>
      <p:sp>
        <p:nvSpPr>
          <p:cNvPr id="205" name="TextBox 204"/>
          <p:cNvSpPr txBox="1"/>
          <p:nvPr/>
        </p:nvSpPr>
        <p:spPr>
          <a:xfrm>
            <a:off x="9822486" y="5760187"/>
            <a:ext cx="1306768" cy="534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/>
              <a:t>Q</a:t>
            </a:r>
            <a:r>
              <a:rPr lang="en-US" sz="2876" b="1" i="1" baseline="-25000" dirty="0" err="1"/>
              <a:t>pred</a:t>
            </a:r>
            <a:r>
              <a:rPr lang="en-US" sz="2876" b="1" i="1" dirty="0"/>
              <a:t> (</a:t>
            </a:r>
            <a:r>
              <a:rPr lang="en-US" sz="2876" b="1" i="1" dirty="0" err="1"/>
              <a:t>i</a:t>
            </a:r>
            <a:r>
              <a:rPr lang="en-US" sz="2876" b="1" i="1" dirty="0"/>
              <a:t>)</a:t>
            </a:r>
          </a:p>
        </p:txBody>
      </p:sp>
      <p:cxnSp>
        <p:nvCxnSpPr>
          <p:cNvPr id="11" name="Straight Connector 10"/>
          <p:cNvCxnSpPr>
            <a:stCxn id="212" idx="2"/>
            <a:endCxn id="194" idx="1"/>
          </p:cNvCxnSpPr>
          <p:nvPr/>
        </p:nvCxnSpPr>
        <p:spPr>
          <a:xfrm>
            <a:off x="7225035" y="6397824"/>
            <a:ext cx="1380408" cy="2399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TextBox 192"/>
          <p:cNvSpPr txBox="1"/>
          <p:nvPr/>
        </p:nvSpPr>
        <p:spPr>
          <a:xfrm rot="16200000">
            <a:off x="13175398" y="5264827"/>
            <a:ext cx="1652179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/>
              <a:t>Q</a:t>
            </a:r>
            <a:r>
              <a:rPr lang="en-US" sz="2876" b="1" i="1" baseline="-25000" dirty="0" err="1"/>
              <a:t>stacked</a:t>
            </a:r>
            <a:r>
              <a:rPr lang="en-US" sz="2876" b="1" i="1" dirty="0"/>
              <a:t> (</a:t>
            </a:r>
            <a:r>
              <a:rPr lang="en-US" sz="2876" b="1" i="1" dirty="0" err="1"/>
              <a:t>i</a:t>
            </a:r>
            <a:r>
              <a:rPr lang="en-US" sz="2876" b="1" i="1" dirty="0"/>
              <a:t>)</a:t>
            </a:r>
          </a:p>
        </p:txBody>
      </p:sp>
      <p:sp>
        <p:nvSpPr>
          <p:cNvPr id="30" name="Snip Same Side Corner Rectangle 29"/>
          <p:cNvSpPr/>
          <p:nvPr/>
        </p:nvSpPr>
        <p:spPr>
          <a:xfrm rot="10800000">
            <a:off x="11213717" y="5782066"/>
            <a:ext cx="2201919" cy="1243389"/>
          </a:xfrm>
          <a:prstGeom prst="snip2SameRect">
            <a:avLst/>
          </a:prstGeom>
          <a:solidFill>
            <a:schemeClr val="bg1"/>
          </a:solidFill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06" name="Elbow Connector 205"/>
          <p:cNvCxnSpPr>
            <a:stCxn id="188" idx="2"/>
            <a:endCxn id="30" idx="2"/>
          </p:cNvCxnSpPr>
          <p:nvPr/>
        </p:nvCxnSpPr>
        <p:spPr>
          <a:xfrm rot="5400000">
            <a:off x="12937583" y="4997399"/>
            <a:ext cx="1884412" cy="928311"/>
          </a:xfrm>
          <a:prstGeom prst="bentConnector2">
            <a:avLst/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1256351" y="5875356"/>
            <a:ext cx="2130327" cy="1013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Cross-entropy loss</a:t>
            </a:r>
          </a:p>
          <a:p>
            <a:pPr algn="ctr"/>
            <a:r>
              <a:rPr lang="en-US" dirty="0"/>
              <a:t>(as reconstruction</a:t>
            </a:r>
          </a:p>
          <a:p>
            <a:pPr algn="ctr"/>
            <a:r>
              <a:rPr lang="en-US" dirty="0"/>
              <a:t> loss)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8605446" y="5077114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95" name="Group 194"/>
          <p:cNvGrpSpPr/>
          <p:nvPr/>
        </p:nvGrpSpPr>
        <p:grpSpPr>
          <a:xfrm>
            <a:off x="8644381" y="5116256"/>
            <a:ext cx="1122885" cy="327607"/>
            <a:chOff x="3824287" y="1995689"/>
            <a:chExt cx="1092993" cy="31888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04" name="Rectangle 203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7" name="Straight Connector 206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8" name="Group 217"/>
          <p:cNvGrpSpPr/>
          <p:nvPr/>
        </p:nvGrpSpPr>
        <p:grpSpPr>
          <a:xfrm>
            <a:off x="8644380" y="6750750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19" name="Rectangle 21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chemeClr val="tx1"/>
                </a:solidFill>
              </a:endParaRPr>
            </a:p>
          </p:txBody>
        </p:sp>
        <p:cxnSp>
          <p:nvCxnSpPr>
            <p:cNvPr id="220" name="Straight Connector 21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2" name="Straight Connector 221"/>
          <p:cNvCxnSpPr/>
          <p:nvPr/>
        </p:nvCxnSpPr>
        <p:spPr>
          <a:xfrm>
            <a:off x="9215595" y="5557378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/>
          <p:cNvCxnSpPr/>
          <p:nvPr/>
        </p:nvCxnSpPr>
        <p:spPr>
          <a:xfrm>
            <a:off x="9205810" y="6366955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/>
          <p:cNvCxnSpPr/>
          <p:nvPr/>
        </p:nvCxnSpPr>
        <p:spPr>
          <a:xfrm>
            <a:off x="9204584" y="7185991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224"/>
          <p:cNvSpPr txBox="1"/>
          <p:nvPr/>
        </p:nvSpPr>
        <p:spPr>
          <a:xfrm>
            <a:off x="8624986" y="5121757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0.2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9003624" y="5122368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0.7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9368899" y="5121757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8310197" y="7654266"/>
            <a:ext cx="185553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44" dirty="0"/>
              <a:t>masked matrix </a:t>
            </a:r>
            <a:r>
              <a:rPr lang="en-US" sz="2050" b="1" i="1" dirty="0" err="1"/>
              <a:t>Q</a:t>
            </a:r>
            <a:r>
              <a:rPr lang="en-US" sz="2050" b="1" i="1" baseline="30000" dirty="0" err="1"/>
              <a:t>m</a:t>
            </a:r>
            <a:endParaRPr lang="en-US" sz="2050" b="1" i="1" baseline="30000" dirty="0"/>
          </a:p>
        </p:txBody>
      </p:sp>
      <p:grpSp>
        <p:nvGrpSpPr>
          <p:cNvPr id="229" name="Group 228"/>
          <p:cNvGrpSpPr/>
          <p:nvPr/>
        </p:nvGrpSpPr>
        <p:grpSpPr>
          <a:xfrm>
            <a:off x="8644380" y="5944943"/>
            <a:ext cx="1122885" cy="327607"/>
            <a:chOff x="3976687" y="2148089"/>
            <a:chExt cx="1092993" cy="31888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30" name="Rectangle 22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31" name="Straight Connector 23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8573134" y="5950310"/>
            <a:ext cx="510076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0.15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4" name="TextBox 233"/>
          <p:cNvSpPr txBox="1"/>
          <p:nvPr/>
        </p:nvSpPr>
        <p:spPr>
          <a:xfrm>
            <a:off x="8955484" y="5955202"/>
            <a:ext cx="510076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0.15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9371840" y="5962581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0.7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8623138" y="6752193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0.6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7" name="TextBox 236"/>
          <p:cNvSpPr txBox="1"/>
          <p:nvPr/>
        </p:nvSpPr>
        <p:spPr>
          <a:xfrm>
            <a:off x="8995961" y="6757085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0.2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8" name="TextBox 237"/>
          <p:cNvSpPr txBox="1"/>
          <p:nvPr/>
        </p:nvSpPr>
        <p:spPr>
          <a:xfrm>
            <a:off x="9373763" y="6749950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39" name="Straight Connector 238"/>
          <p:cNvCxnSpPr>
            <a:stCxn id="194" idx="3"/>
            <a:endCxn id="30" idx="0"/>
          </p:cNvCxnSpPr>
          <p:nvPr/>
        </p:nvCxnSpPr>
        <p:spPr>
          <a:xfrm>
            <a:off x="9809472" y="6400223"/>
            <a:ext cx="1404242" cy="3537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1151" y="5275195"/>
            <a:ext cx="108876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split</a:t>
            </a:r>
            <a:r>
              <a:rPr lang="en-US" sz="2000" dirty="0"/>
              <a:t> and</a:t>
            </a:r>
          </a:p>
          <a:p>
            <a:pPr algn="ctr"/>
            <a:r>
              <a:rPr lang="en-US" sz="2000" dirty="0"/>
              <a:t>apply</a:t>
            </a:r>
          </a:p>
          <a:p>
            <a:pPr algn="ctr"/>
            <a:r>
              <a:rPr lang="en-US" sz="2000" b="1" dirty="0" err="1"/>
              <a:t>softmax</a:t>
            </a:r>
            <a:endParaRPr lang="en-US" sz="2050" b="1" dirty="0"/>
          </a:p>
        </p:txBody>
      </p:sp>
    </p:spTree>
    <p:extLst>
      <p:ext uri="{BB962C8B-B14F-4D97-AF65-F5344CB8AC3E}">
        <p14:creationId xmlns:p14="http://schemas.microsoft.com/office/powerpoint/2010/main" val="1242059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04"/>
          <p:cNvSpPr/>
          <p:nvPr/>
        </p:nvSpPr>
        <p:spPr>
          <a:xfrm>
            <a:off x="568362" y="822484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6" name="Rectangle 105"/>
          <p:cNvSpPr/>
          <p:nvPr/>
        </p:nvSpPr>
        <p:spPr>
          <a:xfrm>
            <a:off x="297304" y="1082581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7" name="Rectangle 106"/>
          <p:cNvSpPr/>
          <p:nvPr/>
        </p:nvSpPr>
        <p:spPr>
          <a:xfrm>
            <a:off x="153103" y="121140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08" name="Group 107"/>
          <p:cNvGrpSpPr/>
          <p:nvPr/>
        </p:nvGrpSpPr>
        <p:grpSpPr>
          <a:xfrm>
            <a:off x="192423" y="1245391"/>
            <a:ext cx="1122885" cy="327607"/>
            <a:chOff x="3824287" y="1995689"/>
            <a:chExt cx="1092993" cy="318886"/>
          </a:xfrm>
        </p:grpSpPr>
        <p:sp>
          <p:nvSpPr>
            <p:cNvPr id="109" name="Rectangle 108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10" name="Straight Connector 109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Group 111"/>
          <p:cNvGrpSpPr/>
          <p:nvPr/>
        </p:nvGrpSpPr>
        <p:grpSpPr>
          <a:xfrm>
            <a:off x="192422" y="2879885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13" name="Rectangle 112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14" name="Straight Connector 113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6" name="Straight Connector 115"/>
          <p:cNvCxnSpPr/>
          <p:nvPr/>
        </p:nvCxnSpPr>
        <p:spPr>
          <a:xfrm>
            <a:off x="763648" y="168651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>
            <a:off x="753863" y="249609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752637" y="331513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227117" y="1251504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09729" y="1251504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94053" y="125089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0626" y="3803761"/>
            <a:ext cx="1720536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input of the </a:t>
            </a:r>
          </a:p>
          <a:p>
            <a:pPr algn="ctr"/>
            <a:r>
              <a:rPr lang="en-US" sz="2000" dirty="0" err="1"/>
              <a:t>autoencoder</a:t>
            </a:r>
            <a:r>
              <a:rPr lang="en-US" sz="2000" b="1" i="1" dirty="0"/>
              <a:t> </a:t>
            </a:r>
            <a:r>
              <a:rPr lang="en-US" sz="2050" b="1" i="1" dirty="0"/>
              <a:t>X</a:t>
            </a:r>
            <a:endParaRPr lang="en-US" sz="2050" b="1" i="1" baseline="-25000" dirty="0"/>
          </a:p>
        </p:txBody>
      </p:sp>
      <p:grpSp>
        <p:nvGrpSpPr>
          <p:cNvPr id="152" name="Group 151"/>
          <p:cNvGrpSpPr/>
          <p:nvPr/>
        </p:nvGrpSpPr>
        <p:grpSpPr>
          <a:xfrm>
            <a:off x="192422" y="2074078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59" name="Rectangle 15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60" name="Straight Connector 15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2" name="TextBox 161"/>
          <p:cNvSpPr txBox="1"/>
          <p:nvPr/>
        </p:nvSpPr>
        <p:spPr>
          <a:xfrm>
            <a:off x="154748" y="2079446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527572" y="208433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904991" y="208236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152136" y="288132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524960" y="2886221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902379" y="288424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168" name="Straight Connector 167"/>
          <p:cNvCxnSpPr/>
          <p:nvPr/>
        </p:nvCxnSpPr>
        <p:spPr>
          <a:xfrm flipH="1">
            <a:off x="343220" y="849932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/>
          <p:nvPr/>
        </p:nvCxnSpPr>
        <p:spPr>
          <a:xfrm flipH="1">
            <a:off x="1522813" y="8691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/>
          <p:nvPr/>
        </p:nvCxnSpPr>
        <p:spPr>
          <a:xfrm flipH="1">
            <a:off x="1538036" y="35062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152"/>
          <p:cNvSpPr/>
          <p:nvPr/>
        </p:nvSpPr>
        <p:spPr>
          <a:xfrm>
            <a:off x="3477316" y="822488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1" name="Rectangle 150"/>
          <p:cNvSpPr/>
          <p:nvPr/>
        </p:nvSpPr>
        <p:spPr>
          <a:xfrm>
            <a:off x="3206259" y="108258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" name="Rectangle 3"/>
          <p:cNvSpPr/>
          <p:nvPr/>
        </p:nvSpPr>
        <p:spPr>
          <a:xfrm>
            <a:off x="9106589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" name="Group 16"/>
          <p:cNvGrpSpPr/>
          <p:nvPr/>
        </p:nvGrpSpPr>
        <p:grpSpPr>
          <a:xfrm>
            <a:off x="9145524" y="1250555"/>
            <a:ext cx="1122885" cy="327607"/>
            <a:chOff x="3824287" y="1995689"/>
            <a:chExt cx="1092993" cy="318886"/>
          </a:xfrm>
        </p:grpSpPr>
        <p:sp>
          <p:nvSpPr>
            <p:cNvPr id="10" name="Rectangle 9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" name="Straight Connector 11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9145522" y="2082322"/>
            <a:ext cx="1122885" cy="327607"/>
            <a:chOff x="3976687" y="2148089"/>
            <a:chExt cx="1092993" cy="318886"/>
          </a:xfrm>
        </p:grpSpPr>
        <p:sp>
          <p:nvSpPr>
            <p:cNvPr id="19" name="Rectangle 1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" name="Straight Connector 1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9145522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4" name="Rectangle 23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Connector 27"/>
          <p:cNvCxnSpPr/>
          <p:nvPr/>
        </p:nvCxnSpPr>
        <p:spPr>
          <a:xfrm>
            <a:off x="9716738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9706953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9705727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093523" y="289420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485919" y="290398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853935" y="289685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180215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62826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47151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1399" y="208556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64010" y="208556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48335" y="2084952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08438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61" name="Group 60"/>
          <p:cNvGrpSpPr/>
          <p:nvPr/>
        </p:nvGrpSpPr>
        <p:grpSpPr>
          <a:xfrm>
            <a:off x="6047373" y="1250555"/>
            <a:ext cx="1122885" cy="327607"/>
            <a:chOff x="3824287" y="1995689"/>
            <a:chExt cx="1092993" cy="318886"/>
          </a:xfrm>
        </p:grpSpPr>
        <p:sp>
          <p:nvSpPr>
            <p:cNvPr id="62" name="Rectangle 61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63" name="Straight Connector 62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/>
          <p:cNvGrpSpPr/>
          <p:nvPr/>
        </p:nvGrpSpPr>
        <p:grpSpPr>
          <a:xfrm>
            <a:off x="6047372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70" name="Rectangle 6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71" name="Straight Connector 7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Straight Connector 72"/>
          <p:cNvCxnSpPr/>
          <p:nvPr/>
        </p:nvCxnSpPr>
        <p:spPr>
          <a:xfrm>
            <a:off x="6618587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6608802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6607576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6082064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64675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49000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199034" y="3723964"/>
            <a:ext cx="3469668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orientation-encoding matrix </a:t>
            </a:r>
            <a:r>
              <a:rPr lang="en-US" sz="2800" b="1" i="1" dirty="0"/>
              <a:t>Q</a:t>
            </a:r>
            <a:r>
              <a:rPr lang="en-US" sz="2000" i="1" dirty="0"/>
              <a:t> </a:t>
            </a:r>
          </a:p>
          <a:p>
            <a:pPr algn="ctr"/>
            <a:r>
              <a:rPr lang="en-US" sz="2000" dirty="0"/>
              <a:t>for the four-taxa-set </a:t>
            </a:r>
          </a:p>
          <a:p>
            <a:pPr algn="ctr"/>
            <a:r>
              <a:rPr lang="en-US" sz="2000" dirty="0"/>
              <a:t>(</a:t>
            </a:r>
            <a:r>
              <a:rPr lang="en-US" sz="2000" i="1" dirty="0"/>
              <a:t>t</a:t>
            </a:r>
            <a:r>
              <a:rPr lang="en-US" sz="2000" i="1" baseline="-25000" dirty="0"/>
              <a:t>1</a:t>
            </a:r>
            <a:r>
              <a:rPr lang="en-US" sz="2000" dirty="0"/>
              <a:t>,</a:t>
            </a:r>
            <a:r>
              <a:rPr lang="en-US" sz="2000" i="1" dirty="0"/>
              <a:t> t</a:t>
            </a:r>
            <a:r>
              <a:rPr lang="en-US" sz="2000" i="1" baseline="-25000" dirty="0"/>
              <a:t>2</a:t>
            </a:r>
            <a:r>
              <a:rPr lang="en-US" sz="2000" dirty="0"/>
              <a:t>,</a:t>
            </a:r>
            <a:r>
              <a:rPr lang="en-US" sz="2000" i="1" dirty="0"/>
              <a:t> t</a:t>
            </a:r>
            <a:r>
              <a:rPr lang="en-US" sz="2000" i="1" baseline="-25000" dirty="0"/>
              <a:t>3</a:t>
            </a:r>
            <a:r>
              <a:rPr lang="en-US" sz="2000" dirty="0"/>
              <a:t>,</a:t>
            </a:r>
            <a:r>
              <a:rPr lang="en-US" sz="2000" i="1" dirty="0"/>
              <a:t> t</a:t>
            </a:r>
            <a:r>
              <a:rPr lang="en-US" sz="2000" i="1" baseline="-25000" dirty="0"/>
              <a:t>4</a:t>
            </a:r>
            <a:r>
              <a:rPr lang="en-US" sz="2000" dirty="0"/>
              <a:t>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579634" y="3808227"/>
            <a:ext cx="2209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masked matrix </a:t>
            </a:r>
            <a:r>
              <a:rPr lang="en-US" sz="2800" b="1" i="1" dirty="0" err="1"/>
              <a:t>Q</a:t>
            </a:r>
            <a:r>
              <a:rPr lang="en-US" sz="2800" b="1" i="1" baseline="30000" dirty="0" err="1"/>
              <a:t>m</a:t>
            </a:r>
            <a:endParaRPr lang="en-US" sz="2800" b="1" i="1" baseline="30000" dirty="0"/>
          </a:p>
        </p:txBody>
      </p:sp>
      <p:grpSp>
        <p:nvGrpSpPr>
          <p:cNvPr id="91" name="Group 90"/>
          <p:cNvGrpSpPr/>
          <p:nvPr/>
        </p:nvGrpSpPr>
        <p:grpSpPr>
          <a:xfrm>
            <a:off x="6047372" y="2079242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92" name="Rectangle 91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TextBox 94"/>
          <p:cNvSpPr txBox="1"/>
          <p:nvPr/>
        </p:nvSpPr>
        <p:spPr>
          <a:xfrm>
            <a:off x="6009695" y="208461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6382519" y="208950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760321" y="208236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6007083" y="28864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6379906" y="28913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757708" y="28842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1" name="Right Arrow 100"/>
          <p:cNvSpPr/>
          <p:nvPr/>
        </p:nvSpPr>
        <p:spPr>
          <a:xfrm rot="10800000">
            <a:off x="7286083" y="1981814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2" name="TextBox 101"/>
          <p:cNvSpPr txBox="1"/>
          <p:nvPr/>
        </p:nvSpPr>
        <p:spPr>
          <a:xfrm>
            <a:off x="7711187" y="1756731"/>
            <a:ext cx="113500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Masking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265423" y="1193959"/>
            <a:ext cx="1425390" cy="4078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dirty="0"/>
              <a:t>,</a:t>
            </a:r>
            <a:r>
              <a:rPr lang="en-US" sz="2050" i="1" dirty="0"/>
              <a:t> t</a:t>
            </a:r>
            <a:r>
              <a:rPr lang="en-US" sz="2050" i="1" baseline="-25000" dirty="0"/>
              <a:t>2</a:t>
            </a:r>
            <a:r>
              <a:rPr lang="en-US" sz="2050" dirty="0"/>
              <a:t>,</a:t>
            </a:r>
            <a:r>
              <a:rPr lang="en-US" sz="2050" i="1" dirty="0"/>
              <a:t> t</a:t>
            </a:r>
            <a:r>
              <a:rPr lang="en-US" sz="2050" i="1" baseline="-25000" dirty="0"/>
              <a:t>3</a:t>
            </a:r>
            <a:r>
              <a:rPr lang="en-US" sz="2050" dirty="0"/>
              <a:t>,</a:t>
            </a:r>
            <a:r>
              <a:rPr lang="en-US" sz="2050" i="1" dirty="0"/>
              <a:t>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67793" y="2000410"/>
            <a:ext cx="146766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dirty="0"/>
              <a:t>,</a:t>
            </a:r>
            <a:r>
              <a:rPr lang="en-US" sz="2050" i="1" dirty="0"/>
              <a:t> t</a:t>
            </a:r>
            <a:r>
              <a:rPr lang="en-US" sz="2050" i="1" baseline="-25000" dirty="0"/>
              <a:t>2</a:t>
            </a:r>
            <a:r>
              <a:rPr lang="en-US" sz="2050" dirty="0"/>
              <a:t>,</a:t>
            </a:r>
            <a:r>
              <a:rPr lang="en-US" sz="2050" i="1" dirty="0"/>
              <a:t> </a:t>
            </a:r>
            <a:r>
              <a:rPr lang="en-US" sz="2050" b="1" i="1" dirty="0">
                <a:solidFill>
                  <a:srgbClr val="0070C0"/>
                </a:solidFill>
              </a:rPr>
              <a:t>t</a:t>
            </a:r>
            <a:r>
              <a:rPr lang="en-US" sz="2050" b="1" i="1" baseline="-25000" dirty="0">
                <a:solidFill>
                  <a:srgbClr val="0070C0"/>
                </a:solidFill>
              </a:rPr>
              <a:t>3</a:t>
            </a:r>
            <a:r>
              <a:rPr lang="en-US" sz="2050" dirty="0"/>
              <a:t>,</a:t>
            </a:r>
            <a:r>
              <a:rPr lang="en-US" sz="2050" i="1" dirty="0"/>
              <a:t>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61979" y="2833073"/>
            <a:ext cx="1469314" cy="419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dirty="0"/>
              <a:t>,</a:t>
            </a:r>
            <a:r>
              <a:rPr lang="en-US" sz="2050" i="1" dirty="0"/>
              <a:t> t</a:t>
            </a:r>
            <a:r>
              <a:rPr lang="en-US" sz="2050" i="1" baseline="-25000" dirty="0"/>
              <a:t>2</a:t>
            </a:r>
            <a:r>
              <a:rPr lang="en-US" sz="2050" dirty="0"/>
              <a:t>,</a:t>
            </a:r>
            <a:r>
              <a:rPr lang="en-US" sz="2050" i="1" dirty="0"/>
              <a:t> t</a:t>
            </a:r>
            <a:r>
              <a:rPr lang="en-US" sz="2050" i="1" baseline="-25000" dirty="0"/>
              <a:t>3</a:t>
            </a:r>
            <a:r>
              <a:rPr lang="en-US" sz="2050" dirty="0"/>
              <a:t>,</a:t>
            </a:r>
            <a:r>
              <a:rPr lang="en-US" sz="2050" i="1" dirty="0"/>
              <a:t> </a:t>
            </a:r>
            <a:r>
              <a:rPr lang="en-US" sz="2055" b="1" i="1" dirty="0">
                <a:solidFill>
                  <a:srgbClr val="FF0000"/>
                </a:solidFill>
              </a:rPr>
              <a:t>t</a:t>
            </a:r>
            <a:r>
              <a:rPr lang="en-US" sz="2055" b="1" i="1" baseline="-25000" dirty="0">
                <a:solidFill>
                  <a:srgbClr val="FF0000"/>
                </a:solidFill>
              </a:rPr>
              <a:t>4</a:t>
            </a:r>
            <a:r>
              <a:rPr lang="en-US" sz="2050" dirty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52123" y="1165980"/>
            <a:ext cx="41862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g</a:t>
            </a:r>
            <a:r>
              <a:rPr lang="en-US" sz="2050" i="1" baseline="-25000" dirty="0"/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50974" y="1985499"/>
            <a:ext cx="37086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j</a:t>
            </a:r>
            <a:endParaRPr lang="en-US" sz="2050" i="1" baseline="-25000" dirty="0"/>
          </a:p>
        </p:txBody>
      </p:sp>
      <p:sp>
        <p:nvSpPr>
          <p:cNvPr id="68" name="TextBox 67"/>
          <p:cNvSpPr txBox="1"/>
          <p:nvPr/>
        </p:nvSpPr>
        <p:spPr>
          <a:xfrm>
            <a:off x="8720844" y="2804421"/>
            <a:ext cx="410393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k</a:t>
            </a:r>
            <a:endParaRPr lang="en-US" sz="2050" i="1" baseline="-25000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11663578" y="1034849"/>
            <a:ext cx="26095" cy="2646217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9069935" y="961927"/>
            <a:ext cx="1269369" cy="8368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041468" y="486813"/>
            <a:ext cx="151865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orientations</a:t>
            </a:r>
          </a:p>
        </p:txBody>
      </p:sp>
      <p:sp>
        <p:nvSpPr>
          <p:cNvPr id="77" name="TextBox 76"/>
          <p:cNvSpPr txBox="1"/>
          <p:nvPr/>
        </p:nvSpPr>
        <p:spPr>
          <a:xfrm rot="5400000">
            <a:off x="11234338" y="2325043"/>
            <a:ext cx="134329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gene trees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062058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24" name="Group 123"/>
          <p:cNvGrpSpPr/>
          <p:nvPr/>
        </p:nvGrpSpPr>
        <p:grpSpPr>
          <a:xfrm>
            <a:off x="3100993" y="1250555"/>
            <a:ext cx="1122885" cy="327607"/>
            <a:chOff x="3824287" y="1995689"/>
            <a:chExt cx="1092993" cy="318886"/>
          </a:xfrm>
        </p:grpSpPr>
        <p:sp>
          <p:nvSpPr>
            <p:cNvPr id="125" name="Rectangle 12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6" name="Straight Connector 12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Group 127"/>
          <p:cNvGrpSpPr/>
          <p:nvPr/>
        </p:nvGrpSpPr>
        <p:grpSpPr>
          <a:xfrm>
            <a:off x="3100992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29" name="Rectangle 12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30" name="Straight Connector 12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2" name="Straight Connector 131"/>
          <p:cNvCxnSpPr/>
          <p:nvPr/>
        </p:nvCxnSpPr>
        <p:spPr>
          <a:xfrm>
            <a:off x="3672208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/>
          <p:nvPr/>
        </p:nvCxnSpPr>
        <p:spPr>
          <a:xfrm>
            <a:off x="3662422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/>
          <p:nvPr/>
        </p:nvCxnSpPr>
        <p:spPr>
          <a:xfrm>
            <a:off x="3661197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3135684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518295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902620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511149" y="3789123"/>
            <a:ext cx="27829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masked tensor </a:t>
            </a:r>
            <a:r>
              <a:rPr lang="en-US" sz="2800" b="1" i="1" dirty="0" err="1"/>
              <a:t>Q</a:t>
            </a:r>
            <a:r>
              <a:rPr lang="en-US" sz="2800" b="1" i="1" baseline="-25000" dirty="0" err="1"/>
              <a:t>masked</a:t>
            </a:r>
            <a:endParaRPr lang="en-US" sz="2800" b="1" i="1" baseline="-25000" dirty="0"/>
          </a:p>
        </p:txBody>
      </p:sp>
      <p:grpSp>
        <p:nvGrpSpPr>
          <p:cNvPr id="139" name="Group 138"/>
          <p:cNvGrpSpPr/>
          <p:nvPr/>
        </p:nvGrpSpPr>
        <p:grpSpPr>
          <a:xfrm>
            <a:off x="3100992" y="2079242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40" name="Rectangle 13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41" name="Straight Connector 14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" name="TextBox 142"/>
          <p:cNvSpPr txBox="1"/>
          <p:nvPr/>
        </p:nvSpPr>
        <p:spPr>
          <a:xfrm>
            <a:off x="3063315" y="208461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3436139" y="208950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3813941" y="208236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3060703" y="28864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3433527" y="28913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3811329" y="28842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9" name="Right Arrow 148"/>
          <p:cNvSpPr/>
          <p:nvPr/>
        </p:nvSpPr>
        <p:spPr>
          <a:xfrm rot="10800000">
            <a:off x="4458785" y="1981814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0" name="TextBox 149"/>
          <p:cNvSpPr txBox="1"/>
          <p:nvPr/>
        </p:nvSpPr>
        <p:spPr>
          <a:xfrm>
            <a:off x="4836227" y="1163275"/>
            <a:ext cx="1134148" cy="1067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b="1" dirty="0"/>
              <a:t>Stacking</a:t>
            </a:r>
          </a:p>
          <a:p>
            <a:pPr algn="ctr"/>
            <a:r>
              <a:rPr lang="en-US" sz="2050" i="1" baseline="30000" dirty="0"/>
              <a:t>N</a:t>
            </a:r>
            <a:r>
              <a:rPr lang="en-US" sz="2050" i="1" baseline="16000" dirty="0"/>
              <a:t>c</a:t>
            </a:r>
            <a:r>
              <a:rPr lang="en-US" sz="2050" i="1" dirty="0"/>
              <a:t>C</a:t>
            </a:r>
            <a:r>
              <a:rPr lang="en-US" sz="2050" i="1" baseline="-25000" dirty="0"/>
              <a:t>4</a:t>
            </a:r>
            <a:r>
              <a:rPr lang="en-US" sz="2050" i="1" dirty="0"/>
              <a:t> </a:t>
            </a:r>
          </a:p>
          <a:p>
            <a:pPr algn="ctr"/>
            <a:r>
              <a:rPr lang="en-US" sz="2050" dirty="0"/>
              <a:t>matrices</a:t>
            </a:r>
          </a:p>
        </p:txBody>
      </p:sp>
      <p:cxnSp>
        <p:nvCxnSpPr>
          <p:cNvPr id="154" name="Straight Connector 153"/>
          <p:cNvCxnSpPr/>
          <p:nvPr/>
        </p:nvCxnSpPr>
        <p:spPr>
          <a:xfrm flipH="1">
            <a:off x="3251782" y="855096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/>
          <p:nvPr/>
        </p:nvCxnSpPr>
        <p:spPr>
          <a:xfrm flipH="1">
            <a:off x="4431759" y="8691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/>
          <p:cNvCxnSpPr/>
          <p:nvPr/>
        </p:nvCxnSpPr>
        <p:spPr>
          <a:xfrm flipH="1">
            <a:off x="4446982" y="35062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 flipV="1">
            <a:off x="2893719" y="659868"/>
            <a:ext cx="539811" cy="529320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 rot="18826477">
            <a:off x="2099324" y="545028"/>
            <a:ext cx="170020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four-taxa-sets</a:t>
            </a:r>
          </a:p>
        </p:txBody>
      </p:sp>
      <p:sp>
        <p:nvSpPr>
          <p:cNvPr id="103" name="Right Arrow 102"/>
          <p:cNvSpPr/>
          <p:nvPr/>
        </p:nvSpPr>
        <p:spPr>
          <a:xfrm rot="10800000">
            <a:off x="1526085" y="2008302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4" name="TextBox 103"/>
          <p:cNvSpPr txBox="1"/>
          <p:nvPr/>
        </p:nvSpPr>
        <p:spPr>
          <a:xfrm>
            <a:off x="1878311" y="1783219"/>
            <a:ext cx="91301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+ </a:t>
            </a:r>
            <a:r>
              <a:rPr lang="en-US" sz="2050" b="1" i="1" dirty="0" err="1"/>
              <a:t>PEnc</a:t>
            </a:r>
            <a:endParaRPr lang="en-US" sz="2050" b="1" i="1" dirty="0"/>
          </a:p>
        </p:txBody>
      </p:sp>
      <p:sp>
        <p:nvSpPr>
          <p:cNvPr id="171" name="Rectangle 170"/>
          <p:cNvSpPr/>
          <p:nvPr/>
        </p:nvSpPr>
        <p:spPr>
          <a:xfrm>
            <a:off x="13984204" y="822488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72" name="Rectangle 171"/>
          <p:cNvSpPr/>
          <p:nvPr/>
        </p:nvSpPr>
        <p:spPr>
          <a:xfrm>
            <a:off x="13713147" y="108258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73" name="Rectangle 172"/>
          <p:cNvSpPr/>
          <p:nvPr/>
        </p:nvSpPr>
        <p:spPr>
          <a:xfrm>
            <a:off x="13568947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4" name="Group 173"/>
          <p:cNvGrpSpPr/>
          <p:nvPr/>
        </p:nvGrpSpPr>
        <p:grpSpPr>
          <a:xfrm>
            <a:off x="13607881" y="1250555"/>
            <a:ext cx="1122885" cy="327607"/>
            <a:chOff x="3824287" y="1995689"/>
            <a:chExt cx="1092993" cy="318886"/>
          </a:xfrm>
        </p:grpSpPr>
        <p:sp>
          <p:nvSpPr>
            <p:cNvPr id="175" name="Rectangle 17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76" name="Straight Connector 17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/>
        </p:nvGrpSpPr>
        <p:grpSpPr>
          <a:xfrm>
            <a:off x="13607880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79" name="Rectangle 17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80" name="Straight Connector 17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2" name="Straight Connector 181"/>
          <p:cNvCxnSpPr/>
          <p:nvPr/>
        </p:nvCxnSpPr>
        <p:spPr>
          <a:xfrm>
            <a:off x="14179096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>
            <a:off x="14169311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/>
          <p:cNvCxnSpPr/>
          <p:nvPr/>
        </p:nvCxnSpPr>
        <p:spPr>
          <a:xfrm>
            <a:off x="14168085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>
            <a:off x="13642572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4025184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4409508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3192443" y="3803767"/>
            <a:ext cx="2303002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target of the </a:t>
            </a:r>
          </a:p>
          <a:p>
            <a:pPr algn="ctr"/>
            <a:r>
              <a:rPr lang="en-US" sz="2000" dirty="0" err="1"/>
              <a:t>autoencoder</a:t>
            </a:r>
            <a:r>
              <a:rPr lang="en-US" sz="2000" b="1" i="1" dirty="0"/>
              <a:t>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stacked</a:t>
            </a:r>
            <a:endParaRPr lang="en-US" sz="2050" b="1" i="1" baseline="-25000" dirty="0"/>
          </a:p>
        </p:txBody>
      </p:sp>
      <p:grpSp>
        <p:nvGrpSpPr>
          <p:cNvPr id="189" name="Group 188"/>
          <p:cNvGrpSpPr/>
          <p:nvPr/>
        </p:nvGrpSpPr>
        <p:grpSpPr>
          <a:xfrm>
            <a:off x="13607880" y="2079242"/>
            <a:ext cx="1122885" cy="327607"/>
            <a:chOff x="3976687" y="2148089"/>
            <a:chExt cx="1092993" cy="318886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90" name="Rectangle 18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91" name="Straight Connector 19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6" name="TextBox 195"/>
          <p:cNvSpPr txBox="1"/>
          <p:nvPr/>
        </p:nvSpPr>
        <p:spPr>
          <a:xfrm>
            <a:off x="13567591" y="28864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13940415" y="28913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14318217" y="28842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199" name="Straight Connector 198"/>
          <p:cNvCxnSpPr/>
          <p:nvPr/>
        </p:nvCxnSpPr>
        <p:spPr>
          <a:xfrm flipH="1">
            <a:off x="13758671" y="855096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/>
          <p:cNvCxnSpPr/>
          <p:nvPr/>
        </p:nvCxnSpPr>
        <p:spPr>
          <a:xfrm flipH="1">
            <a:off x="14938647" y="8691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/>
          <p:cNvCxnSpPr/>
          <p:nvPr/>
        </p:nvCxnSpPr>
        <p:spPr>
          <a:xfrm flipH="1">
            <a:off x="14953870" y="35062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Right Arrow 201"/>
          <p:cNvSpPr/>
          <p:nvPr/>
        </p:nvSpPr>
        <p:spPr>
          <a:xfrm>
            <a:off x="12056923" y="2097079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03" name="TextBox 202"/>
          <p:cNvSpPr txBox="1"/>
          <p:nvPr/>
        </p:nvSpPr>
        <p:spPr>
          <a:xfrm>
            <a:off x="12047277" y="1307561"/>
            <a:ext cx="1134148" cy="1067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b="1" dirty="0"/>
              <a:t>Stacking</a:t>
            </a:r>
          </a:p>
          <a:p>
            <a:pPr algn="ctr"/>
            <a:r>
              <a:rPr lang="en-US" sz="2050" i="1" baseline="30000" dirty="0"/>
              <a:t>N</a:t>
            </a:r>
            <a:r>
              <a:rPr lang="en-US" sz="2050" i="1" baseline="16000" dirty="0"/>
              <a:t>c</a:t>
            </a:r>
            <a:r>
              <a:rPr lang="en-US" sz="2050" i="1" dirty="0"/>
              <a:t>C</a:t>
            </a:r>
            <a:r>
              <a:rPr lang="en-US" sz="2050" i="1" baseline="-25000" dirty="0"/>
              <a:t>4</a:t>
            </a:r>
            <a:r>
              <a:rPr lang="en-US" sz="2050" i="1" dirty="0"/>
              <a:t> </a:t>
            </a:r>
          </a:p>
          <a:p>
            <a:pPr algn="ctr"/>
            <a:r>
              <a:rPr lang="en-US" sz="2050" dirty="0"/>
              <a:t>matrices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3638784" y="2082438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4021396" y="2082438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4405721" y="20818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41" name="Trapezoid 40"/>
          <p:cNvSpPr/>
          <p:nvPr/>
        </p:nvSpPr>
        <p:spPr>
          <a:xfrm rot="5400000">
            <a:off x="2989794" y="5480864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12" name="Trapezoid 211"/>
          <p:cNvSpPr/>
          <p:nvPr/>
        </p:nvSpPr>
        <p:spPr>
          <a:xfrm rot="16200000">
            <a:off x="5216905" y="5477988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2" name="Rectangle 41"/>
          <p:cNvSpPr/>
          <p:nvPr/>
        </p:nvSpPr>
        <p:spPr>
          <a:xfrm>
            <a:off x="5058693" y="5879191"/>
            <a:ext cx="269534" cy="104185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cxnSp>
        <p:nvCxnSpPr>
          <p:cNvPr id="213" name="Straight Arrow Connector 212"/>
          <p:cNvCxnSpPr/>
          <p:nvPr/>
        </p:nvCxnSpPr>
        <p:spPr>
          <a:xfrm>
            <a:off x="3158243" y="5138262"/>
            <a:ext cx="1900450" cy="583188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213"/>
          <p:cNvSpPr txBox="1"/>
          <p:nvPr/>
        </p:nvSpPr>
        <p:spPr>
          <a:xfrm rot="995966">
            <a:off x="3472074" y="5009815"/>
            <a:ext cx="143920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E</a:t>
            </a:r>
            <a:r>
              <a:rPr lang="en-US" sz="2050" dirty="0"/>
              <a:t> FC layers</a:t>
            </a:r>
          </a:p>
        </p:txBody>
      </p:sp>
      <p:cxnSp>
        <p:nvCxnSpPr>
          <p:cNvPr id="215" name="Straight Arrow Connector 214"/>
          <p:cNvCxnSpPr/>
          <p:nvPr/>
        </p:nvCxnSpPr>
        <p:spPr>
          <a:xfrm flipV="1">
            <a:off x="5377526" y="5148567"/>
            <a:ext cx="1841258" cy="555022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TextBox 215"/>
          <p:cNvSpPr txBox="1"/>
          <p:nvPr/>
        </p:nvSpPr>
        <p:spPr>
          <a:xfrm rot="20572771">
            <a:off x="5533188" y="4996995"/>
            <a:ext cx="146226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D</a:t>
            </a:r>
            <a:r>
              <a:rPr lang="en-US" sz="2050" dirty="0"/>
              <a:t> FC layers</a:t>
            </a:r>
          </a:p>
        </p:txBody>
      </p:sp>
      <p:sp>
        <p:nvSpPr>
          <p:cNvPr id="52" name="TextBox 51"/>
          <p:cNvSpPr txBox="1"/>
          <p:nvPr/>
        </p:nvSpPr>
        <p:spPr>
          <a:xfrm rot="20597095">
            <a:off x="3524750" y="7203860"/>
            <a:ext cx="110074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Encoder</a:t>
            </a:r>
          </a:p>
        </p:txBody>
      </p:sp>
      <p:sp>
        <p:nvSpPr>
          <p:cNvPr id="217" name="TextBox 216"/>
          <p:cNvSpPr txBox="1"/>
          <p:nvPr/>
        </p:nvSpPr>
        <p:spPr>
          <a:xfrm rot="1022148">
            <a:off x="5720030" y="7197448"/>
            <a:ext cx="113039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Decoder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67533" y="6856905"/>
            <a:ext cx="477914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>
                <a:solidFill>
                  <a:srgbClr val="0070C0"/>
                </a:solidFill>
              </a:rPr>
              <a:t>h</a:t>
            </a:r>
            <a:r>
              <a:rPr lang="en-US" sz="2876" b="1" i="1" baseline="-25000" dirty="0" err="1">
                <a:solidFill>
                  <a:srgbClr val="0070C0"/>
                </a:solidFill>
              </a:rPr>
              <a:t>r</a:t>
            </a:r>
            <a:endParaRPr lang="en-US" sz="3287" b="1" i="1" baseline="-25000" dirty="0">
              <a:solidFill>
                <a:srgbClr val="0070C0"/>
              </a:solidFill>
            </a:endParaRPr>
          </a:p>
        </p:txBody>
      </p:sp>
      <p:cxnSp>
        <p:nvCxnSpPr>
          <p:cNvPr id="36" name="Elbow Connector 35"/>
          <p:cNvCxnSpPr>
            <a:stCxn id="122" idx="2"/>
            <a:endCxn id="41" idx="2"/>
          </p:cNvCxnSpPr>
          <p:nvPr/>
        </p:nvCxnSpPr>
        <p:spPr>
          <a:xfrm rot="16200000" flipH="1">
            <a:off x="1108896" y="4351342"/>
            <a:ext cx="1881359" cy="2217357"/>
          </a:xfrm>
          <a:prstGeom prst="bentConnector2">
            <a:avLst/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243038" y="5206090"/>
            <a:ext cx="1514197" cy="11464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flatten</a:t>
            </a:r>
            <a:r>
              <a:rPr lang="en-US" sz="2050" dirty="0"/>
              <a:t> </a:t>
            </a:r>
            <a:r>
              <a:rPr lang="en-US" sz="2400" b="1" i="1" dirty="0"/>
              <a:t>X (</a:t>
            </a:r>
            <a:r>
              <a:rPr lang="en-US" sz="2400" b="1" i="1" dirty="0" err="1"/>
              <a:t>i</a:t>
            </a:r>
            <a:r>
              <a:rPr lang="en-US" sz="2400" b="1" i="1" dirty="0"/>
              <a:t>)</a:t>
            </a:r>
            <a:r>
              <a:rPr lang="en-US" sz="2050" dirty="0"/>
              <a:t> </a:t>
            </a:r>
          </a:p>
          <a:p>
            <a:pPr algn="ctr"/>
            <a:r>
              <a:rPr lang="en-US" sz="2000" dirty="0"/>
              <a:t>to generate </a:t>
            </a:r>
          </a:p>
          <a:p>
            <a:pPr algn="ctr"/>
            <a:r>
              <a:rPr lang="en-US" sz="2000" dirty="0"/>
              <a:t>the input </a:t>
            </a:r>
            <a:r>
              <a:rPr lang="en-US" sz="2400" b="1" i="1" dirty="0" err="1"/>
              <a:t>x</a:t>
            </a:r>
            <a:r>
              <a:rPr lang="en-US" sz="2400" b="1" i="1" baseline="-25000" dirty="0" err="1"/>
              <a:t>r</a:t>
            </a:r>
            <a:endParaRPr lang="en-US" sz="2050" b="1" i="1" baseline="-25000" dirty="0"/>
          </a:p>
        </p:txBody>
      </p:sp>
      <p:cxnSp>
        <p:nvCxnSpPr>
          <p:cNvPr id="11" name="Straight Connector 10"/>
          <p:cNvCxnSpPr>
            <a:stCxn id="212" idx="2"/>
            <a:endCxn id="194" idx="1"/>
          </p:cNvCxnSpPr>
          <p:nvPr/>
        </p:nvCxnSpPr>
        <p:spPr>
          <a:xfrm>
            <a:off x="7225035" y="6397824"/>
            <a:ext cx="1380408" cy="2399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TextBox 192"/>
          <p:cNvSpPr txBox="1"/>
          <p:nvPr/>
        </p:nvSpPr>
        <p:spPr>
          <a:xfrm rot="16200000">
            <a:off x="13175398" y="5264827"/>
            <a:ext cx="1652179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/>
              <a:t>Q</a:t>
            </a:r>
            <a:r>
              <a:rPr lang="en-US" sz="2876" b="1" i="1" baseline="-25000" dirty="0" err="1"/>
              <a:t>stacked</a:t>
            </a:r>
            <a:r>
              <a:rPr lang="en-US" sz="2876" b="1" i="1" dirty="0"/>
              <a:t> (</a:t>
            </a:r>
            <a:r>
              <a:rPr lang="en-US" sz="2876" b="1" i="1" dirty="0" err="1"/>
              <a:t>i</a:t>
            </a:r>
            <a:r>
              <a:rPr lang="en-US" sz="2876" b="1" i="1" dirty="0"/>
              <a:t>)</a:t>
            </a:r>
          </a:p>
        </p:txBody>
      </p:sp>
      <p:sp>
        <p:nvSpPr>
          <p:cNvPr id="30" name="Snip Same Side Corner Rectangle 29"/>
          <p:cNvSpPr/>
          <p:nvPr/>
        </p:nvSpPr>
        <p:spPr>
          <a:xfrm rot="10800000">
            <a:off x="11213717" y="5782066"/>
            <a:ext cx="2201919" cy="1243389"/>
          </a:xfrm>
          <a:prstGeom prst="snip2SameRect">
            <a:avLst/>
          </a:prstGeom>
          <a:solidFill>
            <a:schemeClr val="bg1"/>
          </a:solidFill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06" name="Elbow Connector 205"/>
          <p:cNvCxnSpPr>
            <a:stCxn id="188" idx="2"/>
            <a:endCxn id="30" idx="2"/>
          </p:cNvCxnSpPr>
          <p:nvPr/>
        </p:nvCxnSpPr>
        <p:spPr>
          <a:xfrm rot="5400000">
            <a:off x="12937583" y="4997399"/>
            <a:ext cx="1884412" cy="928311"/>
          </a:xfrm>
          <a:prstGeom prst="bentConnector2">
            <a:avLst/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1256351" y="5875356"/>
            <a:ext cx="2130327" cy="1013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Cross-entropy loss</a:t>
            </a:r>
          </a:p>
          <a:p>
            <a:pPr algn="ctr"/>
            <a:r>
              <a:rPr lang="en-US" dirty="0"/>
              <a:t>(as reconstruction</a:t>
            </a:r>
          </a:p>
          <a:p>
            <a:pPr algn="ctr"/>
            <a:r>
              <a:rPr lang="en-US" dirty="0"/>
              <a:t> loss)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8605446" y="5077114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95" name="Group 194"/>
          <p:cNvGrpSpPr/>
          <p:nvPr/>
        </p:nvGrpSpPr>
        <p:grpSpPr>
          <a:xfrm>
            <a:off x="8644381" y="5116256"/>
            <a:ext cx="1122885" cy="327607"/>
            <a:chOff x="3824287" y="1995689"/>
            <a:chExt cx="1092993" cy="31888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04" name="Rectangle 203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7" name="Straight Connector 206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8" name="Group 217"/>
          <p:cNvGrpSpPr/>
          <p:nvPr/>
        </p:nvGrpSpPr>
        <p:grpSpPr>
          <a:xfrm>
            <a:off x="8644380" y="6750750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19" name="Rectangle 21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chemeClr val="tx1"/>
                </a:solidFill>
              </a:endParaRPr>
            </a:p>
          </p:txBody>
        </p:sp>
        <p:cxnSp>
          <p:nvCxnSpPr>
            <p:cNvPr id="220" name="Straight Connector 21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2" name="Straight Connector 221"/>
          <p:cNvCxnSpPr/>
          <p:nvPr/>
        </p:nvCxnSpPr>
        <p:spPr>
          <a:xfrm>
            <a:off x="9215595" y="5557378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/>
          <p:cNvCxnSpPr/>
          <p:nvPr/>
        </p:nvCxnSpPr>
        <p:spPr>
          <a:xfrm>
            <a:off x="9205810" y="6366955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/>
          <p:cNvCxnSpPr/>
          <p:nvPr/>
        </p:nvCxnSpPr>
        <p:spPr>
          <a:xfrm>
            <a:off x="9204584" y="7185991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224"/>
          <p:cNvSpPr txBox="1"/>
          <p:nvPr/>
        </p:nvSpPr>
        <p:spPr>
          <a:xfrm>
            <a:off x="8624986" y="5121757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0.2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9003624" y="5122368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0.7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9368899" y="5121757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8310197" y="7654263"/>
            <a:ext cx="2169184" cy="4078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 err="1"/>
              <a:t>i</a:t>
            </a:r>
            <a:r>
              <a:rPr lang="en-US" sz="2000" dirty="0" err="1"/>
              <a:t>-th</a:t>
            </a:r>
            <a:r>
              <a:rPr lang="en-US" sz="2000" dirty="0"/>
              <a:t> output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pred</a:t>
            </a:r>
            <a:r>
              <a:rPr lang="en-US" sz="2050" b="1" i="1" dirty="0"/>
              <a:t> (</a:t>
            </a:r>
            <a:r>
              <a:rPr lang="en-US" sz="2050" b="1" i="1" dirty="0" err="1"/>
              <a:t>i</a:t>
            </a:r>
            <a:r>
              <a:rPr lang="en-US" sz="2050" b="1" i="1" dirty="0"/>
              <a:t>)</a:t>
            </a:r>
          </a:p>
        </p:txBody>
      </p:sp>
      <p:grpSp>
        <p:nvGrpSpPr>
          <p:cNvPr id="229" name="Group 228"/>
          <p:cNvGrpSpPr/>
          <p:nvPr/>
        </p:nvGrpSpPr>
        <p:grpSpPr>
          <a:xfrm>
            <a:off x="8644380" y="5944943"/>
            <a:ext cx="1122885" cy="327607"/>
            <a:chOff x="3976687" y="2148089"/>
            <a:chExt cx="1092993" cy="31888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30" name="Rectangle 22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31" name="Straight Connector 23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8573134" y="5950310"/>
            <a:ext cx="510076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0.15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4" name="TextBox 233"/>
          <p:cNvSpPr txBox="1"/>
          <p:nvPr/>
        </p:nvSpPr>
        <p:spPr>
          <a:xfrm>
            <a:off x="8955484" y="5955202"/>
            <a:ext cx="510076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0.15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9371840" y="5962581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0.7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8623138" y="6752193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0.6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7" name="TextBox 236"/>
          <p:cNvSpPr txBox="1"/>
          <p:nvPr/>
        </p:nvSpPr>
        <p:spPr>
          <a:xfrm>
            <a:off x="8995961" y="6757085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0.2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8" name="TextBox 237"/>
          <p:cNvSpPr txBox="1"/>
          <p:nvPr/>
        </p:nvSpPr>
        <p:spPr>
          <a:xfrm>
            <a:off x="9373763" y="6749950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39" name="Straight Connector 238"/>
          <p:cNvCxnSpPr>
            <a:stCxn id="194" idx="3"/>
            <a:endCxn id="30" idx="0"/>
          </p:cNvCxnSpPr>
          <p:nvPr/>
        </p:nvCxnSpPr>
        <p:spPr>
          <a:xfrm>
            <a:off x="9809472" y="6400223"/>
            <a:ext cx="1404242" cy="3537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1151" y="5275195"/>
            <a:ext cx="108876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split</a:t>
            </a:r>
            <a:r>
              <a:rPr lang="en-US" sz="2000" dirty="0"/>
              <a:t> and</a:t>
            </a:r>
          </a:p>
          <a:p>
            <a:pPr algn="ctr"/>
            <a:r>
              <a:rPr lang="en-US" sz="2000" dirty="0"/>
              <a:t>apply</a:t>
            </a:r>
          </a:p>
          <a:p>
            <a:pPr algn="ctr"/>
            <a:r>
              <a:rPr lang="en-US" sz="2000" b="1" dirty="0" err="1"/>
              <a:t>softmax</a:t>
            </a:r>
            <a:endParaRPr lang="en-US" sz="2050" b="1" dirty="0"/>
          </a:p>
        </p:txBody>
      </p:sp>
    </p:spTree>
    <p:extLst>
      <p:ext uri="{BB962C8B-B14F-4D97-AF65-F5344CB8AC3E}">
        <p14:creationId xmlns:p14="http://schemas.microsoft.com/office/powerpoint/2010/main" val="3067458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04"/>
          <p:cNvSpPr/>
          <p:nvPr/>
        </p:nvSpPr>
        <p:spPr>
          <a:xfrm>
            <a:off x="568362" y="822484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6" name="Rectangle 105"/>
          <p:cNvSpPr/>
          <p:nvPr/>
        </p:nvSpPr>
        <p:spPr>
          <a:xfrm>
            <a:off x="297304" y="1082581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7" name="Rectangle 106"/>
          <p:cNvSpPr/>
          <p:nvPr/>
        </p:nvSpPr>
        <p:spPr>
          <a:xfrm>
            <a:off x="153103" y="121140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08" name="Group 107"/>
          <p:cNvGrpSpPr/>
          <p:nvPr/>
        </p:nvGrpSpPr>
        <p:grpSpPr>
          <a:xfrm>
            <a:off x="192423" y="1245391"/>
            <a:ext cx="1122885" cy="327607"/>
            <a:chOff x="3824287" y="1995689"/>
            <a:chExt cx="1092993" cy="318886"/>
          </a:xfrm>
        </p:grpSpPr>
        <p:sp>
          <p:nvSpPr>
            <p:cNvPr id="109" name="Rectangle 108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10" name="Straight Connector 109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Group 111"/>
          <p:cNvGrpSpPr/>
          <p:nvPr/>
        </p:nvGrpSpPr>
        <p:grpSpPr>
          <a:xfrm>
            <a:off x="192422" y="2879885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13" name="Rectangle 112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14" name="Straight Connector 113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6" name="Straight Connector 115"/>
          <p:cNvCxnSpPr/>
          <p:nvPr/>
        </p:nvCxnSpPr>
        <p:spPr>
          <a:xfrm>
            <a:off x="763648" y="168651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>
            <a:off x="753863" y="249609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752637" y="331513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227117" y="1251504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09729" y="1251504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94053" y="125089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0626" y="3803761"/>
            <a:ext cx="1720536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input of the </a:t>
            </a:r>
          </a:p>
          <a:p>
            <a:pPr algn="ctr"/>
            <a:r>
              <a:rPr lang="en-US" sz="2000" dirty="0" err="1"/>
              <a:t>autoencoder</a:t>
            </a:r>
            <a:r>
              <a:rPr lang="en-US" sz="2000" b="1" i="1" dirty="0"/>
              <a:t> </a:t>
            </a:r>
            <a:r>
              <a:rPr lang="en-US" sz="2050" b="1" i="1" dirty="0"/>
              <a:t>X</a:t>
            </a:r>
            <a:endParaRPr lang="en-US" sz="2050" b="1" i="1" baseline="-25000" dirty="0"/>
          </a:p>
        </p:txBody>
      </p:sp>
      <p:grpSp>
        <p:nvGrpSpPr>
          <p:cNvPr id="152" name="Group 151"/>
          <p:cNvGrpSpPr/>
          <p:nvPr/>
        </p:nvGrpSpPr>
        <p:grpSpPr>
          <a:xfrm>
            <a:off x="192422" y="2074078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59" name="Rectangle 15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60" name="Straight Connector 15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2" name="TextBox 161"/>
          <p:cNvSpPr txBox="1"/>
          <p:nvPr/>
        </p:nvSpPr>
        <p:spPr>
          <a:xfrm>
            <a:off x="154748" y="2079446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527572" y="208433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904991" y="208236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152136" y="288132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524960" y="2886221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902379" y="288424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168" name="Straight Connector 167"/>
          <p:cNvCxnSpPr/>
          <p:nvPr/>
        </p:nvCxnSpPr>
        <p:spPr>
          <a:xfrm flipH="1">
            <a:off x="343220" y="849932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/>
          <p:nvPr/>
        </p:nvCxnSpPr>
        <p:spPr>
          <a:xfrm flipH="1">
            <a:off x="1522813" y="8691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/>
          <p:nvPr/>
        </p:nvCxnSpPr>
        <p:spPr>
          <a:xfrm flipH="1">
            <a:off x="1538036" y="35062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152"/>
          <p:cNvSpPr/>
          <p:nvPr/>
        </p:nvSpPr>
        <p:spPr>
          <a:xfrm>
            <a:off x="3477316" y="822488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1" name="Rectangle 150"/>
          <p:cNvSpPr/>
          <p:nvPr/>
        </p:nvSpPr>
        <p:spPr>
          <a:xfrm>
            <a:off x="3206259" y="108258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" name="Rectangle 3"/>
          <p:cNvSpPr/>
          <p:nvPr/>
        </p:nvSpPr>
        <p:spPr>
          <a:xfrm>
            <a:off x="9106589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" name="Group 16"/>
          <p:cNvGrpSpPr/>
          <p:nvPr/>
        </p:nvGrpSpPr>
        <p:grpSpPr>
          <a:xfrm>
            <a:off x="9145524" y="1250555"/>
            <a:ext cx="1122885" cy="327607"/>
            <a:chOff x="3824287" y="1995689"/>
            <a:chExt cx="1092993" cy="318886"/>
          </a:xfrm>
        </p:grpSpPr>
        <p:sp>
          <p:nvSpPr>
            <p:cNvPr id="10" name="Rectangle 9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" name="Straight Connector 11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9145522" y="2082322"/>
            <a:ext cx="1122885" cy="327607"/>
            <a:chOff x="3976687" y="2148089"/>
            <a:chExt cx="1092993" cy="318886"/>
          </a:xfrm>
        </p:grpSpPr>
        <p:sp>
          <p:nvSpPr>
            <p:cNvPr id="19" name="Rectangle 1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" name="Straight Connector 1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9145522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4" name="Rectangle 23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Connector 27"/>
          <p:cNvCxnSpPr/>
          <p:nvPr/>
        </p:nvCxnSpPr>
        <p:spPr>
          <a:xfrm>
            <a:off x="9716738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9706953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9705727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093523" y="289420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485919" y="2903988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853935" y="2896853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180215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62826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47151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1399" y="208556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64010" y="2085563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48335" y="2084952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08438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61" name="Group 60"/>
          <p:cNvGrpSpPr/>
          <p:nvPr/>
        </p:nvGrpSpPr>
        <p:grpSpPr>
          <a:xfrm>
            <a:off x="6047373" y="1250555"/>
            <a:ext cx="1122885" cy="327607"/>
            <a:chOff x="3824287" y="1995689"/>
            <a:chExt cx="1092993" cy="318886"/>
          </a:xfrm>
        </p:grpSpPr>
        <p:sp>
          <p:nvSpPr>
            <p:cNvPr id="62" name="Rectangle 61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63" name="Straight Connector 62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/>
          <p:cNvGrpSpPr/>
          <p:nvPr/>
        </p:nvGrpSpPr>
        <p:grpSpPr>
          <a:xfrm>
            <a:off x="6047372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70" name="Rectangle 6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71" name="Straight Connector 7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" name="Straight Connector 72"/>
          <p:cNvCxnSpPr/>
          <p:nvPr/>
        </p:nvCxnSpPr>
        <p:spPr>
          <a:xfrm>
            <a:off x="6618587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6608802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6607576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6082064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64675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49000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199034" y="3723964"/>
            <a:ext cx="3469668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orientation-encoding matrix </a:t>
            </a:r>
            <a:r>
              <a:rPr lang="en-US" sz="2800" b="1" i="1" dirty="0"/>
              <a:t>Q</a:t>
            </a:r>
            <a:r>
              <a:rPr lang="en-US" sz="2000" i="1" dirty="0"/>
              <a:t> </a:t>
            </a:r>
          </a:p>
          <a:p>
            <a:pPr algn="ctr"/>
            <a:r>
              <a:rPr lang="en-US" sz="2000" dirty="0"/>
              <a:t>for the four-taxa-set </a:t>
            </a:r>
          </a:p>
          <a:p>
            <a:pPr algn="ctr"/>
            <a:r>
              <a:rPr lang="en-US" sz="2000" dirty="0"/>
              <a:t>(</a:t>
            </a:r>
            <a:r>
              <a:rPr lang="en-US" sz="2000" i="1" dirty="0"/>
              <a:t>t</a:t>
            </a:r>
            <a:r>
              <a:rPr lang="en-US" sz="2000" i="1" baseline="-25000" dirty="0"/>
              <a:t>1</a:t>
            </a:r>
            <a:r>
              <a:rPr lang="en-US" sz="2000" dirty="0"/>
              <a:t>,</a:t>
            </a:r>
            <a:r>
              <a:rPr lang="en-US" sz="2000" i="1" dirty="0"/>
              <a:t> t</a:t>
            </a:r>
            <a:r>
              <a:rPr lang="en-US" sz="2000" i="1" baseline="-25000" dirty="0"/>
              <a:t>2</a:t>
            </a:r>
            <a:r>
              <a:rPr lang="en-US" sz="2000" dirty="0"/>
              <a:t>,</a:t>
            </a:r>
            <a:r>
              <a:rPr lang="en-US" sz="2000" i="1" dirty="0"/>
              <a:t> t</a:t>
            </a:r>
            <a:r>
              <a:rPr lang="en-US" sz="2000" i="1" baseline="-25000" dirty="0"/>
              <a:t>3</a:t>
            </a:r>
            <a:r>
              <a:rPr lang="en-US" sz="2000" dirty="0"/>
              <a:t>,</a:t>
            </a:r>
            <a:r>
              <a:rPr lang="en-US" sz="2000" i="1" dirty="0"/>
              <a:t> t</a:t>
            </a:r>
            <a:r>
              <a:rPr lang="en-US" sz="2000" i="1" baseline="-25000" dirty="0"/>
              <a:t>4</a:t>
            </a:r>
            <a:r>
              <a:rPr lang="en-US" sz="2000" dirty="0"/>
              <a:t>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579634" y="3808227"/>
            <a:ext cx="2209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masked matrix </a:t>
            </a:r>
            <a:r>
              <a:rPr lang="en-US" sz="2800" b="1" i="1" dirty="0" err="1"/>
              <a:t>Q</a:t>
            </a:r>
            <a:r>
              <a:rPr lang="en-US" sz="2800" b="1" i="1" baseline="30000" dirty="0" err="1"/>
              <a:t>m</a:t>
            </a:r>
            <a:endParaRPr lang="en-US" sz="2800" b="1" i="1" baseline="30000" dirty="0"/>
          </a:p>
        </p:txBody>
      </p:sp>
      <p:grpSp>
        <p:nvGrpSpPr>
          <p:cNvPr id="91" name="Group 90"/>
          <p:cNvGrpSpPr/>
          <p:nvPr/>
        </p:nvGrpSpPr>
        <p:grpSpPr>
          <a:xfrm>
            <a:off x="6047372" y="2079242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92" name="Rectangle 91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93" name="Straight Connector 92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TextBox 94"/>
          <p:cNvSpPr txBox="1"/>
          <p:nvPr/>
        </p:nvSpPr>
        <p:spPr>
          <a:xfrm>
            <a:off x="6009695" y="208461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6382519" y="208950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760321" y="208236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6007083" y="28864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6379906" y="28913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757708" y="28842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01" name="Right Arrow 100"/>
          <p:cNvSpPr/>
          <p:nvPr/>
        </p:nvSpPr>
        <p:spPr>
          <a:xfrm rot="10800000">
            <a:off x="7286083" y="1981814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2" name="TextBox 101"/>
          <p:cNvSpPr txBox="1"/>
          <p:nvPr/>
        </p:nvSpPr>
        <p:spPr>
          <a:xfrm>
            <a:off x="7665781" y="873272"/>
            <a:ext cx="155309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50" dirty="0" smtClean="0">
                <a:solidFill>
                  <a:srgbClr val="FF0000"/>
                </a:solidFill>
              </a:rPr>
              <a:t>Not exactly what is explained</a:t>
            </a:r>
            <a:endParaRPr lang="en-US" sz="2050" dirty="0" smtClean="0">
              <a:solidFill>
                <a:srgbClr val="FF0000"/>
              </a:solidFill>
            </a:endParaRPr>
          </a:p>
          <a:p>
            <a:r>
              <a:rPr lang="en-US" sz="2050" b="1" dirty="0" smtClean="0"/>
              <a:t>Masking</a:t>
            </a:r>
            <a:endParaRPr lang="en-US" sz="205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10265423" y="1193959"/>
            <a:ext cx="1425390" cy="4078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dirty="0"/>
              <a:t>,</a:t>
            </a:r>
            <a:r>
              <a:rPr lang="en-US" sz="2050" i="1" dirty="0"/>
              <a:t> t</a:t>
            </a:r>
            <a:r>
              <a:rPr lang="en-US" sz="2050" i="1" baseline="-25000" dirty="0"/>
              <a:t>2</a:t>
            </a:r>
            <a:r>
              <a:rPr lang="en-US" sz="2050" dirty="0"/>
              <a:t>,</a:t>
            </a:r>
            <a:r>
              <a:rPr lang="en-US" sz="2050" i="1" dirty="0"/>
              <a:t> t</a:t>
            </a:r>
            <a:r>
              <a:rPr lang="en-US" sz="2050" i="1" baseline="-25000" dirty="0"/>
              <a:t>3</a:t>
            </a:r>
            <a:r>
              <a:rPr lang="en-US" sz="2050" dirty="0"/>
              <a:t>,</a:t>
            </a:r>
            <a:r>
              <a:rPr lang="en-US" sz="2050" i="1" dirty="0"/>
              <a:t>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67793" y="2000410"/>
            <a:ext cx="146766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dirty="0"/>
              <a:t>,</a:t>
            </a:r>
            <a:r>
              <a:rPr lang="en-US" sz="2050" i="1" dirty="0"/>
              <a:t> t</a:t>
            </a:r>
            <a:r>
              <a:rPr lang="en-US" sz="2050" i="1" baseline="-25000" dirty="0"/>
              <a:t>2</a:t>
            </a:r>
            <a:r>
              <a:rPr lang="en-US" sz="2050" dirty="0"/>
              <a:t>,</a:t>
            </a:r>
            <a:r>
              <a:rPr lang="en-US" sz="2050" i="1" dirty="0"/>
              <a:t> </a:t>
            </a:r>
            <a:r>
              <a:rPr lang="en-US" sz="2050" b="1" i="1" dirty="0">
                <a:solidFill>
                  <a:srgbClr val="0070C0"/>
                </a:solidFill>
              </a:rPr>
              <a:t>t</a:t>
            </a:r>
            <a:r>
              <a:rPr lang="en-US" sz="2050" b="1" i="1" baseline="-25000" dirty="0">
                <a:solidFill>
                  <a:srgbClr val="0070C0"/>
                </a:solidFill>
              </a:rPr>
              <a:t>3</a:t>
            </a:r>
            <a:r>
              <a:rPr lang="en-US" sz="2050" dirty="0"/>
              <a:t>,</a:t>
            </a:r>
            <a:r>
              <a:rPr lang="en-US" sz="2050" i="1" dirty="0"/>
              <a:t> t</a:t>
            </a:r>
            <a:r>
              <a:rPr lang="en-US" sz="2050" i="1" baseline="-25000" dirty="0"/>
              <a:t>4</a:t>
            </a:r>
            <a:r>
              <a:rPr lang="en-US" sz="2050" dirty="0"/>
              <a:t>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61979" y="2833073"/>
            <a:ext cx="1469314" cy="419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(</a:t>
            </a:r>
            <a:r>
              <a:rPr lang="en-US" sz="2050" i="1" dirty="0"/>
              <a:t>t</a:t>
            </a:r>
            <a:r>
              <a:rPr lang="en-US" sz="2050" i="1" baseline="-25000" dirty="0"/>
              <a:t>1</a:t>
            </a:r>
            <a:r>
              <a:rPr lang="en-US" sz="2050" dirty="0"/>
              <a:t>,</a:t>
            </a:r>
            <a:r>
              <a:rPr lang="en-US" sz="2050" i="1" dirty="0"/>
              <a:t> t</a:t>
            </a:r>
            <a:r>
              <a:rPr lang="en-US" sz="2050" i="1" baseline="-25000" dirty="0"/>
              <a:t>2</a:t>
            </a:r>
            <a:r>
              <a:rPr lang="en-US" sz="2050" dirty="0"/>
              <a:t>,</a:t>
            </a:r>
            <a:r>
              <a:rPr lang="en-US" sz="2050" i="1" dirty="0"/>
              <a:t> t</a:t>
            </a:r>
            <a:r>
              <a:rPr lang="en-US" sz="2050" i="1" baseline="-25000" dirty="0"/>
              <a:t>3</a:t>
            </a:r>
            <a:r>
              <a:rPr lang="en-US" sz="2050" dirty="0"/>
              <a:t>,</a:t>
            </a:r>
            <a:r>
              <a:rPr lang="en-US" sz="2050" i="1" dirty="0"/>
              <a:t> </a:t>
            </a:r>
            <a:r>
              <a:rPr lang="en-US" sz="2055" b="1" i="1" dirty="0">
                <a:solidFill>
                  <a:srgbClr val="FF0000"/>
                </a:solidFill>
              </a:rPr>
              <a:t>t</a:t>
            </a:r>
            <a:r>
              <a:rPr lang="en-US" sz="2055" b="1" i="1" baseline="-25000" dirty="0">
                <a:solidFill>
                  <a:srgbClr val="FF0000"/>
                </a:solidFill>
              </a:rPr>
              <a:t>4</a:t>
            </a:r>
            <a:r>
              <a:rPr lang="en-US" sz="2050" dirty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52123" y="1165980"/>
            <a:ext cx="41862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g</a:t>
            </a:r>
            <a:r>
              <a:rPr lang="en-US" sz="2050" i="1" baseline="-25000" dirty="0"/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50974" y="1985499"/>
            <a:ext cx="37086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j</a:t>
            </a:r>
            <a:endParaRPr lang="en-US" sz="2050" i="1" baseline="-25000" dirty="0"/>
          </a:p>
        </p:txBody>
      </p:sp>
      <p:sp>
        <p:nvSpPr>
          <p:cNvPr id="68" name="TextBox 67"/>
          <p:cNvSpPr txBox="1"/>
          <p:nvPr/>
        </p:nvSpPr>
        <p:spPr>
          <a:xfrm>
            <a:off x="8720844" y="2804421"/>
            <a:ext cx="410393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 err="1"/>
              <a:t>g</a:t>
            </a:r>
            <a:r>
              <a:rPr lang="en-US" sz="2050" i="1" baseline="-25000" dirty="0" err="1"/>
              <a:t>k</a:t>
            </a:r>
            <a:endParaRPr lang="en-US" sz="2050" i="1" baseline="-25000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11663578" y="1034849"/>
            <a:ext cx="26095" cy="2646217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>
            <a:off x="9069935" y="961927"/>
            <a:ext cx="1269369" cy="8368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041468" y="486813"/>
            <a:ext cx="151865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orientations</a:t>
            </a:r>
          </a:p>
        </p:txBody>
      </p:sp>
      <p:sp>
        <p:nvSpPr>
          <p:cNvPr id="77" name="TextBox 76"/>
          <p:cNvSpPr txBox="1"/>
          <p:nvPr/>
        </p:nvSpPr>
        <p:spPr>
          <a:xfrm rot="5400000">
            <a:off x="11234338" y="2325043"/>
            <a:ext cx="1343296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gene trees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062058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24" name="Group 123"/>
          <p:cNvGrpSpPr/>
          <p:nvPr/>
        </p:nvGrpSpPr>
        <p:grpSpPr>
          <a:xfrm>
            <a:off x="3100993" y="1250555"/>
            <a:ext cx="1122885" cy="327607"/>
            <a:chOff x="3824287" y="1995689"/>
            <a:chExt cx="1092993" cy="318886"/>
          </a:xfrm>
        </p:grpSpPr>
        <p:sp>
          <p:nvSpPr>
            <p:cNvPr id="125" name="Rectangle 12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26" name="Straight Connector 12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Group 127"/>
          <p:cNvGrpSpPr/>
          <p:nvPr/>
        </p:nvGrpSpPr>
        <p:grpSpPr>
          <a:xfrm>
            <a:off x="3100992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29" name="Rectangle 12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30" name="Straight Connector 12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2" name="Straight Connector 131"/>
          <p:cNvCxnSpPr/>
          <p:nvPr/>
        </p:nvCxnSpPr>
        <p:spPr>
          <a:xfrm>
            <a:off x="3672208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/>
          <p:nvPr/>
        </p:nvCxnSpPr>
        <p:spPr>
          <a:xfrm>
            <a:off x="3662422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/>
          <p:nvPr/>
        </p:nvCxnSpPr>
        <p:spPr>
          <a:xfrm>
            <a:off x="3661197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3135684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518295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902620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511149" y="3789123"/>
            <a:ext cx="27829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masked tensor </a:t>
            </a:r>
            <a:r>
              <a:rPr lang="en-US" sz="2800" b="1" i="1" dirty="0" err="1"/>
              <a:t>Q</a:t>
            </a:r>
            <a:r>
              <a:rPr lang="en-US" sz="2800" b="1" i="1" baseline="-25000" dirty="0" err="1"/>
              <a:t>masked</a:t>
            </a:r>
            <a:endParaRPr lang="en-US" sz="2800" b="1" i="1" baseline="-25000" dirty="0"/>
          </a:p>
        </p:txBody>
      </p:sp>
      <p:grpSp>
        <p:nvGrpSpPr>
          <p:cNvPr id="139" name="Group 138"/>
          <p:cNvGrpSpPr/>
          <p:nvPr/>
        </p:nvGrpSpPr>
        <p:grpSpPr>
          <a:xfrm>
            <a:off x="3100992" y="2079242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40" name="Rectangle 13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41" name="Straight Connector 14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" name="TextBox 142"/>
          <p:cNvSpPr txBox="1"/>
          <p:nvPr/>
        </p:nvSpPr>
        <p:spPr>
          <a:xfrm>
            <a:off x="3063315" y="208461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3436139" y="2089504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3813941" y="2082369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3060703" y="28864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3433527" y="28913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3811329" y="28842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49" name="Right Arrow 148"/>
          <p:cNvSpPr/>
          <p:nvPr/>
        </p:nvSpPr>
        <p:spPr>
          <a:xfrm rot="10800000">
            <a:off x="4458785" y="1981814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50" name="TextBox 149"/>
          <p:cNvSpPr txBox="1"/>
          <p:nvPr/>
        </p:nvSpPr>
        <p:spPr>
          <a:xfrm>
            <a:off x="4836227" y="1163275"/>
            <a:ext cx="1134148" cy="1067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b="1" dirty="0"/>
              <a:t>Stacking</a:t>
            </a:r>
          </a:p>
          <a:p>
            <a:pPr algn="ctr"/>
            <a:r>
              <a:rPr lang="en-US" sz="2050" i="1" baseline="30000" dirty="0"/>
              <a:t>N</a:t>
            </a:r>
            <a:r>
              <a:rPr lang="en-US" sz="2050" i="1" baseline="16000" dirty="0"/>
              <a:t>c</a:t>
            </a:r>
            <a:r>
              <a:rPr lang="en-US" sz="2050" i="1" dirty="0"/>
              <a:t>C</a:t>
            </a:r>
            <a:r>
              <a:rPr lang="en-US" sz="2050" i="1" baseline="-25000" dirty="0"/>
              <a:t>4</a:t>
            </a:r>
            <a:r>
              <a:rPr lang="en-US" sz="2050" i="1" dirty="0"/>
              <a:t> </a:t>
            </a:r>
          </a:p>
          <a:p>
            <a:pPr algn="ctr"/>
            <a:r>
              <a:rPr lang="en-US" sz="2050" dirty="0"/>
              <a:t>matrices</a:t>
            </a:r>
          </a:p>
        </p:txBody>
      </p:sp>
      <p:cxnSp>
        <p:nvCxnSpPr>
          <p:cNvPr id="154" name="Straight Connector 153"/>
          <p:cNvCxnSpPr/>
          <p:nvPr/>
        </p:nvCxnSpPr>
        <p:spPr>
          <a:xfrm flipH="1">
            <a:off x="3251782" y="855096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/>
          <p:nvPr/>
        </p:nvCxnSpPr>
        <p:spPr>
          <a:xfrm flipH="1">
            <a:off x="4431759" y="8691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/>
          <p:cNvCxnSpPr/>
          <p:nvPr/>
        </p:nvCxnSpPr>
        <p:spPr>
          <a:xfrm flipH="1">
            <a:off x="4446982" y="35062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 flipV="1">
            <a:off x="2893719" y="659868"/>
            <a:ext cx="539811" cy="529320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 rot="18826477">
            <a:off x="2099324" y="545028"/>
            <a:ext cx="170020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dirty="0"/>
              <a:t>four-taxa-sets</a:t>
            </a:r>
          </a:p>
        </p:txBody>
      </p:sp>
      <p:sp>
        <p:nvSpPr>
          <p:cNvPr id="103" name="Right Arrow 102"/>
          <p:cNvSpPr/>
          <p:nvPr/>
        </p:nvSpPr>
        <p:spPr>
          <a:xfrm rot="10800000">
            <a:off x="1526085" y="2008302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04" name="TextBox 103"/>
          <p:cNvSpPr txBox="1"/>
          <p:nvPr/>
        </p:nvSpPr>
        <p:spPr>
          <a:xfrm>
            <a:off x="1878311" y="1783219"/>
            <a:ext cx="913010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+ </a:t>
            </a:r>
            <a:r>
              <a:rPr lang="en-US" sz="2050" b="1" i="1" dirty="0" err="1"/>
              <a:t>PEnc</a:t>
            </a:r>
            <a:endParaRPr lang="en-US" sz="2050" b="1" i="1" dirty="0"/>
          </a:p>
        </p:txBody>
      </p:sp>
      <p:sp>
        <p:nvSpPr>
          <p:cNvPr id="171" name="Rectangle 170"/>
          <p:cNvSpPr/>
          <p:nvPr/>
        </p:nvSpPr>
        <p:spPr>
          <a:xfrm>
            <a:off x="13984204" y="822488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72" name="Rectangle 171"/>
          <p:cNvSpPr/>
          <p:nvPr/>
        </p:nvSpPr>
        <p:spPr>
          <a:xfrm>
            <a:off x="13713147" y="1082587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173" name="Rectangle 172"/>
          <p:cNvSpPr/>
          <p:nvPr/>
        </p:nvSpPr>
        <p:spPr>
          <a:xfrm>
            <a:off x="13568947" y="1211413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74" name="Group 173"/>
          <p:cNvGrpSpPr/>
          <p:nvPr/>
        </p:nvGrpSpPr>
        <p:grpSpPr>
          <a:xfrm>
            <a:off x="13607881" y="1250555"/>
            <a:ext cx="1122885" cy="327607"/>
            <a:chOff x="3824287" y="1995689"/>
            <a:chExt cx="1092993" cy="318886"/>
          </a:xfrm>
        </p:grpSpPr>
        <p:sp>
          <p:nvSpPr>
            <p:cNvPr id="175" name="Rectangle 174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76" name="Straight Connector 175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8" name="Group 177"/>
          <p:cNvGrpSpPr/>
          <p:nvPr/>
        </p:nvGrpSpPr>
        <p:grpSpPr>
          <a:xfrm>
            <a:off x="13607880" y="2885049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179" name="Rectangle 17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CE0C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80" name="Straight Connector 17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CE0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2" name="Straight Connector 181"/>
          <p:cNvCxnSpPr/>
          <p:nvPr/>
        </p:nvCxnSpPr>
        <p:spPr>
          <a:xfrm>
            <a:off x="14179096" y="1691677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>
            <a:off x="14169311" y="2501254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/>
          <p:cNvCxnSpPr/>
          <p:nvPr/>
        </p:nvCxnSpPr>
        <p:spPr>
          <a:xfrm>
            <a:off x="14168085" y="3320290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>
            <a:off x="13642572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4025184" y="1256670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4409508" y="1256059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3192443" y="3803767"/>
            <a:ext cx="2303002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target of the </a:t>
            </a:r>
          </a:p>
          <a:p>
            <a:pPr algn="ctr"/>
            <a:r>
              <a:rPr lang="en-US" sz="2000" dirty="0" err="1"/>
              <a:t>autoencoder</a:t>
            </a:r>
            <a:r>
              <a:rPr lang="en-US" sz="2000" b="1" i="1" dirty="0"/>
              <a:t>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stacked</a:t>
            </a:r>
            <a:endParaRPr lang="en-US" sz="2050" b="1" i="1" baseline="-25000" dirty="0"/>
          </a:p>
        </p:txBody>
      </p:sp>
      <p:grpSp>
        <p:nvGrpSpPr>
          <p:cNvPr id="189" name="Group 188"/>
          <p:cNvGrpSpPr/>
          <p:nvPr/>
        </p:nvGrpSpPr>
        <p:grpSpPr>
          <a:xfrm>
            <a:off x="13607880" y="2079242"/>
            <a:ext cx="1122885" cy="327607"/>
            <a:chOff x="3976687" y="2148089"/>
            <a:chExt cx="1092993" cy="318886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90" name="Rectangle 18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191" name="Straight Connector 19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6" name="TextBox 195"/>
          <p:cNvSpPr txBox="1"/>
          <p:nvPr/>
        </p:nvSpPr>
        <p:spPr>
          <a:xfrm>
            <a:off x="13567591" y="2886495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13940415" y="2891387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14318217" y="2884252"/>
            <a:ext cx="453211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rgbClr val="FF0000"/>
                </a:solidFill>
              </a:rPr>
              <a:t>1/3</a:t>
            </a:r>
            <a:endParaRPr lang="en-US" sz="1644" dirty="0">
              <a:solidFill>
                <a:srgbClr val="FF0000"/>
              </a:solidFill>
            </a:endParaRPr>
          </a:p>
        </p:txBody>
      </p:sp>
      <p:cxnSp>
        <p:nvCxnSpPr>
          <p:cNvPr id="199" name="Straight Connector 198"/>
          <p:cNvCxnSpPr/>
          <p:nvPr/>
        </p:nvCxnSpPr>
        <p:spPr>
          <a:xfrm flipH="1">
            <a:off x="13758671" y="855096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/>
          <p:cNvCxnSpPr/>
          <p:nvPr/>
        </p:nvCxnSpPr>
        <p:spPr>
          <a:xfrm flipH="1">
            <a:off x="14938647" y="869190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/>
          <p:cNvCxnSpPr/>
          <p:nvPr/>
        </p:nvCxnSpPr>
        <p:spPr>
          <a:xfrm flipH="1">
            <a:off x="14953870" y="3506205"/>
            <a:ext cx="209956" cy="18754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Right Arrow 201"/>
          <p:cNvSpPr/>
          <p:nvPr/>
        </p:nvSpPr>
        <p:spPr>
          <a:xfrm>
            <a:off x="12056923" y="2097079"/>
            <a:ext cx="1464727" cy="809577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03" name="TextBox 202"/>
          <p:cNvSpPr txBox="1"/>
          <p:nvPr/>
        </p:nvSpPr>
        <p:spPr>
          <a:xfrm>
            <a:off x="12047277" y="1307561"/>
            <a:ext cx="1134148" cy="10671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50" b="1" dirty="0"/>
              <a:t>Stacking</a:t>
            </a:r>
          </a:p>
          <a:p>
            <a:pPr algn="ctr"/>
            <a:r>
              <a:rPr lang="en-US" sz="2050" i="1" baseline="30000" dirty="0"/>
              <a:t>N</a:t>
            </a:r>
            <a:r>
              <a:rPr lang="en-US" sz="2050" i="1" baseline="16000" dirty="0"/>
              <a:t>c</a:t>
            </a:r>
            <a:r>
              <a:rPr lang="en-US" sz="2050" i="1" dirty="0"/>
              <a:t>C</a:t>
            </a:r>
            <a:r>
              <a:rPr lang="en-US" sz="2050" i="1" baseline="-25000" dirty="0"/>
              <a:t>4</a:t>
            </a:r>
            <a:r>
              <a:rPr lang="en-US" sz="2050" i="1" dirty="0"/>
              <a:t> </a:t>
            </a:r>
          </a:p>
          <a:p>
            <a:pPr algn="ctr"/>
            <a:r>
              <a:rPr lang="en-US" sz="2050" dirty="0"/>
              <a:t>matrices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3638784" y="2082438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4021396" y="2082438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4405721" y="2081827"/>
            <a:ext cx="285233" cy="322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6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41" name="Trapezoid 40"/>
          <p:cNvSpPr/>
          <p:nvPr/>
        </p:nvSpPr>
        <p:spPr>
          <a:xfrm rot="5400000">
            <a:off x="2989794" y="5480864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212" name="Trapezoid 211"/>
          <p:cNvSpPr/>
          <p:nvPr/>
        </p:nvSpPr>
        <p:spPr>
          <a:xfrm rot="16200000">
            <a:off x="5216905" y="5477988"/>
            <a:ext cx="2176593" cy="1839673"/>
          </a:xfrm>
          <a:prstGeom prst="trapezoid">
            <a:avLst>
              <a:gd name="adj" fmla="val 30319"/>
            </a:avLst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69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sp>
        <p:nvSpPr>
          <p:cNvPr id="42" name="Rectangle 41"/>
          <p:cNvSpPr/>
          <p:nvPr/>
        </p:nvSpPr>
        <p:spPr>
          <a:xfrm>
            <a:off x="5058693" y="5879191"/>
            <a:ext cx="269534" cy="104185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cxnSp>
        <p:nvCxnSpPr>
          <p:cNvPr id="213" name="Straight Arrow Connector 212"/>
          <p:cNvCxnSpPr/>
          <p:nvPr/>
        </p:nvCxnSpPr>
        <p:spPr>
          <a:xfrm>
            <a:off x="3158243" y="5138262"/>
            <a:ext cx="1900450" cy="583188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213"/>
          <p:cNvSpPr txBox="1"/>
          <p:nvPr/>
        </p:nvSpPr>
        <p:spPr>
          <a:xfrm rot="995966">
            <a:off x="3472074" y="5009815"/>
            <a:ext cx="1439208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E</a:t>
            </a:r>
            <a:r>
              <a:rPr lang="en-US" sz="2050" dirty="0"/>
              <a:t> FC layers</a:t>
            </a:r>
          </a:p>
        </p:txBody>
      </p:sp>
      <p:cxnSp>
        <p:nvCxnSpPr>
          <p:cNvPr id="215" name="Straight Arrow Connector 214"/>
          <p:cNvCxnSpPr/>
          <p:nvPr/>
        </p:nvCxnSpPr>
        <p:spPr>
          <a:xfrm flipV="1">
            <a:off x="5377526" y="5148567"/>
            <a:ext cx="1841258" cy="555022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TextBox 215"/>
          <p:cNvSpPr txBox="1"/>
          <p:nvPr/>
        </p:nvSpPr>
        <p:spPr>
          <a:xfrm rot="20572771">
            <a:off x="5533188" y="4996995"/>
            <a:ext cx="1462264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i="1" dirty="0"/>
              <a:t>K</a:t>
            </a:r>
            <a:r>
              <a:rPr lang="en-US" sz="2050" i="1" baseline="-25000" dirty="0"/>
              <a:t>D</a:t>
            </a:r>
            <a:r>
              <a:rPr lang="en-US" sz="2050" dirty="0"/>
              <a:t> FC layers</a:t>
            </a:r>
          </a:p>
        </p:txBody>
      </p:sp>
      <p:sp>
        <p:nvSpPr>
          <p:cNvPr id="52" name="TextBox 51"/>
          <p:cNvSpPr txBox="1"/>
          <p:nvPr/>
        </p:nvSpPr>
        <p:spPr>
          <a:xfrm rot="20597095">
            <a:off x="3524750" y="7203860"/>
            <a:ext cx="1100749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Encoder</a:t>
            </a:r>
          </a:p>
        </p:txBody>
      </p:sp>
      <p:sp>
        <p:nvSpPr>
          <p:cNvPr id="217" name="TextBox 216"/>
          <p:cNvSpPr txBox="1"/>
          <p:nvPr/>
        </p:nvSpPr>
        <p:spPr>
          <a:xfrm rot="1022148">
            <a:off x="5720030" y="7197448"/>
            <a:ext cx="1130392" cy="418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50" b="1" dirty="0"/>
              <a:t>Decoder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67533" y="6856905"/>
            <a:ext cx="477914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>
                <a:solidFill>
                  <a:srgbClr val="0070C0"/>
                </a:solidFill>
              </a:rPr>
              <a:t>h</a:t>
            </a:r>
            <a:r>
              <a:rPr lang="en-US" sz="2876" b="1" i="1" baseline="-25000" dirty="0" err="1">
                <a:solidFill>
                  <a:srgbClr val="0070C0"/>
                </a:solidFill>
              </a:rPr>
              <a:t>r</a:t>
            </a:r>
            <a:endParaRPr lang="en-US" sz="3287" b="1" i="1" baseline="-25000" dirty="0">
              <a:solidFill>
                <a:srgbClr val="0070C0"/>
              </a:solidFill>
            </a:endParaRPr>
          </a:p>
        </p:txBody>
      </p:sp>
      <p:cxnSp>
        <p:nvCxnSpPr>
          <p:cNvPr id="36" name="Elbow Connector 35"/>
          <p:cNvCxnSpPr>
            <a:stCxn id="122" idx="2"/>
            <a:endCxn id="41" idx="2"/>
          </p:cNvCxnSpPr>
          <p:nvPr/>
        </p:nvCxnSpPr>
        <p:spPr>
          <a:xfrm rot="16200000" flipH="1">
            <a:off x="1108896" y="4351342"/>
            <a:ext cx="1881359" cy="2217357"/>
          </a:xfrm>
          <a:prstGeom prst="bentConnector2">
            <a:avLst/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243038" y="5206090"/>
            <a:ext cx="1514197" cy="11464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flatten</a:t>
            </a:r>
            <a:r>
              <a:rPr lang="en-US" sz="2050" dirty="0"/>
              <a:t> </a:t>
            </a:r>
            <a:r>
              <a:rPr lang="en-US" sz="2400" b="1" i="1" dirty="0"/>
              <a:t>X (</a:t>
            </a:r>
            <a:r>
              <a:rPr lang="en-US" sz="2400" b="1" i="1" dirty="0" err="1"/>
              <a:t>i</a:t>
            </a:r>
            <a:r>
              <a:rPr lang="en-US" sz="2400" b="1" i="1" dirty="0"/>
              <a:t>)</a:t>
            </a:r>
            <a:r>
              <a:rPr lang="en-US" sz="2050" dirty="0"/>
              <a:t> </a:t>
            </a:r>
          </a:p>
          <a:p>
            <a:pPr algn="ctr"/>
            <a:r>
              <a:rPr lang="en-US" sz="2000" dirty="0"/>
              <a:t>to generate </a:t>
            </a:r>
          </a:p>
          <a:p>
            <a:pPr algn="ctr"/>
            <a:r>
              <a:rPr lang="en-US" sz="2000" dirty="0"/>
              <a:t>the input </a:t>
            </a:r>
            <a:r>
              <a:rPr lang="en-US" sz="2400" b="1" i="1" dirty="0" err="1"/>
              <a:t>x</a:t>
            </a:r>
            <a:r>
              <a:rPr lang="en-US" sz="2400" b="1" i="1" baseline="-25000" dirty="0" err="1"/>
              <a:t>r</a:t>
            </a:r>
            <a:endParaRPr lang="en-US" sz="2050" b="1" i="1" baseline="-25000" dirty="0"/>
          </a:p>
        </p:txBody>
      </p:sp>
      <p:cxnSp>
        <p:nvCxnSpPr>
          <p:cNvPr id="11" name="Straight Connector 10"/>
          <p:cNvCxnSpPr>
            <a:stCxn id="212" idx="2"/>
            <a:endCxn id="194" idx="1"/>
          </p:cNvCxnSpPr>
          <p:nvPr/>
        </p:nvCxnSpPr>
        <p:spPr>
          <a:xfrm>
            <a:off x="7225035" y="6397824"/>
            <a:ext cx="1380408" cy="2399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TextBox 192"/>
          <p:cNvSpPr txBox="1"/>
          <p:nvPr/>
        </p:nvSpPr>
        <p:spPr>
          <a:xfrm rot="16200000">
            <a:off x="13175398" y="5264827"/>
            <a:ext cx="1652179" cy="5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76" b="1" i="1" dirty="0" err="1"/>
              <a:t>Q</a:t>
            </a:r>
            <a:r>
              <a:rPr lang="en-US" sz="2876" b="1" i="1" baseline="-25000" dirty="0" err="1"/>
              <a:t>stacked</a:t>
            </a:r>
            <a:r>
              <a:rPr lang="en-US" sz="2876" b="1" i="1" dirty="0"/>
              <a:t> (</a:t>
            </a:r>
            <a:r>
              <a:rPr lang="en-US" sz="2876" b="1" i="1" dirty="0" err="1"/>
              <a:t>i</a:t>
            </a:r>
            <a:r>
              <a:rPr lang="en-US" sz="2876" b="1" i="1" dirty="0"/>
              <a:t>)</a:t>
            </a:r>
          </a:p>
        </p:txBody>
      </p:sp>
      <p:sp>
        <p:nvSpPr>
          <p:cNvPr id="30" name="Snip Same Side Corner Rectangle 29"/>
          <p:cNvSpPr/>
          <p:nvPr/>
        </p:nvSpPr>
        <p:spPr>
          <a:xfrm rot="10800000">
            <a:off x="11213717" y="5782066"/>
            <a:ext cx="2201919" cy="1243389"/>
          </a:xfrm>
          <a:prstGeom prst="snip2SameRect">
            <a:avLst/>
          </a:prstGeom>
          <a:solidFill>
            <a:schemeClr val="bg1"/>
          </a:solidFill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06" name="Elbow Connector 205"/>
          <p:cNvCxnSpPr>
            <a:stCxn id="188" idx="2"/>
            <a:endCxn id="30" idx="2"/>
          </p:cNvCxnSpPr>
          <p:nvPr/>
        </p:nvCxnSpPr>
        <p:spPr>
          <a:xfrm rot="5400000">
            <a:off x="12937583" y="4997399"/>
            <a:ext cx="1884412" cy="928311"/>
          </a:xfrm>
          <a:prstGeom prst="bentConnector2">
            <a:avLst/>
          </a:prstGeom>
          <a:ln w="57150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1256351" y="5875356"/>
            <a:ext cx="2130327" cy="1013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Cross-entropy loss</a:t>
            </a:r>
          </a:p>
          <a:p>
            <a:pPr algn="ctr"/>
            <a:r>
              <a:rPr lang="en-US" dirty="0"/>
              <a:t>(as reconstruction</a:t>
            </a:r>
          </a:p>
          <a:p>
            <a:pPr algn="ctr"/>
            <a:r>
              <a:rPr lang="en-US" dirty="0"/>
              <a:t> loss)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8605446" y="5077114"/>
            <a:ext cx="1204029" cy="264621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50"/>
          </a:p>
        </p:txBody>
      </p:sp>
      <p:grpSp>
        <p:nvGrpSpPr>
          <p:cNvPr id="195" name="Group 194"/>
          <p:cNvGrpSpPr/>
          <p:nvPr/>
        </p:nvGrpSpPr>
        <p:grpSpPr>
          <a:xfrm>
            <a:off x="8644381" y="5116256"/>
            <a:ext cx="1122885" cy="327607"/>
            <a:chOff x="3824287" y="1995689"/>
            <a:chExt cx="1092993" cy="31888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04" name="Rectangle 203"/>
            <p:cNvSpPr/>
            <p:nvPr/>
          </p:nvSpPr>
          <p:spPr>
            <a:xfrm>
              <a:off x="3824287" y="1995689"/>
              <a:ext cx="1092993" cy="318886"/>
            </a:xfrm>
            <a:prstGeom prst="rect">
              <a:avLst/>
            </a:prstGeom>
            <a:grpFill/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207" name="Straight Connector 206"/>
            <p:cNvCxnSpPr/>
            <p:nvPr/>
          </p:nvCxnSpPr>
          <p:spPr>
            <a:xfrm flipH="1">
              <a:off x="4179094" y="20169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/>
          </p:nvCxnSpPr>
          <p:spPr>
            <a:xfrm>
              <a:off x="4555331" y="20169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8" name="Group 217"/>
          <p:cNvGrpSpPr/>
          <p:nvPr/>
        </p:nvGrpSpPr>
        <p:grpSpPr>
          <a:xfrm>
            <a:off x="8644380" y="6750750"/>
            <a:ext cx="1122885" cy="327607"/>
            <a:chOff x="3976687" y="2148089"/>
            <a:chExt cx="1092993" cy="318886"/>
          </a:xfrm>
          <a:solidFill>
            <a:srgbClr val="FEE8E8"/>
          </a:solidFill>
        </p:grpSpPr>
        <p:sp>
          <p:nvSpPr>
            <p:cNvPr id="219" name="Rectangle 218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chemeClr val="tx1"/>
                </a:solidFill>
              </a:endParaRPr>
            </a:p>
          </p:txBody>
        </p:sp>
        <p:cxnSp>
          <p:nvCxnSpPr>
            <p:cNvPr id="220" name="Straight Connector 219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2" name="Straight Connector 221"/>
          <p:cNvCxnSpPr/>
          <p:nvPr/>
        </p:nvCxnSpPr>
        <p:spPr>
          <a:xfrm>
            <a:off x="9215595" y="5557378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/>
          <p:cNvCxnSpPr/>
          <p:nvPr/>
        </p:nvCxnSpPr>
        <p:spPr>
          <a:xfrm>
            <a:off x="9205810" y="6366955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/>
          <p:cNvCxnSpPr/>
          <p:nvPr/>
        </p:nvCxnSpPr>
        <p:spPr>
          <a:xfrm>
            <a:off x="9204584" y="7185991"/>
            <a:ext cx="0" cy="290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224"/>
          <p:cNvSpPr txBox="1"/>
          <p:nvPr/>
        </p:nvSpPr>
        <p:spPr>
          <a:xfrm>
            <a:off x="8624986" y="5121757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0.2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9003624" y="5122368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0.7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9368899" y="5121757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8310197" y="7654263"/>
            <a:ext cx="2169184" cy="4078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 err="1"/>
              <a:t>i</a:t>
            </a:r>
            <a:r>
              <a:rPr lang="en-US" sz="2000" dirty="0" err="1"/>
              <a:t>-th</a:t>
            </a:r>
            <a:r>
              <a:rPr lang="en-US" sz="2000" dirty="0"/>
              <a:t> output </a:t>
            </a:r>
            <a:r>
              <a:rPr lang="en-US" sz="2050" b="1" i="1" dirty="0" err="1"/>
              <a:t>Q</a:t>
            </a:r>
            <a:r>
              <a:rPr lang="en-US" sz="2050" b="1" i="1" baseline="-25000" dirty="0" err="1"/>
              <a:t>pred</a:t>
            </a:r>
            <a:r>
              <a:rPr lang="en-US" sz="2050" b="1" i="1" dirty="0"/>
              <a:t> (</a:t>
            </a:r>
            <a:r>
              <a:rPr lang="en-US" sz="2050" b="1" i="1" dirty="0" err="1"/>
              <a:t>i</a:t>
            </a:r>
            <a:r>
              <a:rPr lang="en-US" sz="2050" b="1" i="1" dirty="0"/>
              <a:t>)</a:t>
            </a:r>
          </a:p>
        </p:txBody>
      </p:sp>
      <p:grpSp>
        <p:nvGrpSpPr>
          <p:cNvPr id="229" name="Group 228"/>
          <p:cNvGrpSpPr/>
          <p:nvPr/>
        </p:nvGrpSpPr>
        <p:grpSpPr>
          <a:xfrm>
            <a:off x="8644380" y="5944943"/>
            <a:ext cx="1122885" cy="327607"/>
            <a:chOff x="3976687" y="2148089"/>
            <a:chExt cx="1092993" cy="31888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30" name="Rectangle 229"/>
            <p:cNvSpPr/>
            <p:nvPr/>
          </p:nvSpPr>
          <p:spPr>
            <a:xfrm>
              <a:off x="3976687" y="2148089"/>
              <a:ext cx="1092993" cy="318886"/>
            </a:xfrm>
            <a:prstGeom prst="rect">
              <a:avLst/>
            </a:prstGeom>
            <a:grp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3941" tIns="46970" rIns="93941" bIns="4697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33" dirty="0">
                <a:solidFill>
                  <a:srgbClr val="CE0C0C"/>
                </a:solidFill>
              </a:endParaRPr>
            </a:p>
          </p:txBody>
        </p:sp>
        <p:cxnSp>
          <p:nvCxnSpPr>
            <p:cNvPr id="231" name="Straight Connector 230"/>
            <p:cNvCxnSpPr/>
            <p:nvPr/>
          </p:nvCxnSpPr>
          <p:spPr>
            <a:xfrm flipH="1">
              <a:off x="4331494" y="2169316"/>
              <a:ext cx="2381" cy="278807"/>
            </a:xfrm>
            <a:prstGeom prst="line">
              <a:avLst/>
            </a:prstGeom>
            <a:grpFill/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>
              <a:off x="4707731" y="2169316"/>
              <a:ext cx="0" cy="278807"/>
            </a:xfrm>
            <a:prstGeom prst="line">
              <a:avLst/>
            </a:prstGeom>
            <a:grpFill/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8573134" y="5950310"/>
            <a:ext cx="510076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0.15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4" name="TextBox 233"/>
          <p:cNvSpPr txBox="1"/>
          <p:nvPr/>
        </p:nvSpPr>
        <p:spPr>
          <a:xfrm>
            <a:off x="8955484" y="5955202"/>
            <a:ext cx="510076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0.15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9371840" y="5962581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0.7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8623138" y="6752193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0.6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7" name="TextBox 236"/>
          <p:cNvSpPr txBox="1"/>
          <p:nvPr/>
        </p:nvSpPr>
        <p:spPr>
          <a:xfrm>
            <a:off x="8995961" y="6757085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0.2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8" name="TextBox 237"/>
          <p:cNvSpPr txBox="1"/>
          <p:nvPr/>
        </p:nvSpPr>
        <p:spPr>
          <a:xfrm>
            <a:off x="9373763" y="6749950"/>
            <a:ext cx="417102" cy="313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38" dirty="0">
                <a:solidFill>
                  <a:schemeClr val="accent5">
                    <a:lumMod val="75000"/>
                  </a:schemeClr>
                </a:solidFill>
              </a:rPr>
              <a:t>0.1</a:t>
            </a:r>
            <a:endParaRPr lang="en-US" sz="1644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39" name="Straight Connector 238"/>
          <p:cNvCxnSpPr>
            <a:stCxn id="194" idx="3"/>
            <a:endCxn id="30" idx="0"/>
          </p:cNvCxnSpPr>
          <p:nvPr/>
        </p:nvCxnSpPr>
        <p:spPr>
          <a:xfrm>
            <a:off x="9809472" y="6400223"/>
            <a:ext cx="1404242" cy="3537"/>
          </a:xfrm>
          <a:prstGeom prst="line">
            <a:avLst/>
          </a:prstGeom>
          <a:ln w="57150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1151" y="5275195"/>
            <a:ext cx="108876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split</a:t>
            </a:r>
            <a:r>
              <a:rPr lang="en-US" sz="2000" dirty="0"/>
              <a:t> and</a:t>
            </a:r>
          </a:p>
          <a:p>
            <a:pPr algn="ctr"/>
            <a:r>
              <a:rPr lang="en-US" sz="2000" dirty="0"/>
              <a:t>apply</a:t>
            </a:r>
          </a:p>
          <a:p>
            <a:pPr algn="ctr"/>
            <a:r>
              <a:rPr lang="en-US" sz="2000" b="1" dirty="0" err="1"/>
              <a:t>softmax</a:t>
            </a:r>
            <a:endParaRPr lang="en-US" sz="2050" b="1" dirty="0"/>
          </a:p>
        </p:txBody>
      </p:sp>
    </p:spTree>
    <p:extLst>
      <p:ext uri="{BB962C8B-B14F-4D97-AF65-F5344CB8AC3E}">
        <p14:creationId xmlns:p14="http://schemas.microsoft.com/office/powerpoint/2010/main" val="3070213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flipH="1">
            <a:off x="3171824" y="285753"/>
            <a:ext cx="4886326" cy="3057525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8058153" y="285753"/>
            <a:ext cx="2502535" cy="1720215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4212435" y="2662240"/>
            <a:ext cx="814387" cy="714375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5372104" y="1962150"/>
            <a:ext cx="1657349" cy="1414462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>
            <a:off x="8782053" y="1990728"/>
            <a:ext cx="1793875" cy="1443037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2721835" y="3343278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92" name="Oval 91"/>
          <p:cNvSpPr/>
          <p:nvPr/>
        </p:nvSpPr>
        <p:spPr>
          <a:xfrm>
            <a:off x="4591181" y="3376615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93" name="Oval 92"/>
          <p:cNvSpPr/>
          <p:nvPr/>
        </p:nvSpPr>
        <p:spPr>
          <a:xfrm>
            <a:off x="6638991" y="3395665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94" name="Oval 93"/>
          <p:cNvSpPr/>
          <p:nvPr/>
        </p:nvSpPr>
        <p:spPr>
          <a:xfrm>
            <a:off x="8391591" y="3433765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4</a:t>
            </a:r>
          </a:p>
        </p:txBody>
      </p:sp>
      <p:sp>
        <p:nvSpPr>
          <p:cNvPr id="95" name="Oval 94"/>
          <p:cNvSpPr/>
          <p:nvPr/>
        </p:nvSpPr>
        <p:spPr>
          <a:xfrm>
            <a:off x="12201591" y="3411076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</a:p>
        </p:txBody>
      </p:sp>
      <p:cxnSp>
        <p:nvCxnSpPr>
          <p:cNvPr id="96" name="Straight Connector 95"/>
          <p:cNvCxnSpPr>
            <a:endCxn id="95" idx="0"/>
          </p:cNvCxnSpPr>
          <p:nvPr/>
        </p:nvCxnSpPr>
        <p:spPr>
          <a:xfrm>
            <a:off x="10560688" y="2005965"/>
            <a:ext cx="2031365" cy="1405108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>
            <a:off x="1662750" y="5718968"/>
            <a:ext cx="814387" cy="714375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2822419" y="5018878"/>
            <a:ext cx="1657349" cy="1414462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Oval 104"/>
          <p:cNvSpPr/>
          <p:nvPr/>
        </p:nvSpPr>
        <p:spPr>
          <a:xfrm>
            <a:off x="172150" y="6400006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106" name="Oval 105"/>
          <p:cNvSpPr/>
          <p:nvPr/>
        </p:nvSpPr>
        <p:spPr>
          <a:xfrm>
            <a:off x="2041496" y="6433343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107" name="Oval 106"/>
          <p:cNvSpPr/>
          <p:nvPr/>
        </p:nvSpPr>
        <p:spPr>
          <a:xfrm>
            <a:off x="4148904" y="6400005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3</a:t>
            </a:r>
          </a:p>
        </p:txBody>
      </p:sp>
      <p:cxnSp>
        <p:nvCxnSpPr>
          <p:cNvPr id="108" name="Straight Connector 107"/>
          <p:cNvCxnSpPr>
            <a:endCxn id="105" idx="0"/>
          </p:cNvCxnSpPr>
          <p:nvPr/>
        </p:nvCxnSpPr>
        <p:spPr>
          <a:xfrm flipH="1">
            <a:off x="562609" y="4419863"/>
            <a:ext cx="3207546" cy="1980143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>
            <a:endCxn id="115" idx="0"/>
          </p:cNvCxnSpPr>
          <p:nvPr/>
        </p:nvCxnSpPr>
        <p:spPr>
          <a:xfrm>
            <a:off x="3770155" y="4419863"/>
            <a:ext cx="2513328" cy="2014277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Oval 114"/>
          <p:cNvSpPr/>
          <p:nvPr/>
        </p:nvSpPr>
        <p:spPr>
          <a:xfrm>
            <a:off x="5893024" y="6434140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4</a:t>
            </a:r>
          </a:p>
        </p:txBody>
      </p:sp>
      <p:grpSp>
        <p:nvGrpSpPr>
          <p:cNvPr id="121" name="Group 120"/>
          <p:cNvGrpSpPr/>
          <p:nvPr/>
        </p:nvGrpSpPr>
        <p:grpSpPr>
          <a:xfrm>
            <a:off x="11615899" y="1145860"/>
            <a:ext cx="780923" cy="1266207"/>
            <a:chOff x="11185905" y="163229"/>
            <a:chExt cx="780923" cy="1266207"/>
          </a:xfrm>
        </p:grpSpPr>
        <p:sp>
          <p:nvSpPr>
            <p:cNvPr id="119" name="Oval 118"/>
            <p:cNvSpPr/>
            <p:nvPr/>
          </p:nvSpPr>
          <p:spPr>
            <a:xfrm>
              <a:off x="11185905" y="733579"/>
              <a:ext cx="780923" cy="695857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600" b="1" i="1" dirty="0">
                  <a:solidFill>
                    <a:srgbClr val="FF0000"/>
                  </a:solidFill>
                </a:rPr>
                <a:t>t</a:t>
              </a:r>
              <a:r>
                <a:rPr lang="en-US" sz="3600" b="1" i="1" baseline="-25000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11365411" y="163229"/>
              <a:ext cx="42191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FF0000"/>
                  </a:solidFill>
                </a:rPr>
                <a:t>?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122" name="TextBox 121"/>
          <p:cNvSpPr txBox="1"/>
          <p:nvPr/>
        </p:nvSpPr>
        <p:spPr>
          <a:xfrm>
            <a:off x="2056544" y="7264444"/>
            <a:ext cx="25971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i="1" dirty="0"/>
              <a:t>t1</a:t>
            </a:r>
            <a:r>
              <a:rPr lang="en-US" sz="3600" dirty="0"/>
              <a:t>,</a:t>
            </a:r>
            <a:r>
              <a:rPr lang="en-US" sz="3600" i="1" dirty="0"/>
              <a:t> t2</a:t>
            </a:r>
            <a:r>
              <a:rPr lang="en-US" sz="3600" dirty="0"/>
              <a:t> | </a:t>
            </a:r>
            <a:r>
              <a:rPr lang="en-US" sz="3600" i="1" dirty="0"/>
              <a:t>t3</a:t>
            </a:r>
            <a:r>
              <a:rPr lang="en-US" sz="3600" dirty="0"/>
              <a:t>, </a:t>
            </a:r>
            <a:r>
              <a:rPr lang="en-US" sz="3600" i="1" dirty="0"/>
              <a:t>t4</a:t>
            </a:r>
          </a:p>
        </p:txBody>
      </p:sp>
    </p:spTree>
    <p:extLst>
      <p:ext uri="{BB962C8B-B14F-4D97-AF65-F5344CB8AC3E}">
        <p14:creationId xmlns:p14="http://schemas.microsoft.com/office/powerpoint/2010/main" val="3490686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flipH="1">
            <a:off x="3171824" y="285753"/>
            <a:ext cx="4886326" cy="3057525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8058153" y="285753"/>
            <a:ext cx="2502535" cy="1720215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4212435" y="2662240"/>
            <a:ext cx="814387" cy="714375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5372104" y="1962150"/>
            <a:ext cx="1657349" cy="1414462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>
            <a:off x="8782053" y="1990728"/>
            <a:ext cx="1793875" cy="1443037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2721835" y="3343278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92" name="Oval 91"/>
          <p:cNvSpPr/>
          <p:nvPr/>
        </p:nvSpPr>
        <p:spPr>
          <a:xfrm>
            <a:off x="4591181" y="3376615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93" name="Oval 92"/>
          <p:cNvSpPr/>
          <p:nvPr/>
        </p:nvSpPr>
        <p:spPr>
          <a:xfrm>
            <a:off x="6638991" y="3395665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94" name="Oval 93"/>
          <p:cNvSpPr/>
          <p:nvPr/>
        </p:nvSpPr>
        <p:spPr>
          <a:xfrm>
            <a:off x="8391591" y="3433765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4</a:t>
            </a:r>
          </a:p>
        </p:txBody>
      </p:sp>
      <p:sp>
        <p:nvSpPr>
          <p:cNvPr id="95" name="Oval 94"/>
          <p:cNvSpPr/>
          <p:nvPr/>
        </p:nvSpPr>
        <p:spPr>
          <a:xfrm>
            <a:off x="12201591" y="3411076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</a:p>
        </p:txBody>
      </p:sp>
      <p:cxnSp>
        <p:nvCxnSpPr>
          <p:cNvPr id="96" name="Straight Connector 95"/>
          <p:cNvCxnSpPr>
            <a:endCxn id="95" idx="0"/>
          </p:cNvCxnSpPr>
          <p:nvPr/>
        </p:nvCxnSpPr>
        <p:spPr>
          <a:xfrm>
            <a:off x="10560688" y="2005965"/>
            <a:ext cx="2031365" cy="1405108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flipV="1">
            <a:off x="2352580" y="6051478"/>
            <a:ext cx="780923" cy="4763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Oval 104"/>
          <p:cNvSpPr/>
          <p:nvPr/>
        </p:nvSpPr>
        <p:spPr>
          <a:xfrm>
            <a:off x="1250917" y="5114887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106" name="Oval 105"/>
          <p:cNvSpPr/>
          <p:nvPr/>
        </p:nvSpPr>
        <p:spPr>
          <a:xfrm>
            <a:off x="1314481" y="6334128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2</a:t>
            </a:r>
          </a:p>
        </p:txBody>
      </p:sp>
      <p:grpSp>
        <p:nvGrpSpPr>
          <p:cNvPr id="121" name="Group 120"/>
          <p:cNvGrpSpPr/>
          <p:nvPr/>
        </p:nvGrpSpPr>
        <p:grpSpPr>
          <a:xfrm>
            <a:off x="11615899" y="1145860"/>
            <a:ext cx="780923" cy="1266207"/>
            <a:chOff x="11185905" y="163229"/>
            <a:chExt cx="780923" cy="1266207"/>
          </a:xfrm>
        </p:grpSpPr>
        <p:sp>
          <p:nvSpPr>
            <p:cNvPr id="119" name="Oval 118"/>
            <p:cNvSpPr/>
            <p:nvPr/>
          </p:nvSpPr>
          <p:spPr>
            <a:xfrm>
              <a:off x="11185905" y="733579"/>
              <a:ext cx="780923" cy="695857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600" b="1" i="1" dirty="0">
                  <a:solidFill>
                    <a:srgbClr val="FF0000"/>
                  </a:solidFill>
                </a:rPr>
                <a:t>t</a:t>
              </a:r>
              <a:r>
                <a:rPr lang="en-US" sz="3600" b="1" i="1" baseline="-25000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11365411" y="163229"/>
              <a:ext cx="42191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FF0000"/>
                  </a:solidFill>
                </a:rPr>
                <a:t>?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122" name="TextBox 121"/>
          <p:cNvSpPr txBox="1"/>
          <p:nvPr/>
        </p:nvSpPr>
        <p:spPr>
          <a:xfrm>
            <a:off x="1543081" y="7211797"/>
            <a:ext cx="22829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i="1" dirty="0"/>
              <a:t>t</a:t>
            </a:r>
            <a:r>
              <a:rPr lang="en-US" sz="3600" i="1" baseline="-25000" dirty="0"/>
              <a:t>1</a:t>
            </a:r>
            <a:r>
              <a:rPr lang="en-US" sz="3600" dirty="0"/>
              <a:t>,</a:t>
            </a:r>
            <a:r>
              <a:rPr lang="en-US" sz="3600" i="1" dirty="0"/>
              <a:t> t</a:t>
            </a:r>
            <a:r>
              <a:rPr lang="en-US" sz="3600" i="1" baseline="-25000" dirty="0"/>
              <a:t>2</a:t>
            </a:r>
            <a:r>
              <a:rPr lang="en-US" sz="3600" dirty="0"/>
              <a:t> | </a:t>
            </a:r>
            <a:r>
              <a:rPr lang="en-US" sz="3600" i="1" dirty="0"/>
              <a:t>t</a:t>
            </a:r>
            <a:r>
              <a:rPr lang="en-US" sz="3600" i="1" baseline="-25000" dirty="0"/>
              <a:t>3</a:t>
            </a:r>
            <a:r>
              <a:rPr lang="en-US" sz="3600" dirty="0"/>
              <a:t>, </a:t>
            </a:r>
            <a:r>
              <a:rPr lang="en-US" sz="3600" i="1" dirty="0"/>
              <a:t>t</a:t>
            </a:r>
            <a:r>
              <a:rPr lang="en-US" sz="3600" i="1" baseline="-25000" dirty="0"/>
              <a:t>4</a:t>
            </a:r>
          </a:p>
        </p:txBody>
      </p:sp>
      <p:sp>
        <p:nvSpPr>
          <p:cNvPr id="27" name="Oval 26"/>
          <p:cNvSpPr/>
          <p:nvPr/>
        </p:nvSpPr>
        <p:spPr>
          <a:xfrm>
            <a:off x="3355213" y="5114887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28" name="Oval 27"/>
          <p:cNvSpPr/>
          <p:nvPr/>
        </p:nvSpPr>
        <p:spPr>
          <a:xfrm>
            <a:off x="3355213" y="6334128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4</a:t>
            </a:r>
          </a:p>
        </p:txBody>
      </p:sp>
      <p:cxnSp>
        <p:nvCxnSpPr>
          <p:cNvPr id="37" name="Straight Connector 36"/>
          <p:cNvCxnSpPr>
            <a:stCxn id="105" idx="5"/>
          </p:cNvCxnSpPr>
          <p:nvPr/>
        </p:nvCxnSpPr>
        <p:spPr>
          <a:xfrm>
            <a:off x="1917473" y="5708835"/>
            <a:ext cx="435104" cy="351482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106" idx="7"/>
          </p:cNvCxnSpPr>
          <p:nvPr/>
        </p:nvCxnSpPr>
        <p:spPr>
          <a:xfrm flipV="1">
            <a:off x="1981037" y="6043987"/>
            <a:ext cx="349422" cy="392044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27" idx="3"/>
          </p:cNvCxnSpPr>
          <p:nvPr/>
        </p:nvCxnSpPr>
        <p:spPr>
          <a:xfrm flipH="1">
            <a:off x="3109688" y="5708835"/>
            <a:ext cx="359886" cy="335152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28" idx="1"/>
          </p:cNvCxnSpPr>
          <p:nvPr/>
        </p:nvCxnSpPr>
        <p:spPr>
          <a:xfrm flipH="1" flipV="1">
            <a:off x="3109688" y="6060317"/>
            <a:ext cx="359886" cy="375714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H="1">
            <a:off x="2333530" y="4137800"/>
            <a:ext cx="579171" cy="748594"/>
          </a:xfrm>
          <a:prstGeom prst="straightConnector1">
            <a:avLst/>
          </a:prstGeom>
          <a:ln w="76200"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 flipH="1">
            <a:off x="3619501" y="4091519"/>
            <a:ext cx="1013004" cy="693666"/>
          </a:xfrm>
          <a:prstGeom prst="straightConnector1">
            <a:avLst/>
          </a:prstGeom>
          <a:ln w="76200"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H="1">
            <a:off x="4591181" y="3832184"/>
            <a:ext cx="1830383" cy="860537"/>
          </a:xfrm>
          <a:prstGeom prst="straightConnector1">
            <a:avLst/>
          </a:prstGeom>
          <a:ln w="76200"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 flipH="1">
            <a:off x="5553899" y="3953410"/>
            <a:ext cx="2647129" cy="746053"/>
          </a:xfrm>
          <a:prstGeom prst="straightConnector1">
            <a:avLst/>
          </a:prstGeom>
          <a:ln w="76200"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5277265" y="5029441"/>
            <a:ext cx="819086" cy="23669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76" name="Elbow Connector 75"/>
          <p:cNvCxnSpPr/>
          <p:nvPr/>
        </p:nvCxnSpPr>
        <p:spPr>
          <a:xfrm flipV="1">
            <a:off x="3864042" y="5399478"/>
            <a:ext cx="1384651" cy="2265025"/>
          </a:xfrm>
          <a:prstGeom prst="bentConnector3">
            <a:avLst/>
          </a:prstGeom>
          <a:ln w="762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 flipV="1">
            <a:off x="5337179" y="5806695"/>
            <a:ext cx="695675" cy="4046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>
            <a:off x="5337179" y="6597388"/>
            <a:ext cx="692149" cy="0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6142514" y="5118889"/>
            <a:ext cx="20601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1</a:t>
            </a:r>
            <a:r>
              <a:rPr lang="en-US" sz="3200" dirty="0"/>
              <a:t>,</a:t>
            </a:r>
            <a:r>
              <a:rPr lang="en-US" sz="3200" i="1" dirty="0"/>
              <a:t> </a:t>
            </a: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2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200" dirty="0"/>
              <a:t>| </a:t>
            </a: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3</a:t>
            </a:r>
            <a:r>
              <a:rPr lang="en-US" sz="3200" dirty="0"/>
              <a:t>, </a:t>
            </a: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83682" y="5082682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endParaRPr lang="en-US" sz="4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5483682" y="588571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483682" y="6668354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142514" y="5936309"/>
            <a:ext cx="20601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/>
              <a:t>t</a:t>
            </a:r>
            <a:r>
              <a:rPr lang="en-US" sz="3200" i="1" baseline="-25000" dirty="0"/>
              <a:t>1</a:t>
            </a:r>
            <a:r>
              <a:rPr lang="en-US" sz="3200" dirty="0"/>
              <a:t>,</a:t>
            </a:r>
            <a:r>
              <a:rPr lang="en-US" sz="3200" i="1" dirty="0"/>
              <a:t> t</a:t>
            </a:r>
            <a:r>
              <a:rPr lang="en-US" sz="3200" i="1" baseline="-25000" dirty="0"/>
              <a:t>3</a:t>
            </a:r>
            <a:r>
              <a:rPr lang="en-US" sz="3200" dirty="0"/>
              <a:t> | </a:t>
            </a:r>
            <a:r>
              <a:rPr lang="en-US" sz="3200" i="1" dirty="0"/>
              <a:t>t</a:t>
            </a:r>
            <a:r>
              <a:rPr lang="en-US" sz="3200" i="1" baseline="-25000" dirty="0"/>
              <a:t>2</a:t>
            </a:r>
            <a:r>
              <a:rPr lang="en-US" sz="3200" dirty="0"/>
              <a:t>, </a:t>
            </a:r>
            <a:r>
              <a:rPr lang="en-US" sz="3200" i="1" dirty="0"/>
              <a:t>t</a:t>
            </a:r>
            <a:r>
              <a:rPr lang="en-US" sz="3200" i="1" baseline="-25000" dirty="0"/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142514" y="6732727"/>
            <a:ext cx="20601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/>
              <a:t>t</a:t>
            </a:r>
            <a:r>
              <a:rPr lang="en-US" sz="3200" i="1" baseline="-25000" dirty="0"/>
              <a:t>1</a:t>
            </a:r>
            <a:r>
              <a:rPr lang="en-US" sz="3200" dirty="0"/>
              <a:t>,</a:t>
            </a:r>
            <a:r>
              <a:rPr lang="en-US" sz="3200" i="1" dirty="0"/>
              <a:t> t</a:t>
            </a:r>
            <a:r>
              <a:rPr lang="en-US" sz="3200" i="1" baseline="-25000" dirty="0"/>
              <a:t>4</a:t>
            </a:r>
            <a:r>
              <a:rPr lang="en-US" sz="3200" dirty="0"/>
              <a:t> | </a:t>
            </a:r>
            <a:r>
              <a:rPr lang="en-US" sz="3200" i="1" dirty="0"/>
              <a:t>t</a:t>
            </a:r>
            <a:r>
              <a:rPr lang="en-US" sz="3200" i="1" baseline="-25000" dirty="0"/>
              <a:t>2</a:t>
            </a:r>
            <a:r>
              <a:rPr lang="en-US" sz="3200" dirty="0"/>
              <a:t>, </a:t>
            </a:r>
            <a:r>
              <a:rPr lang="en-US" sz="3200" i="1" dirty="0"/>
              <a:t>t</a:t>
            </a:r>
            <a:r>
              <a:rPr lang="en-US" sz="3200" i="1" baseline="-25000" dirty="0"/>
              <a:t>4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623613" y="4894105"/>
            <a:ext cx="819086" cy="2366938"/>
          </a:xfrm>
          <a:prstGeom prst="rect">
            <a:avLst/>
          </a:prstGeom>
          <a:solidFill>
            <a:srgbClr val="FEE8E8"/>
          </a:solidFill>
          <a:ln w="57150">
            <a:solidFill>
              <a:srgbClr val="CE0C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17" name="Straight Connector 116"/>
          <p:cNvCxnSpPr/>
          <p:nvPr/>
        </p:nvCxnSpPr>
        <p:spPr>
          <a:xfrm flipV="1">
            <a:off x="10665619" y="5671362"/>
            <a:ext cx="700880" cy="779"/>
          </a:xfrm>
          <a:prstGeom prst="line">
            <a:avLst/>
          </a:prstGeom>
          <a:ln w="57150">
            <a:solidFill>
              <a:srgbClr val="CE0C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10665619" y="6475876"/>
            <a:ext cx="700880" cy="0"/>
          </a:xfrm>
          <a:prstGeom prst="line">
            <a:avLst/>
          </a:prstGeom>
          <a:ln w="57150">
            <a:solidFill>
              <a:srgbClr val="CE0C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11490327" y="4983553"/>
            <a:ext cx="2098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1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,</a:t>
            </a: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 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2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| </a:t>
            </a: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3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,</a:t>
            </a:r>
            <a:r>
              <a:rPr lang="en-US" sz="3200" dirty="0"/>
              <a:t> </a:t>
            </a:r>
            <a:r>
              <a:rPr lang="en-US" sz="3600" b="1" i="1" dirty="0">
                <a:solidFill>
                  <a:srgbClr val="FF0000"/>
                </a:solidFill>
              </a:rPr>
              <a:t>t</a:t>
            </a:r>
            <a:r>
              <a:rPr lang="en-US" sz="3600" b="1" i="1" baseline="-25000" dirty="0">
                <a:solidFill>
                  <a:srgbClr val="FF0000"/>
                </a:solidFill>
              </a:rPr>
              <a:t>6</a:t>
            </a:r>
            <a:endParaRPr lang="en-US" sz="3200" b="1" i="1" baseline="-25000" dirty="0">
              <a:solidFill>
                <a:srgbClr val="FF0000"/>
              </a:solidFill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10619853" y="4945963"/>
            <a:ext cx="8306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A0000"/>
                </a:solidFill>
              </a:rPr>
              <a:t>1/3</a:t>
            </a:r>
            <a:endParaRPr lang="en-US" sz="4000" dirty="0">
              <a:solidFill>
                <a:srgbClr val="FA0000"/>
              </a:solidFill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10620483" y="5750381"/>
            <a:ext cx="8306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1/3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10620483" y="6533018"/>
            <a:ext cx="8306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1/3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11490327" y="5800973"/>
            <a:ext cx="2098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1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,</a:t>
            </a: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 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3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| </a:t>
            </a: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2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US" sz="3600" b="1" i="1" dirty="0">
                <a:solidFill>
                  <a:srgbClr val="FF0000"/>
                </a:solidFill>
              </a:rPr>
              <a:t>t</a:t>
            </a:r>
            <a:r>
              <a:rPr lang="en-US" sz="3600" b="1" i="1" baseline="-25000" dirty="0">
                <a:solidFill>
                  <a:srgbClr val="FF0000"/>
                </a:solidFill>
              </a:rPr>
              <a:t>6</a:t>
            </a:r>
            <a:endParaRPr lang="en-US" sz="3200" b="1" i="1" baseline="-25000" dirty="0">
              <a:solidFill>
                <a:srgbClr val="FF0000"/>
              </a:solidFill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11490327" y="6597391"/>
            <a:ext cx="21098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1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,</a:t>
            </a: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600" b="1" i="1" dirty="0">
                <a:solidFill>
                  <a:srgbClr val="FF0000"/>
                </a:solidFill>
              </a:rPr>
              <a:t>t</a:t>
            </a:r>
            <a:r>
              <a:rPr lang="en-US" sz="3600" b="1" i="1" baseline="-25000" dirty="0">
                <a:solidFill>
                  <a:srgbClr val="FF0000"/>
                </a:solidFill>
              </a:rPr>
              <a:t>6</a:t>
            </a:r>
            <a:r>
              <a:rPr lang="en-US" sz="3600" dirty="0"/>
              <a:t> 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| </a:t>
            </a: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2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74065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flipH="1">
            <a:off x="3171824" y="114301"/>
            <a:ext cx="4886326" cy="3057525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8058151" y="114301"/>
            <a:ext cx="2502535" cy="1720215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4212433" y="2490788"/>
            <a:ext cx="814387" cy="714375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5372102" y="1790700"/>
            <a:ext cx="1657349" cy="1414462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>
            <a:off x="8782051" y="1819276"/>
            <a:ext cx="1793875" cy="1443037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2721833" y="3171826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92" name="Oval 91"/>
          <p:cNvSpPr/>
          <p:nvPr/>
        </p:nvSpPr>
        <p:spPr>
          <a:xfrm>
            <a:off x="4591179" y="3205163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93" name="Oval 92"/>
          <p:cNvSpPr/>
          <p:nvPr/>
        </p:nvSpPr>
        <p:spPr>
          <a:xfrm>
            <a:off x="6638989" y="3224213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94" name="Oval 93"/>
          <p:cNvSpPr/>
          <p:nvPr/>
        </p:nvSpPr>
        <p:spPr>
          <a:xfrm>
            <a:off x="8391589" y="3262313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4</a:t>
            </a:r>
          </a:p>
        </p:txBody>
      </p:sp>
      <p:sp>
        <p:nvSpPr>
          <p:cNvPr id="95" name="Oval 94"/>
          <p:cNvSpPr/>
          <p:nvPr/>
        </p:nvSpPr>
        <p:spPr>
          <a:xfrm>
            <a:off x="12201589" y="3239624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</a:t>
            </a:r>
          </a:p>
        </p:txBody>
      </p:sp>
      <p:cxnSp>
        <p:nvCxnSpPr>
          <p:cNvPr id="96" name="Straight Connector 95"/>
          <p:cNvCxnSpPr>
            <a:endCxn id="95" idx="0"/>
          </p:cNvCxnSpPr>
          <p:nvPr/>
        </p:nvCxnSpPr>
        <p:spPr>
          <a:xfrm>
            <a:off x="10560686" y="1834515"/>
            <a:ext cx="2031365" cy="1405108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flipV="1">
            <a:off x="2352578" y="5880026"/>
            <a:ext cx="780923" cy="4763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Oval 104"/>
          <p:cNvSpPr/>
          <p:nvPr/>
        </p:nvSpPr>
        <p:spPr>
          <a:xfrm>
            <a:off x="1250915" y="4943435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106" name="Oval 105"/>
          <p:cNvSpPr/>
          <p:nvPr/>
        </p:nvSpPr>
        <p:spPr>
          <a:xfrm>
            <a:off x="1314479" y="6162676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2</a:t>
            </a:r>
          </a:p>
        </p:txBody>
      </p:sp>
      <p:grpSp>
        <p:nvGrpSpPr>
          <p:cNvPr id="121" name="Group 120"/>
          <p:cNvGrpSpPr/>
          <p:nvPr/>
        </p:nvGrpSpPr>
        <p:grpSpPr>
          <a:xfrm>
            <a:off x="11615897" y="974408"/>
            <a:ext cx="780923" cy="1266207"/>
            <a:chOff x="11185905" y="163229"/>
            <a:chExt cx="780923" cy="1266207"/>
          </a:xfrm>
        </p:grpSpPr>
        <p:sp>
          <p:nvSpPr>
            <p:cNvPr id="119" name="Oval 118"/>
            <p:cNvSpPr/>
            <p:nvPr/>
          </p:nvSpPr>
          <p:spPr>
            <a:xfrm>
              <a:off x="11185905" y="733579"/>
              <a:ext cx="780923" cy="695857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600" b="1" i="1" dirty="0">
                  <a:solidFill>
                    <a:srgbClr val="FF0000"/>
                  </a:solidFill>
                </a:rPr>
                <a:t>t</a:t>
              </a:r>
              <a:r>
                <a:rPr lang="en-US" sz="3600" b="1" i="1" baseline="-25000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11365411" y="163229"/>
              <a:ext cx="42191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>
                  <a:solidFill>
                    <a:srgbClr val="FF0000"/>
                  </a:solidFill>
                </a:rPr>
                <a:t>?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122" name="TextBox 121"/>
          <p:cNvSpPr txBox="1"/>
          <p:nvPr/>
        </p:nvSpPr>
        <p:spPr>
          <a:xfrm>
            <a:off x="1543079" y="7040345"/>
            <a:ext cx="22829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i="1" dirty="0"/>
              <a:t>t</a:t>
            </a:r>
            <a:r>
              <a:rPr lang="en-US" sz="3600" i="1" baseline="-25000" dirty="0"/>
              <a:t>1</a:t>
            </a:r>
            <a:r>
              <a:rPr lang="en-US" sz="3600" dirty="0"/>
              <a:t>,</a:t>
            </a:r>
            <a:r>
              <a:rPr lang="en-US" sz="3600" i="1" dirty="0"/>
              <a:t> t</a:t>
            </a:r>
            <a:r>
              <a:rPr lang="en-US" sz="3600" i="1" baseline="-25000" dirty="0"/>
              <a:t>2</a:t>
            </a:r>
            <a:r>
              <a:rPr lang="en-US" sz="3600" dirty="0"/>
              <a:t> | </a:t>
            </a:r>
            <a:r>
              <a:rPr lang="en-US" sz="3600" i="1" dirty="0"/>
              <a:t>t</a:t>
            </a:r>
            <a:r>
              <a:rPr lang="en-US" sz="3600" i="1" baseline="-25000" dirty="0"/>
              <a:t>3</a:t>
            </a:r>
            <a:r>
              <a:rPr lang="en-US" sz="3600" dirty="0"/>
              <a:t>, </a:t>
            </a:r>
            <a:r>
              <a:rPr lang="en-US" sz="3600" i="1" dirty="0"/>
              <a:t>t</a:t>
            </a:r>
            <a:r>
              <a:rPr lang="en-US" sz="3600" i="1" baseline="-25000" dirty="0"/>
              <a:t>4</a:t>
            </a:r>
          </a:p>
        </p:txBody>
      </p:sp>
      <p:sp>
        <p:nvSpPr>
          <p:cNvPr id="27" name="Oval 26"/>
          <p:cNvSpPr/>
          <p:nvPr/>
        </p:nvSpPr>
        <p:spPr>
          <a:xfrm>
            <a:off x="3355211" y="4943435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28" name="Oval 27"/>
          <p:cNvSpPr/>
          <p:nvPr/>
        </p:nvSpPr>
        <p:spPr>
          <a:xfrm>
            <a:off x="3355211" y="6162676"/>
            <a:ext cx="780923" cy="695857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i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r>
              <a:rPr lang="en-US" sz="3600" b="1" i="1" baseline="-25000" dirty="0">
                <a:solidFill>
                  <a:schemeClr val="accent1">
                    <a:lumMod val="50000"/>
                  </a:schemeClr>
                </a:solidFill>
              </a:rPr>
              <a:t>4</a:t>
            </a:r>
          </a:p>
        </p:txBody>
      </p:sp>
      <p:cxnSp>
        <p:nvCxnSpPr>
          <p:cNvPr id="37" name="Straight Connector 36"/>
          <p:cNvCxnSpPr>
            <a:stCxn id="105" idx="5"/>
          </p:cNvCxnSpPr>
          <p:nvPr/>
        </p:nvCxnSpPr>
        <p:spPr>
          <a:xfrm>
            <a:off x="1917473" y="5537385"/>
            <a:ext cx="435104" cy="351482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106" idx="7"/>
          </p:cNvCxnSpPr>
          <p:nvPr/>
        </p:nvCxnSpPr>
        <p:spPr>
          <a:xfrm flipV="1">
            <a:off x="1981037" y="5872537"/>
            <a:ext cx="349422" cy="392044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27" idx="3"/>
          </p:cNvCxnSpPr>
          <p:nvPr/>
        </p:nvCxnSpPr>
        <p:spPr>
          <a:xfrm flipH="1">
            <a:off x="3109688" y="5537385"/>
            <a:ext cx="359886" cy="335152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28" idx="1"/>
          </p:cNvCxnSpPr>
          <p:nvPr/>
        </p:nvCxnSpPr>
        <p:spPr>
          <a:xfrm flipH="1" flipV="1">
            <a:off x="3109688" y="5888867"/>
            <a:ext cx="359886" cy="375714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H="1">
            <a:off x="2333528" y="3966350"/>
            <a:ext cx="579171" cy="748594"/>
          </a:xfrm>
          <a:prstGeom prst="straightConnector1">
            <a:avLst/>
          </a:prstGeom>
          <a:ln w="76200"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 flipH="1">
            <a:off x="3619501" y="3920069"/>
            <a:ext cx="1013004" cy="693666"/>
          </a:xfrm>
          <a:prstGeom prst="straightConnector1">
            <a:avLst/>
          </a:prstGeom>
          <a:ln w="76200"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H="1">
            <a:off x="4591179" y="3660732"/>
            <a:ext cx="1830383" cy="860537"/>
          </a:xfrm>
          <a:prstGeom prst="straightConnector1">
            <a:avLst/>
          </a:prstGeom>
          <a:ln w="76200"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 flipH="1">
            <a:off x="5553897" y="3781958"/>
            <a:ext cx="2647129" cy="746053"/>
          </a:xfrm>
          <a:prstGeom prst="straightConnector1">
            <a:avLst/>
          </a:prstGeom>
          <a:ln w="76200"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5277265" y="4857991"/>
            <a:ext cx="819086" cy="23669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76" name="Elbow Connector 75"/>
          <p:cNvCxnSpPr/>
          <p:nvPr/>
        </p:nvCxnSpPr>
        <p:spPr>
          <a:xfrm flipV="1">
            <a:off x="3864040" y="5228026"/>
            <a:ext cx="1384651" cy="2265025"/>
          </a:xfrm>
          <a:prstGeom prst="bentConnector3">
            <a:avLst/>
          </a:prstGeom>
          <a:ln w="762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 flipV="1">
            <a:off x="5337177" y="5635245"/>
            <a:ext cx="695675" cy="4046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>
            <a:off x="5337177" y="6425938"/>
            <a:ext cx="692149" cy="0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6142512" y="4947437"/>
            <a:ext cx="20601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1</a:t>
            </a:r>
            <a:r>
              <a:rPr lang="en-US" sz="3200" dirty="0"/>
              <a:t>,</a:t>
            </a:r>
            <a:r>
              <a:rPr lang="en-US" sz="3200" i="1" dirty="0"/>
              <a:t> </a:t>
            </a: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2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200" dirty="0"/>
              <a:t>| </a:t>
            </a: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3</a:t>
            </a:r>
            <a:r>
              <a:rPr lang="en-US" sz="3200" dirty="0"/>
              <a:t>, </a:t>
            </a: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83682" y="491123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endParaRPr lang="en-US" sz="4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5483682" y="5714265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483682" y="6496902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142512" y="5764857"/>
            <a:ext cx="20601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/>
              <a:t>t</a:t>
            </a:r>
            <a:r>
              <a:rPr lang="en-US" sz="3200" i="1" baseline="-25000" dirty="0"/>
              <a:t>1</a:t>
            </a:r>
            <a:r>
              <a:rPr lang="en-US" sz="3200" dirty="0"/>
              <a:t>,</a:t>
            </a:r>
            <a:r>
              <a:rPr lang="en-US" sz="3200" i="1" dirty="0"/>
              <a:t> t</a:t>
            </a:r>
            <a:r>
              <a:rPr lang="en-US" sz="3200" i="1" baseline="-25000" dirty="0"/>
              <a:t>3</a:t>
            </a:r>
            <a:r>
              <a:rPr lang="en-US" sz="3200" dirty="0"/>
              <a:t> | </a:t>
            </a:r>
            <a:r>
              <a:rPr lang="en-US" sz="3200" i="1" dirty="0"/>
              <a:t>t</a:t>
            </a:r>
            <a:r>
              <a:rPr lang="en-US" sz="3200" i="1" baseline="-25000" dirty="0"/>
              <a:t>2</a:t>
            </a:r>
            <a:r>
              <a:rPr lang="en-US" sz="3200" dirty="0"/>
              <a:t>, </a:t>
            </a:r>
            <a:r>
              <a:rPr lang="en-US" sz="3200" i="1" dirty="0"/>
              <a:t>t</a:t>
            </a:r>
            <a:r>
              <a:rPr lang="en-US" sz="3200" i="1" baseline="-25000" dirty="0"/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142512" y="6561275"/>
            <a:ext cx="20601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/>
              <a:t>t</a:t>
            </a:r>
            <a:r>
              <a:rPr lang="en-US" sz="3200" i="1" baseline="-25000" dirty="0"/>
              <a:t>1</a:t>
            </a:r>
            <a:r>
              <a:rPr lang="en-US" sz="3200" dirty="0"/>
              <a:t>,</a:t>
            </a:r>
            <a:r>
              <a:rPr lang="en-US" sz="3200" i="1" dirty="0"/>
              <a:t> t</a:t>
            </a:r>
            <a:r>
              <a:rPr lang="en-US" sz="3200" i="1" baseline="-25000" dirty="0"/>
              <a:t>4</a:t>
            </a:r>
            <a:r>
              <a:rPr lang="en-US" sz="3200" dirty="0"/>
              <a:t> | </a:t>
            </a:r>
            <a:r>
              <a:rPr lang="en-US" sz="3200" i="1" dirty="0"/>
              <a:t>t</a:t>
            </a:r>
            <a:r>
              <a:rPr lang="en-US" sz="3200" i="1" baseline="-25000" dirty="0"/>
              <a:t>2</a:t>
            </a:r>
            <a:r>
              <a:rPr lang="en-US" sz="3200" dirty="0"/>
              <a:t>, </a:t>
            </a:r>
            <a:r>
              <a:rPr lang="en-US" sz="3200" i="1" dirty="0"/>
              <a:t>t</a:t>
            </a:r>
            <a:r>
              <a:rPr lang="en-US" sz="3200" i="1" baseline="-25000" dirty="0"/>
              <a:t>4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623613" y="4722655"/>
            <a:ext cx="819086" cy="2366938"/>
          </a:xfrm>
          <a:prstGeom prst="rect">
            <a:avLst/>
          </a:prstGeom>
          <a:solidFill>
            <a:srgbClr val="FEE8E8"/>
          </a:solidFill>
          <a:ln w="57150">
            <a:solidFill>
              <a:srgbClr val="CE0C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17" name="Straight Connector 116"/>
          <p:cNvCxnSpPr/>
          <p:nvPr/>
        </p:nvCxnSpPr>
        <p:spPr>
          <a:xfrm flipV="1">
            <a:off x="10665619" y="5499910"/>
            <a:ext cx="700880" cy="779"/>
          </a:xfrm>
          <a:prstGeom prst="line">
            <a:avLst/>
          </a:prstGeom>
          <a:ln w="57150">
            <a:solidFill>
              <a:srgbClr val="CE0C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10665619" y="6304426"/>
            <a:ext cx="700880" cy="0"/>
          </a:xfrm>
          <a:prstGeom prst="line">
            <a:avLst/>
          </a:prstGeom>
          <a:ln w="57150">
            <a:solidFill>
              <a:srgbClr val="CE0C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11490325" y="4812101"/>
            <a:ext cx="2098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1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,</a:t>
            </a: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 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2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| </a:t>
            </a: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3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,</a:t>
            </a:r>
            <a:r>
              <a:rPr lang="en-US" sz="3200" dirty="0"/>
              <a:t> </a:t>
            </a:r>
            <a:r>
              <a:rPr lang="en-US" sz="3600" b="1" i="1" dirty="0">
                <a:solidFill>
                  <a:srgbClr val="FF0000"/>
                </a:solidFill>
              </a:rPr>
              <a:t>t</a:t>
            </a:r>
            <a:r>
              <a:rPr lang="en-US" sz="3600" b="1" i="1" baseline="-25000" dirty="0">
                <a:solidFill>
                  <a:srgbClr val="FF0000"/>
                </a:solidFill>
              </a:rPr>
              <a:t>6</a:t>
            </a:r>
            <a:endParaRPr lang="en-US" sz="3200" b="1" i="1" baseline="-25000" dirty="0">
              <a:solidFill>
                <a:srgbClr val="FF0000"/>
              </a:solidFill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10619851" y="4774511"/>
            <a:ext cx="8306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A0000"/>
                </a:solidFill>
              </a:rPr>
              <a:t>1/3</a:t>
            </a:r>
            <a:endParaRPr lang="en-US" sz="4000" dirty="0">
              <a:solidFill>
                <a:srgbClr val="FA0000"/>
              </a:solidFill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10620481" y="5578929"/>
            <a:ext cx="8306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1/3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10620481" y="6361566"/>
            <a:ext cx="8306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1/3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11490325" y="5629521"/>
            <a:ext cx="2098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1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,</a:t>
            </a: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 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3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| </a:t>
            </a: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2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US" sz="3600" b="1" i="1" dirty="0">
                <a:solidFill>
                  <a:srgbClr val="FF0000"/>
                </a:solidFill>
              </a:rPr>
              <a:t>t</a:t>
            </a:r>
            <a:r>
              <a:rPr lang="en-US" sz="3600" b="1" i="1" baseline="-25000" dirty="0">
                <a:solidFill>
                  <a:srgbClr val="FF0000"/>
                </a:solidFill>
              </a:rPr>
              <a:t>6</a:t>
            </a:r>
            <a:endParaRPr lang="en-US" sz="3200" b="1" i="1" baseline="-25000" dirty="0">
              <a:solidFill>
                <a:srgbClr val="FF0000"/>
              </a:solidFill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11490325" y="6425939"/>
            <a:ext cx="21098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1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,</a:t>
            </a: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600" b="1" i="1" dirty="0">
                <a:solidFill>
                  <a:srgbClr val="FF0000"/>
                </a:solidFill>
              </a:rPr>
              <a:t>t</a:t>
            </a:r>
            <a:r>
              <a:rPr lang="en-US" sz="3600" b="1" i="1" baseline="-25000" dirty="0">
                <a:solidFill>
                  <a:srgbClr val="FF0000"/>
                </a:solidFill>
              </a:rPr>
              <a:t>6</a:t>
            </a:r>
            <a:r>
              <a:rPr lang="en-US" sz="3600" dirty="0"/>
              <a:t> 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| </a:t>
            </a: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2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en-US" sz="3200" i="1" baseline="-25000" dirty="0">
                <a:solidFill>
                  <a:schemeClr val="accent6">
                    <a:lumMod val="50000"/>
                  </a:schemeClr>
                </a:solidFill>
              </a:rPr>
              <a:t>4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923148" y="115375"/>
            <a:ext cx="7585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/>
              <a:t>(a)</a:t>
            </a:r>
            <a:endParaRPr lang="en-US" sz="4000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2273908" y="7489149"/>
            <a:ext cx="7809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/>
              <a:t>(b)</a:t>
            </a:r>
            <a:endParaRPr lang="en-US" sz="4000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5481301" y="7489149"/>
            <a:ext cx="7200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/>
              <a:t>(c)</a:t>
            </a:r>
            <a:endParaRPr lang="en-US" sz="4000" b="1" dirty="0"/>
          </a:p>
        </p:txBody>
      </p:sp>
      <p:sp>
        <p:nvSpPr>
          <p:cNvPr id="53" name="TextBox 52"/>
          <p:cNvSpPr txBox="1"/>
          <p:nvPr/>
        </p:nvSpPr>
        <p:spPr>
          <a:xfrm>
            <a:off x="10949314" y="7489149"/>
            <a:ext cx="7809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/>
              <a:t>(d)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051152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817</TotalTime>
  <Words>1896</Words>
  <Application>Microsoft Office PowerPoint</Application>
  <PresentationFormat>Custom</PresentationFormat>
  <Paragraphs>1056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Sazan Mahbub</dc:creator>
  <cp:lastModifiedBy>Sazan Mahbub</cp:lastModifiedBy>
  <cp:revision>211</cp:revision>
  <dcterms:created xsi:type="dcterms:W3CDTF">2021-01-03T14:29:34Z</dcterms:created>
  <dcterms:modified xsi:type="dcterms:W3CDTF">2021-01-18T07:01:12Z</dcterms:modified>
</cp:coreProperties>
</file>