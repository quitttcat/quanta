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72" r:id="rId15"/>
    <p:sldId id="273" r:id="rId16"/>
    <p:sldId id="274" r:id="rId17"/>
    <p:sldId id="275" r:id="rId18"/>
    <p:sldId id="277" r:id="rId19"/>
    <p:sldId id="276" r:id="rId20"/>
    <p:sldId id="280" r:id="rId21"/>
    <p:sldId id="269" r:id="rId22"/>
    <p:sldId id="270" r:id="rId23"/>
    <p:sldId id="271" r:id="rId24"/>
    <p:sldId id="278" r:id="rId25"/>
    <p:sldId id="279" r:id="rId26"/>
  </p:sldIdLst>
  <p:sldSz cx="15544800" cy="8229600"/>
  <p:notesSz cx="6858000" cy="9144000"/>
  <p:defaultTextStyle>
    <a:defPPr>
      <a:defRPr lang="en-US"/>
    </a:defPPr>
    <a:lvl1pPr marL="0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1pPr>
    <a:lvl2pPr marL="506943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2pPr>
    <a:lvl3pPr marL="1013887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3pPr>
    <a:lvl4pPr marL="1520830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4pPr>
    <a:lvl5pPr marL="2027773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5pPr>
    <a:lvl6pPr marL="2534717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6pPr>
    <a:lvl7pPr marL="3041660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7pPr>
    <a:lvl8pPr marL="3548604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8pPr>
    <a:lvl9pPr marL="4055547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0505"/>
    <a:srgbClr val="C929AB"/>
    <a:srgbClr val="CE0C0C"/>
    <a:srgbClr val="FEE8E8"/>
    <a:srgbClr val="FEF0F0"/>
    <a:srgbClr val="FA0000"/>
    <a:srgbClr val="FEDADA"/>
    <a:srgbClr val="FD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33" d="100"/>
          <a:sy n="33" d="100"/>
        </p:scale>
        <p:origin x="1788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3100" y="1346836"/>
            <a:ext cx="116586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3100" y="4322446"/>
            <a:ext cx="116586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2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1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609" y="2051686"/>
            <a:ext cx="1340739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609" y="5507356"/>
            <a:ext cx="1340739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3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8705" y="2190750"/>
            <a:ext cx="6606540" cy="52216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9555" y="2190750"/>
            <a:ext cx="6606540" cy="52216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5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438150"/>
            <a:ext cx="1340739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731" y="2017396"/>
            <a:ext cx="657617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731" y="3006090"/>
            <a:ext cx="6576178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69555" y="2017396"/>
            <a:ext cx="6608565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9555" y="3006090"/>
            <a:ext cx="6608565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1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2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548640"/>
            <a:ext cx="5013602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8565" y="1184911"/>
            <a:ext cx="7869555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2468880"/>
            <a:ext cx="5013602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45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548640"/>
            <a:ext cx="5013602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08565" y="1184911"/>
            <a:ext cx="7869555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2468880"/>
            <a:ext cx="5013602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54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24247" y="438150"/>
            <a:ext cx="3351848" cy="69742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8705" y="438150"/>
            <a:ext cx="9861233" cy="697420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5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8705" y="438150"/>
            <a:ext cx="1340739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705" y="2190750"/>
            <a:ext cx="1340739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8705" y="7627621"/>
            <a:ext cx="34975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6D393-B99B-4B1C-85C9-1662E8C0CCAB}" type="datetimeFigureOut">
              <a:rPr lang="en-US" smtClean="0"/>
              <a:t>16-Apr-21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9215" y="7627621"/>
            <a:ext cx="524637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8515" y="7627621"/>
            <a:ext cx="34975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5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204131" y="2195192"/>
            <a:ext cx="1204029" cy="2646217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243066" y="2234334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243065" y="3066101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243065" y="386882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814281" y="2675456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804495" y="3485033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803269" y="4304069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91065" y="387798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583462" y="388776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951477" y="388063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277757" y="22404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60368" y="22404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44693" y="223983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78941" y="306934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1553" y="306934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45878" y="306873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7243" y="2199426"/>
            <a:ext cx="1204029" cy="2646217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5896177" y="2238568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5896176" y="387306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467392" y="26796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457607" y="348926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456381" y="4308303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930868" y="224468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13480" y="224468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97805" y="224407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27431" y="4954930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Q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80546" y="4959164"/>
            <a:ext cx="514145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 err="1"/>
              <a:t>Q</a:t>
            </a:r>
            <a:r>
              <a:rPr lang="en-US" sz="2050" baseline="30000" dirty="0" err="1"/>
              <a:t>m</a:t>
            </a:r>
            <a:endParaRPr lang="en-US" sz="2050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5896176" y="306725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5858500" y="307262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231324" y="307751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609126" y="307038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855887" y="387450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228711" y="387939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606513" y="387226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383626" y="2965593"/>
            <a:ext cx="1464727" cy="809577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808726" y="2740510"/>
            <a:ext cx="111030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Masking</a:t>
            </a:r>
          </a:p>
        </p:txBody>
      </p:sp>
    </p:spTree>
    <p:extLst>
      <p:ext uri="{BB962C8B-B14F-4D97-AF65-F5344CB8AC3E}">
        <p14:creationId xmlns:p14="http://schemas.microsoft.com/office/powerpoint/2010/main" val="233049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52"/>
          <p:cNvSpPr/>
          <p:nvPr/>
        </p:nvSpPr>
        <p:spPr>
          <a:xfrm>
            <a:off x="5939863" y="1541646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5668807" y="180174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11651883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11690818" y="1969713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11690817" y="2801480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1690817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12262033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12252247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12251022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638817" y="361336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031214" y="36231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399229" y="361601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725509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08120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92445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26693" y="280472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09305" y="280472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93630" y="280411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0808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8539742" y="1969713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8539741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9110957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9101171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9099946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574433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57044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41369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97085" y="4560940"/>
            <a:ext cx="2305646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 encoding </a:t>
            </a:r>
            <a:r>
              <a:rPr lang="en-US" sz="2050" b="1" dirty="0"/>
              <a:t>Q</a:t>
            </a:r>
            <a:r>
              <a:rPr lang="en-US" sz="1644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(t</a:t>
            </a:r>
            <a:r>
              <a:rPr lang="en-US" sz="1644" baseline="-25000" dirty="0"/>
              <a:t>1</a:t>
            </a:r>
            <a:r>
              <a:rPr lang="en-US" sz="1644" dirty="0"/>
              <a:t>, t</a:t>
            </a:r>
            <a:r>
              <a:rPr lang="en-US" sz="1644" baseline="-25000" dirty="0"/>
              <a:t>2</a:t>
            </a:r>
            <a:r>
              <a:rPr lang="en-US" sz="1644" dirty="0"/>
              <a:t>, t</a:t>
            </a:r>
            <a:r>
              <a:rPr lang="en-US" sz="1644" baseline="-25000" dirty="0"/>
              <a:t>3</a:t>
            </a:r>
            <a:r>
              <a:rPr lang="en-US" sz="1644" dirty="0"/>
              <a:t>, t</a:t>
            </a:r>
            <a:r>
              <a:rPr lang="en-US" sz="1644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05572" y="4583923"/>
            <a:ext cx="1860471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dirty="0" err="1"/>
              <a:t>Q</a:t>
            </a:r>
            <a:r>
              <a:rPr lang="en-US" sz="2050" b="1" baseline="30000" dirty="0" err="1"/>
              <a:t>m</a:t>
            </a:r>
            <a:endParaRPr lang="en-US" sz="2050" b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8539741" y="279840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8502064" y="28037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874888" y="280866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252690" y="280152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499452" y="36056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872276" y="361054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250078" y="360340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9831378" y="2700971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10256478" y="2475888"/>
            <a:ext cx="111030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810717" y="1913119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(t</a:t>
            </a:r>
            <a:r>
              <a:rPr lang="en-US" sz="2050" baseline="-25000" dirty="0"/>
              <a:t>1</a:t>
            </a:r>
            <a:r>
              <a:rPr lang="en-US" sz="2050" dirty="0"/>
              <a:t>, t</a:t>
            </a:r>
            <a:r>
              <a:rPr lang="en-US" sz="2050" baseline="-25000" dirty="0"/>
              <a:t>2</a:t>
            </a:r>
            <a:r>
              <a:rPr lang="en-US" sz="2050" dirty="0"/>
              <a:t>, t</a:t>
            </a:r>
            <a:r>
              <a:rPr lang="en-US" sz="2050" baseline="-25000" dirty="0"/>
              <a:t>3</a:t>
            </a:r>
            <a:r>
              <a:rPr lang="en-US" sz="2050" dirty="0"/>
              <a:t>, t</a:t>
            </a:r>
            <a:r>
              <a:rPr lang="en-US" sz="2050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13087" y="2719567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(t</a:t>
            </a:r>
            <a:r>
              <a:rPr lang="en-US" sz="2050" baseline="-25000" dirty="0"/>
              <a:t>1</a:t>
            </a:r>
            <a:r>
              <a:rPr lang="en-US" sz="2050" dirty="0"/>
              <a:t>, t</a:t>
            </a:r>
            <a:r>
              <a:rPr lang="en-US" sz="2050" baseline="-25000" dirty="0"/>
              <a:t>2</a:t>
            </a:r>
            <a:r>
              <a:rPr lang="en-US" sz="2050" dirty="0"/>
              <a:t>, </a:t>
            </a:r>
            <a:r>
              <a:rPr lang="en-US" sz="2050" b="1" dirty="0">
                <a:solidFill>
                  <a:srgbClr val="0070C0"/>
                </a:solidFill>
              </a:rPr>
              <a:t>t</a:t>
            </a:r>
            <a:r>
              <a:rPr lang="en-US" sz="2050" b="1" baseline="-25000" dirty="0">
                <a:solidFill>
                  <a:srgbClr val="0070C0"/>
                </a:solidFill>
              </a:rPr>
              <a:t>3</a:t>
            </a:r>
            <a:r>
              <a:rPr lang="en-US" sz="2050" dirty="0"/>
              <a:t>, t</a:t>
            </a:r>
            <a:r>
              <a:rPr lang="en-US" sz="2050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7273" y="3552230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(t</a:t>
            </a:r>
            <a:r>
              <a:rPr lang="en-US" sz="2050" baseline="-25000" dirty="0"/>
              <a:t>1</a:t>
            </a:r>
            <a:r>
              <a:rPr lang="en-US" sz="2050" dirty="0"/>
              <a:t>, t</a:t>
            </a:r>
            <a:r>
              <a:rPr lang="en-US" sz="2050" baseline="-25000" dirty="0"/>
              <a:t>2</a:t>
            </a:r>
            <a:r>
              <a:rPr lang="en-US" sz="2050" dirty="0"/>
              <a:t>, t</a:t>
            </a:r>
            <a:r>
              <a:rPr lang="en-US" sz="2050" baseline="-25000" dirty="0"/>
              <a:t>3</a:t>
            </a:r>
            <a:r>
              <a:rPr lang="en-US" sz="2050" dirty="0"/>
              <a:t>, </a:t>
            </a:r>
            <a:r>
              <a:rPr lang="en-US" sz="2055" b="1" dirty="0">
                <a:solidFill>
                  <a:srgbClr val="FF0000"/>
                </a:solidFill>
              </a:rPr>
              <a:t>t</a:t>
            </a:r>
            <a:r>
              <a:rPr lang="en-US" sz="2055" b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27249" y="1900048"/>
            <a:ext cx="40709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</a:t>
            </a:r>
            <a:r>
              <a:rPr lang="en-US" sz="2050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26080" y="2719567"/>
            <a:ext cx="35934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 err="1"/>
              <a:t>g</a:t>
            </a:r>
            <a:r>
              <a:rPr lang="en-US" sz="2050" baseline="-25000" dirty="0" err="1"/>
              <a:t>j</a:t>
            </a:r>
            <a:endParaRPr lang="en-US" sz="2050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11295950" y="3538489"/>
            <a:ext cx="3988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 err="1"/>
              <a:t>g</a:t>
            </a:r>
            <a:r>
              <a:rPr lang="en-US" sz="2050" baseline="-25000" dirty="0" err="1"/>
              <a:t>k</a:t>
            </a:r>
            <a:endParaRPr lang="en-US" sz="2050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5688321" y="1930563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11615229" y="1681084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586762" y="1205971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5289316" y="3044201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524606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5563540" y="1969713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5563539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6134755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6124970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6123744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598232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980843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365168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29370" y="4583923"/>
            <a:ext cx="1860471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dirty="0" err="1"/>
              <a:t>Q</a:t>
            </a:r>
            <a:r>
              <a:rPr lang="en-US" sz="2050" b="1" baseline="30000" dirty="0" err="1"/>
              <a:t>m</a:t>
            </a:r>
            <a:endParaRPr lang="en-US" sz="2050" b="1" baseline="30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5563539" y="279840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5525863" y="28037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898687" y="280866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276489" y="280152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523250" y="36056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5896074" y="361054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6273876" y="360340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6855176" y="2700971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7280279" y="2475888"/>
            <a:ext cx="109877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Stacking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5714330" y="157425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6894306" y="1588347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6909530" y="422536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5356267" y="1379025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4561872" y="1264185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</p:spTree>
    <p:extLst>
      <p:ext uri="{BB962C8B-B14F-4D97-AF65-F5344CB8AC3E}">
        <p14:creationId xmlns:p14="http://schemas.microsoft.com/office/powerpoint/2010/main" val="292251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3054183" y="1611625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783127" y="187172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2638926" y="200055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2677861" y="2039693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2677859" y="3674186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3249075" y="248081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3239290" y="329039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3238064" y="410942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712552" y="204580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095163" y="204580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79488" y="204519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586486" y="4591600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2677859" y="286838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2640183" y="287374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013007" y="287864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390809" y="287150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2637570" y="367563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3010394" y="368052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388196" y="367338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2828650" y="164423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4008627" y="1658327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4023850" y="429534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5992788" y="1541646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5721732" y="180174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11651883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11690818" y="1969713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11690817" y="2801480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1690817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12262033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12252247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12251022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638817" y="361336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031214" y="36231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399229" y="361601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725509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08120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92445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26693" y="280472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09305" y="280472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93630" y="280411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53732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8592667" y="1969713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8592666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9163882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9154096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9152871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627358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09969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94294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57719" y="4576781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58483" y="4583923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8592666" y="279840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8554989" y="28037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927813" y="280866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305615" y="280152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552377" y="36056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925201" y="361054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03003" y="360340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9831378" y="2700971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10256481" y="2475888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810717" y="1913119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13087" y="2719567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7273" y="3552230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27239" y="1900048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26090" y="2719567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11295960" y="3538489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5688321" y="1930563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11615229" y="1681084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586762" y="1205971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5289316" y="3044201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577531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5616465" y="1969713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5616464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6187680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6177895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6176669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651156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033768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18093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82281" y="4583923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5616464" y="279840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5578788" y="28037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951611" y="280866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329414" y="280152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576175" y="36056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5948999" y="361054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6326801" y="360340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6974257" y="2700971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7321827" y="198614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5767255" y="157425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6947231" y="1588347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6962455" y="422536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5409192" y="1379025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4614796" y="1264185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3981914" y="272745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4393783" y="2502376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</p:spTree>
    <p:extLst>
      <p:ext uri="{BB962C8B-B14F-4D97-AF65-F5344CB8AC3E}">
        <p14:creationId xmlns:p14="http://schemas.microsoft.com/office/powerpoint/2010/main" val="398640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149262" y="6319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-121799" y="892079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-266000" y="1020905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-1141467" y="1060047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-1141468" y="2694541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-570239" y="150117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-580024" y="231075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-581250" y="312978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-1106773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-724161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-339837" y="10655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378403" y="3613259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-1141468" y="1888734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-1179142" y="189410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-806318" y="189899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85891" y="18918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-1181754" y="269598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-808930" y="270087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83279" y="26937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-990667" y="664588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103713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118936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058216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2787159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8687489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8726424" y="10600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8726422" y="18918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872642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29763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287853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28662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674423" y="27037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66819" y="27134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34835" y="27063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6111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726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51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2299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910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9235" y="18944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8933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5628273" y="10600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562827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199487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18970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188476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296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4557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990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93325" y="36671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94089" y="36742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562827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559059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41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4122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58798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960806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338608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6866983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292087" y="15662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846323" y="10034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48693" y="18099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42879" y="26425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3023" y="9754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1874" y="17949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301744" y="26139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244478" y="844349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8650835" y="771427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22368" y="2963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0815238" y="21345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4295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2681893" y="10600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268189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25310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24332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24209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27165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9919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8352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347709" y="36742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268189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264421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01703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39484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64160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014427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392229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039685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417127" y="9727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2832682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012659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027882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474619" y="4693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1680224" y="3545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106985" y="18178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459211" y="15927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565104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294047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149847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188781" y="10600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188780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3759996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3750211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3748985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223472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6060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990408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725448" y="36132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188780" y="18887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148491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521315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3899117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339571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519547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534770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1637823" y="19065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1628177" y="11170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219684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602296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3986621" y="18913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4858257" y="5535246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085368" y="5532370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6927156" y="5933573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5026704" y="5158033"/>
            <a:ext cx="1809292" cy="586645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364022" y="5044626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253815" y="5284160"/>
            <a:ext cx="1802826" cy="498746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7456257" y="4875101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277" y="7272310"/>
            <a:ext cx="1086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501052" y="7265897"/>
            <a:ext cx="11146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5996" y="6911287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99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149262" y="6319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-121799" y="892079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-266000" y="1020905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-1141467" y="1060047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-1141468" y="2694541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-570239" y="150117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-580024" y="231075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-581250" y="312978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-1106773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-724161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-339837" y="10655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378403" y="3613259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-1141468" y="1888734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-1179142" y="189410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-806318" y="189899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85891" y="18918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-1181754" y="269598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-808930" y="270087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83279" y="26937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-990667" y="664588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103713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118936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058216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2787159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8687489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8726424" y="10600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8726422" y="18918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872642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29763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287853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28662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674423" y="27037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66819" y="27134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34835" y="27063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6111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726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51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2299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910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9235" y="18944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8933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5628273" y="10600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562827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199487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18970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188476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296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4557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990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93325" y="36671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94089" y="36742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562827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559059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41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4122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58798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960806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338608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6866983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292087" y="15662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846323" y="10034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48693" y="18099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42879" y="26425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3023" y="9754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1874" y="17949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301744" y="26139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244478" y="844349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8650835" y="771427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22368" y="2963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0815238" y="21345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4295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2681893" y="10600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268189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25310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24332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24209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27165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9919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8352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347709" y="36742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268189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264421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01703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39484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64160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014427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392229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039685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417127" y="9727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2832682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012659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027882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474619" y="4693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1680224" y="3545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106985" y="18178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459211" y="15927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565104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294047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149847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188781" y="10600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188780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3759996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3750211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3748985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223472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6060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990408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725448" y="36132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188780" y="18887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148491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521315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3899117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339571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519547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534770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1637823" y="19065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1628177" y="11170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219684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602296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3986621" y="18913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4799544" y="549610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026655" y="549322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6868443" y="589443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4967993" y="5153502"/>
            <a:ext cx="1900450" cy="58318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281824" y="502505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187276" y="5163807"/>
            <a:ext cx="1841258" cy="555022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7342938" y="501223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5334500" y="721910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7529780" y="721268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77283" y="687214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16200000" flipH="1">
            <a:off x="1515284" y="3260897"/>
            <a:ext cx="2045849" cy="4241568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859436" y="5865420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204" name="Elbow Connector 203"/>
          <p:cNvCxnSpPr/>
          <p:nvPr/>
        </p:nvCxnSpPr>
        <p:spPr>
          <a:xfrm rot="5400000">
            <a:off x="10655879" y="3049227"/>
            <a:ext cx="1920291" cy="477422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11141098" y="5866759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732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149262" y="6319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-121799" y="892079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-266000" y="1020905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-1141467" y="1060047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-1141468" y="2694541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-570239" y="150117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-580024" y="231075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-581250" y="312978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-1106773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-724161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-339837" y="10655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378403" y="3613259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-1141468" y="1888734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-1179142" y="189410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-806318" y="189899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85891" y="18918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-1181754" y="269598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-808930" y="270087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83279" y="26937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-990667" y="664588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103713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118936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058216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2787159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8687489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8726424" y="10600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8726422" y="18918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872642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29763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287853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28662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674423" y="27037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66819" y="27134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34835" y="27063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6111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726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51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2299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910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9235" y="18944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8933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5628273" y="10600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562827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199487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18970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188476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296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4557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990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93325" y="36671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94089" y="36742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562827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559059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41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4122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58798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960806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338608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6866983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292087" y="15662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846323" y="10034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48693" y="18099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42879" y="26425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3023" y="9754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1874" y="17949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301744" y="26139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244478" y="844349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8650835" y="771427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22368" y="2963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0815238" y="21345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4295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2681893" y="10600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268189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25310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24332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24209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27165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9919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8352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347709" y="36742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268189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264421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01703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39484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64160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014427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392229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039685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417127" y="9727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2832682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012659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027882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474619" y="4693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1680224" y="3545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106985" y="18178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459211" y="15927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565104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294047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149847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188781" y="10600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188780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3759996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3750211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3748985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223472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6060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990408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725448" y="36132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188780" y="18887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148491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521315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3899117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339571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519547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534770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1637823" y="19065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1628177" y="11170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219684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602296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3986621" y="18913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4799544" y="549610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026655" y="549322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6868443" y="589443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4967993" y="5153502"/>
            <a:ext cx="1900450" cy="58318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281824" y="502505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187276" y="5163807"/>
            <a:ext cx="1841258" cy="555022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7342938" y="501223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5334500" y="721910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7529780" y="721268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77283" y="687214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16200000" flipH="1">
            <a:off x="1515284" y="3260897"/>
            <a:ext cx="2045849" cy="4241568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859436" y="5865420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204" name="Elbow Connector 203"/>
          <p:cNvCxnSpPr/>
          <p:nvPr/>
        </p:nvCxnSpPr>
        <p:spPr>
          <a:xfrm rot="5400000">
            <a:off x="10655879" y="3049227"/>
            <a:ext cx="1920291" cy="477422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11141098" y="5866759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11121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697" y="3803761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12425" y="38576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3189" y="38647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66809" y="38647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44548" y="38037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5218644" y="568660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445755" y="568372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7287543" y="608493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5387093" y="5344002"/>
            <a:ext cx="1900450" cy="58318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700924" y="521555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606376" y="5354307"/>
            <a:ext cx="1841258" cy="555022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7762038" y="520273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5753600" y="740960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7948880" y="740318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83" y="706264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16200000" flipH="1">
            <a:off x="1934384" y="3451397"/>
            <a:ext cx="2045849" cy="4241568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278536" y="6055920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204" name="Elbow Connector 203"/>
          <p:cNvCxnSpPr/>
          <p:nvPr/>
        </p:nvCxnSpPr>
        <p:spPr>
          <a:xfrm rot="5400000">
            <a:off x="11074979" y="3239727"/>
            <a:ext cx="1920291" cy="477422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11560198" y="6057259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9994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697" y="3803761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12425" y="38576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3189" y="38647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66809" y="38647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44548" y="38037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5218644" y="568660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445755" y="568372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7287543" y="608493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5387093" y="534400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700924" y="521555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606376" y="535430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7762038" y="520273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5753600" y="740960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7948880" y="740318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83" y="706264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2134188" y="3353524"/>
            <a:ext cx="2059625" cy="444620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278536" y="6055920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655796" y="6021754"/>
            <a:ext cx="1306768" cy="534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pred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11" name="Straight Connector 10"/>
          <p:cNvCxnSpPr>
            <a:stCxn id="212" idx="2"/>
            <a:endCxn id="30" idx="0"/>
          </p:cNvCxnSpPr>
          <p:nvPr/>
        </p:nvCxnSpPr>
        <p:spPr>
          <a:xfrm>
            <a:off x="9453888" y="6603561"/>
            <a:ext cx="1759829" cy="21534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6003404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840651" y="5121805"/>
            <a:ext cx="2078276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6122094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</p:spTree>
    <p:extLst>
      <p:ext uri="{BB962C8B-B14F-4D97-AF65-F5344CB8AC3E}">
        <p14:creationId xmlns:p14="http://schemas.microsoft.com/office/powerpoint/2010/main" val="243856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697" y="3803761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12425" y="38576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3189" y="38647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66809" y="38647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44548" y="38037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22633" y="4365079"/>
            <a:ext cx="1853885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20033" y="5798788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822486" y="5760187"/>
            <a:ext cx="1306768" cy="534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pred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51320" y="5011136"/>
            <a:ext cx="1856938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82592" y="51217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61683" y="512237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446008" y="51217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6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606703" y="595031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79527" y="595520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57329" y="59480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04091" y="675219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76914" y="67570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54716" y="67499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85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697" y="3803761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12425" y="38576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3189" y="38647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66809" y="38647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44548" y="38037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22633" y="4365079"/>
            <a:ext cx="1853885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43038" y="5206090"/>
            <a:ext cx="1514197" cy="1146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flatten </a:t>
            </a:r>
            <a:r>
              <a:rPr lang="en-US" sz="2400" b="1" i="1" dirty="0"/>
              <a:t>X 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050" dirty="0"/>
              <a:t> </a:t>
            </a:r>
          </a:p>
          <a:p>
            <a:pPr algn="ctr"/>
            <a:r>
              <a:rPr lang="en-US" sz="2050" dirty="0"/>
              <a:t>to generate </a:t>
            </a:r>
          </a:p>
          <a:p>
            <a:pPr algn="ctr"/>
            <a:r>
              <a:rPr lang="en-US" sz="2050" dirty="0"/>
              <a:t>the input </a:t>
            </a:r>
            <a:r>
              <a:rPr lang="en-US" sz="2400" b="1" i="1" dirty="0" err="1"/>
              <a:t>x</a:t>
            </a:r>
            <a:r>
              <a:rPr lang="en-US" sz="2400" b="1" i="1" baseline="-25000" dirty="0" err="1"/>
              <a:t>r</a:t>
            </a:r>
            <a:endParaRPr lang="en-US" sz="2050" b="1" i="1" baseline="-25000" dirty="0"/>
          </a:p>
        </p:txBody>
      </p:sp>
      <p:sp>
        <p:nvSpPr>
          <p:cNvPr id="205" name="TextBox 204"/>
          <p:cNvSpPr txBox="1"/>
          <p:nvPr/>
        </p:nvSpPr>
        <p:spPr>
          <a:xfrm>
            <a:off x="9822486" y="5760187"/>
            <a:ext cx="1306768" cy="534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pred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51320" y="5011136"/>
            <a:ext cx="1856938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249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036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3688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6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5731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554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718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231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959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737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07146" y="5275192"/>
            <a:ext cx="1096775" cy="1038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split and</a:t>
            </a:r>
          </a:p>
          <a:p>
            <a:pPr algn="ctr"/>
            <a:r>
              <a:rPr lang="en-US" sz="2050" dirty="0"/>
              <a:t>apply</a:t>
            </a:r>
          </a:p>
          <a:p>
            <a:pPr algn="ctr"/>
            <a:r>
              <a:rPr lang="en-US" sz="2050" b="1" dirty="0" err="1"/>
              <a:t>softmax</a:t>
            </a:r>
            <a:endParaRPr lang="en-US" sz="2050" b="1" dirty="0"/>
          </a:p>
        </p:txBody>
      </p:sp>
    </p:spTree>
    <p:extLst>
      <p:ext uri="{BB962C8B-B14F-4D97-AF65-F5344CB8AC3E}">
        <p14:creationId xmlns:p14="http://schemas.microsoft.com/office/powerpoint/2010/main" val="2707617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626" y="3803761"/>
            <a:ext cx="172053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input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/>
              <a:t>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99034" y="3723964"/>
            <a:ext cx="346966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orientation-encoding matrix </a:t>
            </a:r>
            <a:r>
              <a:rPr lang="en-US" sz="2800" b="1" i="1" dirty="0"/>
              <a:t>Q</a:t>
            </a:r>
            <a:r>
              <a:rPr lang="en-US" sz="2000" i="1" dirty="0"/>
              <a:t> </a:t>
            </a:r>
          </a:p>
          <a:p>
            <a:pPr algn="ctr"/>
            <a:r>
              <a:rPr lang="en-US" sz="2000" dirty="0"/>
              <a:t>for the four-taxa-set </a:t>
            </a:r>
          </a:p>
          <a:p>
            <a:pPr algn="ctr"/>
            <a:r>
              <a:rPr lang="en-US" sz="2000" dirty="0"/>
              <a:t>(</a:t>
            </a:r>
            <a:r>
              <a:rPr lang="en-US" sz="2000" i="1" dirty="0"/>
              <a:t>t</a:t>
            </a:r>
            <a:r>
              <a:rPr lang="en-US" sz="2000" i="1" baseline="-25000" dirty="0"/>
              <a:t>1</a:t>
            </a:r>
            <a:r>
              <a:rPr lang="en-US" sz="2000" i="1" dirty="0"/>
              <a:t>, t</a:t>
            </a:r>
            <a:r>
              <a:rPr lang="en-US" sz="2000" i="1" baseline="-25000" dirty="0"/>
              <a:t>2</a:t>
            </a:r>
            <a:r>
              <a:rPr lang="en-US" sz="2000" i="1" dirty="0"/>
              <a:t>, t</a:t>
            </a:r>
            <a:r>
              <a:rPr lang="en-US" sz="2000" i="1" baseline="-25000" dirty="0"/>
              <a:t>3</a:t>
            </a:r>
            <a:r>
              <a:rPr lang="en-US" sz="2000" i="1" dirty="0"/>
              <a:t>, t</a:t>
            </a:r>
            <a:r>
              <a:rPr lang="en-US" sz="2000" i="1" baseline="-25000" dirty="0"/>
              <a:t>4</a:t>
            </a:r>
            <a:r>
              <a:rPr lang="en-US" sz="2000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79634" y="3808227"/>
            <a:ext cx="2209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matrix </a:t>
            </a:r>
            <a:r>
              <a:rPr lang="en-US" sz="2800" b="1" i="1" dirty="0" err="1"/>
              <a:t>Q</a:t>
            </a:r>
            <a:r>
              <a:rPr lang="en-US" sz="2800" b="1" i="1" baseline="30000" dirty="0" err="1"/>
              <a:t>m</a:t>
            </a:r>
            <a:endParaRPr lang="en-US" sz="280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11149" y="3789123"/>
            <a:ext cx="2782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tensor </a:t>
            </a:r>
            <a:r>
              <a:rPr lang="en-US" sz="2800" b="1" i="1" dirty="0" err="1"/>
              <a:t>Q</a:t>
            </a:r>
            <a:r>
              <a:rPr lang="en-US" sz="2800" b="1" i="1" baseline="-25000" dirty="0" err="1"/>
              <a:t>masked</a:t>
            </a:r>
            <a:endParaRPr lang="en-US" sz="280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92443" y="3803767"/>
            <a:ext cx="230300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target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08896" y="4351342"/>
            <a:ext cx="1881359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43038" y="5206090"/>
            <a:ext cx="1514197" cy="1146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flatten</a:t>
            </a:r>
            <a:r>
              <a:rPr lang="en-US" sz="2050" dirty="0"/>
              <a:t> </a:t>
            </a:r>
            <a:r>
              <a:rPr lang="en-US" sz="2400" b="1" i="1" dirty="0"/>
              <a:t>X 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050" dirty="0"/>
              <a:t> </a:t>
            </a:r>
          </a:p>
          <a:p>
            <a:pPr algn="ctr"/>
            <a:r>
              <a:rPr lang="en-US" sz="2000" dirty="0"/>
              <a:t>to generate </a:t>
            </a:r>
          </a:p>
          <a:p>
            <a:pPr algn="ctr"/>
            <a:r>
              <a:rPr lang="en-US" sz="2000" dirty="0"/>
              <a:t>the input </a:t>
            </a:r>
            <a:r>
              <a:rPr lang="en-US" sz="2400" b="1" i="1" dirty="0" err="1"/>
              <a:t>x</a:t>
            </a:r>
            <a:r>
              <a:rPr lang="en-US" sz="2400" b="1" i="1" baseline="-25000" dirty="0" err="1"/>
              <a:t>r</a:t>
            </a:r>
            <a:endParaRPr lang="en-US" sz="2050" b="1" i="1" baseline="-25000" dirty="0"/>
          </a:p>
        </p:txBody>
      </p:sp>
      <p:sp>
        <p:nvSpPr>
          <p:cNvPr id="205" name="TextBox 204"/>
          <p:cNvSpPr txBox="1"/>
          <p:nvPr/>
        </p:nvSpPr>
        <p:spPr>
          <a:xfrm>
            <a:off x="9822486" y="5760187"/>
            <a:ext cx="1306768" cy="534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pred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37583" y="4997399"/>
            <a:ext cx="1884412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249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036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3688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6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5731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554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718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231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959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737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11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</p:spTree>
    <p:extLst>
      <p:ext uri="{BB962C8B-B14F-4D97-AF65-F5344CB8AC3E}">
        <p14:creationId xmlns:p14="http://schemas.microsoft.com/office/powerpoint/2010/main" val="1242059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626" y="3803761"/>
            <a:ext cx="172053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input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/>
              <a:t>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99034" y="3723964"/>
            <a:ext cx="346966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orientation-encoding matrix </a:t>
            </a:r>
            <a:r>
              <a:rPr lang="en-US" sz="2800" b="1" i="1" dirty="0"/>
              <a:t>Q</a:t>
            </a:r>
            <a:r>
              <a:rPr lang="en-US" sz="2000" i="1" dirty="0"/>
              <a:t> </a:t>
            </a:r>
          </a:p>
          <a:p>
            <a:pPr algn="ctr"/>
            <a:r>
              <a:rPr lang="en-US" sz="2000" dirty="0"/>
              <a:t>for the four-taxa-set </a:t>
            </a:r>
          </a:p>
          <a:p>
            <a:pPr algn="ctr"/>
            <a:r>
              <a:rPr lang="en-US" sz="2000" dirty="0"/>
              <a:t>(</a:t>
            </a:r>
            <a:r>
              <a:rPr lang="en-US" sz="2000" i="1" dirty="0"/>
              <a:t>t</a:t>
            </a:r>
            <a:r>
              <a:rPr lang="en-US" sz="2000" i="1" baseline="-25000" dirty="0"/>
              <a:t>1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2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3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4</a:t>
            </a:r>
            <a:r>
              <a:rPr lang="en-US" sz="2000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79634" y="3808227"/>
            <a:ext cx="2209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matrix </a:t>
            </a:r>
            <a:r>
              <a:rPr lang="en-US" sz="2800" b="1" i="1" dirty="0" err="1"/>
              <a:t>Q</a:t>
            </a:r>
            <a:r>
              <a:rPr lang="en-US" sz="2800" b="1" i="1" baseline="30000" dirty="0" err="1"/>
              <a:t>m</a:t>
            </a:r>
            <a:endParaRPr lang="en-US" sz="280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59"/>
            <a:ext cx="1425390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3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3</a:t>
            </a:r>
            <a:r>
              <a:rPr lang="en-US" sz="2050" dirty="0"/>
              <a:t>,</a:t>
            </a:r>
            <a:r>
              <a:rPr lang="en-US" sz="2050" i="1" dirty="0"/>
              <a:t>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11149" y="3789123"/>
            <a:ext cx="2782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tensor </a:t>
            </a:r>
            <a:r>
              <a:rPr lang="en-US" sz="2800" b="1" i="1" dirty="0" err="1"/>
              <a:t>Q</a:t>
            </a:r>
            <a:r>
              <a:rPr lang="en-US" sz="2800" b="1" i="1" baseline="-25000" dirty="0" err="1"/>
              <a:t>masked</a:t>
            </a:r>
            <a:endParaRPr lang="en-US" sz="280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92443" y="3803767"/>
            <a:ext cx="230300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target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08896" y="4351342"/>
            <a:ext cx="1881359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43038" y="5206090"/>
            <a:ext cx="1514197" cy="1146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flatten</a:t>
            </a:r>
            <a:r>
              <a:rPr lang="en-US" sz="2050" dirty="0"/>
              <a:t> </a:t>
            </a:r>
            <a:r>
              <a:rPr lang="en-US" sz="2400" b="1" i="1" dirty="0"/>
              <a:t>X 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050" dirty="0"/>
              <a:t> </a:t>
            </a:r>
          </a:p>
          <a:p>
            <a:pPr algn="ctr"/>
            <a:r>
              <a:rPr lang="en-US" sz="2000" dirty="0"/>
              <a:t>to generate </a:t>
            </a:r>
          </a:p>
          <a:p>
            <a:pPr algn="ctr"/>
            <a:r>
              <a:rPr lang="en-US" sz="2000" dirty="0"/>
              <a:t>the input </a:t>
            </a:r>
            <a:r>
              <a:rPr lang="en-US" sz="2400" b="1" i="1" dirty="0" err="1"/>
              <a:t>x</a:t>
            </a:r>
            <a:r>
              <a:rPr lang="en-US" sz="2400" b="1" i="1" baseline="-25000" dirty="0" err="1"/>
              <a:t>r</a:t>
            </a:r>
            <a:endParaRPr lang="en-US" sz="2050" b="1" i="1" baseline="-25000" dirty="0"/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37583" y="4997399"/>
            <a:ext cx="1884412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249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036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3688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3"/>
            <a:ext cx="216918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i</a:t>
            </a:r>
            <a:r>
              <a:rPr lang="en-US" sz="2000" dirty="0" err="1"/>
              <a:t>-th</a:t>
            </a:r>
            <a:r>
              <a:rPr lang="en-US" sz="2000" dirty="0"/>
              <a:t> output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pred</a:t>
            </a:r>
            <a:r>
              <a:rPr lang="en-US" sz="2050" b="1" i="1" dirty="0"/>
              <a:t> (</a:t>
            </a:r>
            <a:r>
              <a:rPr lang="en-US" sz="2050" b="1" i="1" dirty="0" err="1"/>
              <a:t>i</a:t>
            </a:r>
            <a:r>
              <a:rPr lang="en-US" sz="2050" b="1" i="1" dirty="0"/>
              <a:t>)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5731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554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718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231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959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737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11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</p:spTree>
    <p:extLst>
      <p:ext uri="{BB962C8B-B14F-4D97-AF65-F5344CB8AC3E}">
        <p14:creationId xmlns:p14="http://schemas.microsoft.com/office/powerpoint/2010/main" val="3067458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626" y="3803761"/>
            <a:ext cx="172053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input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/>
              <a:t>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99034" y="3723964"/>
            <a:ext cx="346966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orientation-encoding matrix </a:t>
            </a:r>
            <a:r>
              <a:rPr lang="en-US" sz="2800" b="1" i="1" dirty="0"/>
              <a:t>Q</a:t>
            </a:r>
            <a:r>
              <a:rPr lang="en-US" sz="2000" i="1" dirty="0"/>
              <a:t> </a:t>
            </a:r>
          </a:p>
          <a:p>
            <a:pPr algn="ctr"/>
            <a:r>
              <a:rPr lang="en-US" sz="2000" dirty="0"/>
              <a:t>for the four-taxa-set </a:t>
            </a:r>
          </a:p>
          <a:p>
            <a:pPr algn="ctr"/>
            <a:r>
              <a:rPr lang="en-US" sz="2000" dirty="0"/>
              <a:t>(</a:t>
            </a:r>
            <a:r>
              <a:rPr lang="en-US" sz="2000" i="1" dirty="0"/>
              <a:t>t</a:t>
            </a:r>
            <a:r>
              <a:rPr lang="en-US" sz="2000" i="1" baseline="-25000" dirty="0"/>
              <a:t>1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2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3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4</a:t>
            </a:r>
            <a:r>
              <a:rPr lang="en-US" sz="2000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79634" y="3808227"/>
            <a:ext cx="2209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matrix </a:t>
            </a:r>
            <a:r>
              <a:rPr lang="en-US" sz="2800" b="1" i="1" dirty="0" err="1"/>
              <a:t>Q</a:t>
            </a:r>
            <a:r>
              <a:rPr lang="en-US" sz="2800" b="1" i="1" baseline="30000" dirty="0" err="1"/>
              <a:t>m</a:t>
            </a:r>
            <a:endParaRPr lang="en-US" sz="280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665781" y="873272"/>
            <a:ext cx="15530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50" dirty="0" smtClean="0">
                <a:solidFill>
                  <a:srgbClr val="FF0000"/>
                </a:solidFill>
              </a:rPr>
              <a:t>Not exactly what is explained</a:t>
            </a:r>
          </a:p>
          <a:p>
            <a:r>
              <a:rPr lang="en-US" sz="2050" b="1" dirty="0" smtClean="0"/>
              <a:t>Masking</a:t>
            </a:r>
            <a:endParaRPr lang="en-US" sz="205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0265423" y="1193959"/>
            <a:ext cx="1425390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3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3</a:t>
            </a:r>
            <a:r>
              <a:rPr lang="en-US" sz="2050" dirty="0"/>
              <a:t>,</a:t>
            </a:r>
            <a:r>
              <a:rPr lang="en-US" sz="2050" i="1" dirty="0"/>
              <a:t>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11149" y="3789123"/>
            <a:ext cx="2782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tensor </a:t>
            </a:r>
            <a:r>
              <a:rPr lang="en-US" sz="2800" b="1" i="1" dirty="0" err="1"/>
              <a:t>Q</a:t>
            </a:r>
            <a:r>
              <a:rPr lang="en-US" sz="2800" b="1" i="1" baseline="-25000" dirty="0" err="1"/>
              <a:t>masked</a:t>
            </a:r>
            <a:endParaRPr lang="en-US" sz="280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92443" y="3803767"/>
            <a:ext cx="230300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target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08896" y="4351342"/>
            <a:ext cx="1881359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43038" y="5206090"/>
            <a:ext cx="1514197" cy="1146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flatten</a:t>
            </a:r>
            <a:r>
              <a:rPr lang="en-US" sz="2050" dirty="0"/>
              <a:t> </a:t>
            </a:r>
            <a:r>
              <a:rPr lang="en-US" sz="2400" b="1" i="1" dirty="0"/>
              <a:t>X 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050" dirty="0"/>
              <a:t> </a:t>
            </a:r>
          </a:p>
          <a:p>
            <a:pPr algn="ctr"/>
            <a:r>
              <a:rPr lang="en-US" sz="2000" dirty="0"/>
              <a:t>to generate </a:t>
            </a:r>
          </a:p>
          <a:p>
            <a:pPr algn="ctr"/>
            <a:r>
              <a:rPr lang="en-US" sz="2000" dirty="0"/>
              <a:t>the input </a:t>
            </a:r>
            <a:r>
              <a:rPr lang="en-US" sz="2400" b="1" i="1" dirty="0" err="1"/>
              <a:t>x</a:t>
            </a:r>
            <a:r>
              <a:rPr lang="en-US" sz="2400" b="1" i="1" baseline="-25000" dirty="0" err="1"/>
              <a:t>r</a:t>
            </a:r>
            <a:endParaRPr lang="en-US" sz="2050" b="1" i="1" baseline="-25000" dirty="0"/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37583" y="4997399"/>
            <a:ext cx="1884412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249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036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3688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3"/>
            <a:ext cx="216918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i</a:t>
            </a:r>
            <a:r>
              <a:rPr lang="en-US" sz="2000" dirty="0" err="1"/>
              <a:t>-th</a:t>
            </a:r>
            <a:r>
              <a:rPr lang="en-US" sz="2000" dirty="0"/>
              <a:t> output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pred</a:t>
            </a:r>
            <a:r>
              <a:rPr lang="en-US" sz="2050" b="1" i="1" dirty="0"/>
              <a:t> (</a:t>
            </a:r>
            <a:r>
              <a:rPr lang="en-US" sz="2050" b="1" i="1" dirty="0" err="1"/>
              <a:t>i</a:t>
            </a:r>
            <a:r>
              <a:rPr lang="en-US" sz="2050" b="1" i="1" dirty="0"/>
              <a:t>)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5731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554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718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231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959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737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11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</p:spTree>
    <p:extLst>
      <p:ext uri="{BB962C8B-B14F-4D97-AF65-F5344CB8AC3E}">
        <p14:creationId xmlns:p14="http://schemas.microsoft.com/office/powerpoint/2010/main" val="3070213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roup 253"/>
          <p:cNvGrpSpPr/>
          <p:nvPr/>
        </p:nvGrpSpPr>
        <p:grpSpPr>
          <a:xfrm>
            <a:off x="988607" y="881309"/>
            <a:ext cx="2209836" cy="3120034"/>
            <a:chOff x="5579634" y="1211413"/>
            <a:chExt cx="2209836" cy="3120034"/>
          </a:xfrm>
        </p:grpSpPr>
        <p:sp>
          <p:nvSpPr>
            <p:cNvPr id="60" name="Rectangle 59"/>
            <p:cNvSpPr/>
            <p:nvPr/>
          </p:nvSpPr>
          <p:spPr>
            <a:xfrm>
              <a:off x="6008438" y="1211413"/>
              <a:ext cx="1204029" cy="264621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6047373" y="1250555"/>
              <a:ext cx="1122885" cy="327607"/>
              <a:chOff x="3824287" y="1995689"/>
              <a:chExt cx="1092993" cy="318886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3824287" y="1995689"/>
                <a:ext cx="1092993" cy="3188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 flipH="1">
                <a:off x="4179094" y="2016916"/>
                <a:ext cx="2381" cy="278807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4555331" y="2016916"/>
                <a:ext cx="0" cy="278807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6047372" y="2885049"/>
              <a:ext cx="1122885" cy="327607"/>
              <a:chOff x="3976687" y="2148089"/>
              <a:chExt cx="1092993" cy="318886"/>
            </a:xfrm>
            <a:solidFill>
              <a:srgbClr val="FEE8E8"/>
            </a:solidFill>
          </p:grpSpPr>
          <p:sp>
            <p:nvSpPr>
              <p:cNvPr id="70" name="Rectangle 69"/>
              <p:cNvSpPr/>
              <p:nvPr/>
            </p:nvSpPr>
            <p:spPr>
              <a:xfrm>
                <a:off x="3976687" y="2148089"/>
                <a:ext cx="1092993" cy="318886"/>
              </a:xfrm>
              <a:prstGeom prst="rect">
                <a:avLst/>
              </a:prstGeom>
              <a:grpFill/>
              <a:ln>
                <a:solidFill>
                  <a:srgbClr val="CE0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33" dirty="0">
                  <a:solidFill>
                    <a:srgbClr val="CE0C0C"/>
                  </a:solidFill>
                </a:endParaRPr>
              </a:p>
            </p:txBody>
          </p:sp>
          <p:cxnSp>
            <p:nvCxnSpPr>
              <p:cNvPr id="71" name="Straight Connector 70"/>
              <p:cNvCxnSpPr/>
              <p:nvPr/>
            </p:nvCxnSpPr>
            <p:spPr>
              <a:xfrm flipH="1">
                <a:off x="4331494" y="21693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rgbClr val="CE0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4707731" y="2169316"/>
                <a:ext cx="0" cy="278807"/>
              </a:xfrm>
              <a:prstGeom prst="line">
                <a:avLst/>
              </a:prstGeom>
              <a:grpFill/>
              <a:ln w="19050">
                <a:solidFill>
                  <a:srgbClr val="CE0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6618587" y="169167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6608802" y="250125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6607576" y="332029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082064" y="1256670"/>
              <a:ext cx="285233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6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464675" y="1256670"/>
              <a:ext cx="285233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6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849000" y="1256059"/>
              <a:ext cx="285233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6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579634" y="3808227"/>
              <a:ext cx="22098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masked matrix </a:t>
              </a:r>
              <a:r>
                <a:rPr lang="en-US" sz="2800" b="1" i="1" dirty="0" err="1"/>
                <a:t>Q</a:t>
              </a:r>
              <a:r>
                <a:rPr lang="en-US" sz="2800" b="1" i="1" baseline="30000" dirty="0" err="1"/>
                <a:t>m</a:t>
              </a:r>
              <a:endParaRPr lang="en-US" sz="2800" b="1" i="1" baseline="30000" dirty="0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6047372" y="2079242"/>
              <a:ext cx="1122885" cy="327607"/>
              <a:chOff x="3976687" y="2148089"/>
              <a:chExt cx="1092993" cy="318886"/>
            </a:xfrm>
            <a:solidFill>
              <a:srgbClr val="FEE8E8"/>
            </a:solidFill>
          </p:grpSpPr>
          <p:sp>
            <p:nvSpPr>
              <p:cNvPr id="92" name="Rectangle 91"/>
              <p:cNvSpPr/>
              <p:nvPr/>
            </p:nvSpPr>
            <p:spPr>
              <a:xfrm>
                <a:off x="3976687" y="2148089"/>
                <a:ext cx="1092993" cy="318886"/>
              </a:xfrm>
              <a:prstGeom prst="rect">
                <a:avLst/>
              </a:prstGeom>
              <a:grpFill/>
              <a:ln>
                <a:solidFill>
                  <a:srgbClr val="CE0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33" dirty="0">
                  <a:solidFill>
                    <a:srgbClr val="CE0C0C"/>
                  </a:solidFill>
                </a:endParaRPr>
              </a:p>
            </p:txBody>
          </p:sp>
          <p:cxnSp>
            <p:nvCxnSpPr>
              <p:cNvPr id="93" name="Straight Connector 92"/>
              <p:cNvCxnSpPr/>
              <p:nvPr/>
            </p:nvCxnSpPr>
            <p:spPr>
              <a:xfrm flipH="1">
                <a:off x="4331494" y="21693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rgbClr val="CE0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>
                <a:off x="4707731" y="2169316"/>
                <a:ext cx="0" cy="278807"/>
              </a:xfrm>
              <a:prstGeom prst="line">
                <a:avLst/>
              </a:prstGeom>
              <a:grpFill/>
              <a:ln w="19050">
                <a:solidFill>
                  <a:srgbClr val="CE0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/>
            <p:cNvSpPr txBox="1"/>
            <p:nvPr/>
          </p:nvSpPr>
          <p:spPr>
            <a:xfrm>
              <a:off x="6009695" y="2084612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382519" y="2089504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760321" y="2082369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007083" y="2886495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379906" y="2891387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757708" y="2884252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1084836" y="117567"/>
            <a:ext cx="3469668" cy="4375924"/>
            <a:chOff x="8199034" y="486813"/>
            <a:chExt cx="3469668" cy="4375924"/>
          </a:xfrm>
        </p:grpSpPr>
        <p:sp>
          <p:nvSpPr>
            <p:cNvPr id="85" name="TextBox 84"/>
            <p:cNvSpPr txBox="1"/>
            <p:nvPr/>
          </p:nvSpPr>
          <p:spPr>
            <a:xfrm>
              <a:off x="8199034" y="3723964"/>
              <a:ext cx="3469668" cy="1138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orientation-encoding matrix </a:t>
              </a:r>
              <a:r>
                <a:rPr lang="en-US" sz="2800" b="1" i="1" dirty="0"/>
                <a:t>Q</a:t>
              </a:r>
              <a:r>
                <a:rPr lang="en-US" sz="2000" i="1" dirty="0"/>
                <a:t> </a:t>
              </a:r>
            </a:p>
            <a:p>
              <a:pPr algn="ctr"/>
              <a:r>
                <a:rPr lang="en-US" sz="2000" dirty="0"/>
                <a:t>for the four-taxa-set </a:t>
              </a:r>
            </a:p>
            <a:p>
              <a:pPr algn="ctr"/>
              <a:r>
                <a:rPr lang="en-US" sz="2000" dirty="0"/>
                <a:t>(</a:t>
              </a:r>
              <a:r>
                <a:rPr lang="en-US" sz="2000" i="1" dirty="0"/>
                <a:t>t</a:t>
              </a:r>
              <a:r>
                <a:rPr lang="en-US" sz="2000" i="1" baseline="-25000" dirty="0"/>
                <a:t>1</a:t>
              </a:r>
              <a:r>
                <a:rPr lang="en-US" sz="2000" dirty="0"/>
                <a:t>,</a:t>
              </a:r>
              <a:r>
                <a:rPr lang="en-US" sz="2000" i="1" dirty="0"/>
                <a:t> t</a:t>
              </a:r>
              <a:r>
                <a:rPr lang="en-US" sz="2000" i="1" baseline="-25000" dirty="0"/>
                <a:t>2</a:t>
              </a:r>
              <a:r>
                <a:rPr lang="en-US" sz="2000" dirty="0"/>
                <a:t>,</a:t>
              </a:r>
              <a:r>
                <a:rPr lang="en-US" sz="2000" i="1" dirty="0"/>
                <a:t> t</a:t>
              </a:r>
              <a:r>
                <a:rPr lang="en-US" sz="2000" i="1" baseline="-25000" dirty="0"/>
                <a:t>3</a:t>
              </a:r>
              <a:r>
                <a:rPr lang="en-US" sz="2000" dirty="0"/>
                <a:t>,</a:t>
              </a:r>
              <a:r>
                <a:rPr lang="en-US" sz="2000" i="1" dirty="0"/>
                <a:t> t</a:t>
              </a:r>
              <a:r>
                <a:rPr lang="en-US" sz="2000" i="1" baseline="-25000" dirty="0"/>
                <a:t>4</a:t>
              </a:r>
              <a:r>
                <a:rPr lang="en-US" sz="2000" dirty="0"/>
                <a:t>)</a:t>
              </a:r>
            </a:p>
          </p:txBody>
        </p:sp>
        <p:grpSp>
          <p:nvGrpSpPr>
            <p:cNvPr id="255" name="Group 254"/>
            <p:cNvGrpSpPr/>
            <p:nvPr/>
          </p:nvGrpSpPr>
          <p:grpSpPr>
            <a:xfrm>
              <a:off x="9041468" y="486813"/>
              <a:ext cx="1933063" cy="3370817"/>
              <a:chOff x="9041468" y="486813"/>
              <a:chExt cx="1933063" cy="3370817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9106589" y="1211413"/>
                <a:ext cx="1204029" cy="264621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/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9145524" y="1250555"/>
                <a:ext cx="1122885" cy="327607"/>
                <a:chOff x="3824287" y="1995689"/>
                <a:chExt cx="1092993" cy="318886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3824287" y="19956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12" name="Straight Connector 11"/>
                <p:cNvCxnSpPr/>
                <p:nvPr/>
              </p:nvCxnSpPr>
              <p:spPr>
                <a:xfrm flipH="1">
                  <a:off x="4179094" y="20169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4555331" y="20169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/>
            </p:nvGrpSpPr>
            <p:grpSpPr>
              <a:xfrm>
                <a:off x="9145522" y="2082322"/>
                <a:ext cx="1122885" cy="327607"/>
                <a:chOff x="3976687" y="2148089"/>
                <a:chExt cx="1092993" cy="318886"/>
              </a:xfrm>
            </p:grpSpPr>
            <p:sp>
              <p:nvSpPr>
                <p:cNvPr id="19" name="Rectangle 18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20" name="Straight Connector 19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/>
            </p:nvGrpSpPr>
            <p:grpSpPr>
              <a:xfrm>
                <a:off x="9145522" y="2885049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25" name="Straight Connector 24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Straight Connector 27"/>
              <p:cNvCxnSpPr/>
              <p:nvPr/>
            </p:nvCxnSpPr>
            <p:spPr>
              <a:xfrm>
                <a:off x="9716738" y="1691677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9706953" y="2501254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9705727" y="3320290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9093523" y="2894203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485919" y="2903988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853935" y="2896853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180215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9562826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9947151" y="1256059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9181399" y="2085563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564010" y="2085563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948335" y="2084952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cxnSp>
            <p:nvCxnSpPr>
              <p:cNvPr id="6" name="Straight Arrow Connector 5"/>
              <p:cNvCxnSpPr/>
              <p:nvPr/>
            </p:nvCxnSpPr>
            <p:spPr>
              <a:xfrm flipH="1">
                <a:off x="10522645" y="1127960"/>
                <a:ext cx="26095" cy="2646217"/>
              </a:xfrm>
              <a:prstGeom prst="straightConnector1">
                <a:avLst/>
              </a:prstGeom>
              <a:ln w="57150"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>
              <a:xfrm>
                <a:off x="9069935" y="961927"/>
                <a:ext cx="1269369" cy="8368"/>
              </a:xfrm>
              <a:prstGeom prst="straightConnector1">
                <a:avLst/>
              </a:prstGeom>
              <a:ln w="57150"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9041468" y="486813"/>
                <a:ext cx="1518652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dirty="0"/>
                  <a:t>orientations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 rot="5400000">
                <a:off x="10093405" y="2418154"/>
                <a:ext cx="1343296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dirty="0"/>
                  <a:t>gene trees</a:t>
                </a:r>
              </a:p>
            </p:txBody>
          </p:sp>
        </p:grpSp>
      </p:grpSp>
      <p:sp>
        <p:nvSpPr>
          <p:cNvPr id="41" name="Trapezoid 40"/>
          <p:cNvSpPr/>
          <p:nvPr/>
        </p:nvSpPr>
        <p:spPr>
          <a:xfrm rot="5400000">
            <a:off x="34850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7122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5539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6535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9673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8728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60284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40200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62153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28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86" idx="2"/>
            <a:endCxn id="321" idx="0"/>
          </p:cNvCxnSpPr>
          <p:nvPr/>
        </p:nvCxnSpPr>
        <p:spPr>
          <a:xfrm rot="16200000" flipH="1">
            <a:off x="1336469" y="4758398"/>
            <a:ext cx="2178632" cy="664521"/>
          </a:xfrm>
          <a:prstGeom prst="bentConnector3">
            <a:avLst>
              <a:gd name="adj1" fmla="val 5000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7203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nip Same Side Corner Rectangle 29"/>
          <p:cNvSpPr/>
          <p:nvPr/>
        </p:nvSpPr>
        <p:spPr>
          <a:xfrm rot="10800000">
            <a:off x="117090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77" idx="0"/>
            <a:endCxn id="30" idx="2"/>
          </p:cNvCxnSpPr>
          <p:nvPr/>
        </p:nvCxnSpPr>
        <p:spPr>
          <a:xfrm>
            <a:off x="13860334" y="2258387"/>
            <a:ext cx="50602" cy="4145373"/>
          </a:xfrm>
          <a:prstGeom prst="bentConnector3">
            <a:avLst>
              <a:gd name="adj1" fmla="val 1365102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7516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1007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91396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91396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7108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7011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6998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91202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4989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8641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805497" y="7654263"/>
            <a:ext cx="216918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i</a:t>
            </a:r>
            <a:r>
              <a:rPr lang="en-US" sz="2000" dirty="0" err="1"/>
              <a:t>-th</a:t>
            </a:r>
            <a:r>
              <a:rPr lang="en-US" sz="2000" dirty="0"/>
              <a:t> output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pred</a:t>
            </a:r>
            <a:r>
              <a:rPr lang="en-US" sz="2050" b="1" i="1" dirty="0"/>
              <a:t> (</a:t>
            </a:r>
            <a:r>
              <a:rPr lang="en-US" sz="2050" b="1" i="1" dirty="0" err="1"/>
              <a:t>i</a:t>
            </a:r>
            <a:r>
              <a:rPr lang="en-US" sz="2050" b="1" i="1" dirty="0"/>
              <a:t>)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91396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90684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94507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8671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91184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94912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8690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103047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8064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  <p:sp>
        <p:nvSpPr>
          <p:cNvPr id="256" name="Right Arrow 255"/>
          <p:cNvSpPr/>
          <p:nvPr/>
        </p:nvSpPr>
        <p:spPr>
          <a:xfrm rot="10800000">
            <a:off x="6784820" y="1783591"/>
            <a:ext cx="1061592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57" name="TextBox 256"/>
          <p:cNvSpPr txBox="1"/>
          <p:nvPr/>
        </p:nvSpPr>
        <p:spPr>
          <a:xfrm>
            <a:off x="6777172" y="1362847"/>
            <a:ext cx="1098578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50" b="1" dirty="0" smtClean="0"/>
              <a:t>Masking</a:t>
            </a:r>
            <a:endParaRPr lang="en-US" sz="2050" b="1" dirty="0"/>
          </a:p>
        </p:txBody>
      </p:sp>
      <p:grpSp>
        <p:nvGrpSpPr>
          <p:cNvPr id="258" name="Group 257"/>
          <p:cNvGrpSpPr/>
          <p:nvPr/>
        </p:nvGrpSpPr>
        <p:grpSpPr>
          <a:xfrm>
            <a:off x="4109518" y="426720"/>
            <a:ext cx="2641842" cy="3109137"/>
            <a:chOff x="2315275" y="851803"/>
            <a:chExt cx="2641842" cy="3109137"/>
          </a:xfrm>
        </p:grpSpPr>
        <p:sp>
          <p:nvSpPr>
            <p:cNvPr id="259" name="TextBox 258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457897" y="1986341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3" name="Straight Connector 262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6" name="Group 265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279" name="TextBox 278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280" name="Oval 279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7" name="Group 266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277" name="TextBox 276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278" name="Oval 277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75" name="TextBox 274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9" name="Straight Connector 268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Right Arrow 271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ight Arrow 272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ight Arrow 273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1" name="Group 280"/>
          <p:cNvGrpSpPr/>
          <p:nvPr/>
        </p:nvGrpSpPr>
        <p:grpSpPr>
          <a:xfrm>
            <a:off x="7965009" y="426720"/>
            <a:ext cx="2641842" cy="3109137"/>
            <a:chOff x="2315275" y="851803"/>
            <a:chExt cx="2641842" cy="3109137"/>
          </a:xfrm>
        </p:grpSpPr>
        <p:sp>
          <p:nvSpPr>
            <p:cNvPr id="282" name="TextBox 281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488377" y="1986341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050" i="1" dirty="0" smtClean="0"/>
                <a:t>t</a:t>
              </a:r>
              <a:r>
                <a:rPr lang="en-US" sz="2050" i="1" baseline="-25000" dirty="0" smtClean="0"/>
                <a:t>2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4</a:t>
              </a:r>
              <a:r>
                <a:rPr lang="en-US" sz="2050" dirty="0" smtClean="0"/>
                <a:t>)</a:t>
              </a:r>
              <a:endParaRPr lang="en-US" sz="2050" dirty="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6" name="Straight Connector 285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9" name="Group 288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302" name="TextBox 301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303" name="Oval 302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300" name="TextBox 299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301" name="Oval 300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1" name="Group 290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98" name="TextBox 297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99" name="Oval 298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92" name="Straight Connector 291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Right Arrow 294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ight Arrow 295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ight Arrow 296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4" name="Right Arrow 303"/>
          <p:cNvSpPr/>
          <p:nvPr/>
        </p:nvSpPr>
        <p:spPr>
          <a:xfrm rot="10800000">
            <a:off x="2727932" y="1783588"/>
            <a:ext cx="1262988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305" name="TextBox 304"/>
          <p:cNvSpPr txBox="1"/>
          <p:nvPr/>
        </p:nvSpPr>
        <p:spPr>
          <a:xfrm>
            <a:off x="2648247" y="1104341"/>
            <a:ext cx="146578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50" b="1" dirty="0" smtClean="0"/>
              <a:t>Orientation</a:t>
            </a:r>
          </a:p>
          <a:p>
            <a:pPr algn="ctr"/>
            <a:r>
              <a:rPr lang="en-US" sz="2050" b="1" dirty="0" smtClean="0"/>
              <a:t>Encoding</a:t>
            </a:r>
            <a:endParaRPr lang="en-US" sz="2050" b="1" dirty="0"/>
          </a:p>
        </p:txBody>
      </p:sp>
      <p:grpSp>
        <p:nvGrpSpPr>
          <p:cNvPr id="318" name="Group 317"/>
          <p:cNvGrpSpPr/>
          <p:nvPr/>
        </p:nvGrpSpPr>
        <p:grpSpPr>
          <a:xfrm>
            <a:off x="402295" y="4281808"/>
            <a:ext cx="1499073" cy="1737923"/>
            <a:chOff x="1282691" y="4233410"/>
            <a:chExt cx="1499073" cy="1737923"/>
          </a:xfrm>
        </p:grpSpPr>
        <p:grpSp>
          <p:nvGrpSpPr>
            <p:cNvPr id="310" name="Group 309"/>
            <p:cNvGrpSpPr/>
            <p:nvPr/>
          </p:nvGrpSpPr>
          <p:grpSpPr>
            <a:xfrm>
              <a:off x="1445027" y="5359806"/>
              <a:ext cx="1182959" cy="611527"/>
              <a:chOff x="1231785" y="4812969"/>
              <a:chExt cx="1182959" cy="611527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231785" y="4812969"/>
                <a:ext cx="1182959" cy="611527"/>
              </a:xfrm>
              <a:prstGeom prst="rect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Freeform 308"/>
              <p:cNvSpPr/>
              <p:nvPr/>
            </p:nvSpPr>
            <p:spPr>
              <a:xfrm>
                <a:off x="1238250" y="4905351"/>
                <a:ext cx="1171575" cy="457226"/>
              </a:xfrm>
              <a:custGeom>
                <a:avLst/>
                <a:gdLst>
                  <a:gd name="connsiteX0" fmla="*/ 0 w 1171575"/>
                  <a:gd name="connsiteY0" fmla="*/ 581082 h 609660"/>
                  <a:gd name="connsiteX1" fmla="*/ 352425 w 1171575"/>
                  <a:gd name="connsiteY1" fmla="*/ 57 h 609660"/>
                  <a:gd name="connsiteX2" fmla="*/ 819150 w 1171575"/>
                  <a:gd name="connsiteY2" fmla="*/ 609657 h 609660"/>
                  <a:gd name="connsiteX3" fmla="*/ 1171575 w 1171575"/>
                  <a:gd name="connsiteY3" fmla="*/ 9582 h 609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609660">
                    <a:moveTo>
                      <a:pt x="0" y="581082"/>
                    </a:moveTo>
                    <a:cubicBezTo>
                      <a:pt x="107950" y="288188"/>
                      <a:pt x="215900" y="-4706"/>
                      <a:pt x="352425" y="57"/>
                    </a:cubicBezTo>
                    <a:cubicBezTo>
                      <a:pt x="488950" y="4819"/>
                      <a:pt x="682625" y="608070"/>
                      <a:pt x="819150" y="609657"/>
                    </a:cubicBezTo>
                    <a:cubicBezTo>
                      <a:pt x="955675" y="611244"/>
                      <a:pt x="1119187" y="103245"/>
                      <a:pt x="1171575" y="9582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1282691" y="4233410"/>
              <a:ext cx="1499073" cy="706604"/>
            </a:xfrm>
            <a:prstGeom prst="rect">
              <a:avLst/>
            </a:prstGeom>
            <a:noFill/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 of four-taxa-set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2" name="Straight Connector 311"/>
            <p:cNvCxnSpPr>
              <a:stCxn id="311" idx="2"/>
              <a:endCxn id="43" idx="0"/>
            </p:cNvCxnSpPr>
            <p:nvPr/>
          </p:nvCxnSpPr>
          <p:spPr>
            <a:xfrm>
              <a:off x="2032228" y="4940014"/>
              <a:ext cx="4279" cy="419792"/>
            </a:xfrm>
            <a:prstGeom prst="line">
              <a:avLst/>
            </a:prstGeom>
            <a:ln w="57150"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0" name="Elbow Connector 319"/>
          <p:cNvCxnSpPr>
            <a:stCxn id="43" idx="2"/>
            <a:endCxn id="321" idx="2"/>
          </p:cNvCxnSpPr>
          <p:nvPr/>
        </p:nvCxnSpPr>
        <p:spPr>
          <a:xfrm rot="16200000" flipH="1">
            <a:off x="1647124" y="5528718"/>
            <a:ext cx="378635" cy="1360660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Or 320"/>
          <p:cNvSpPr/>
          <p:nvPr/>
        </p:nvSpPr>
        <p:spPr>
          <a:xfrm>
            <a:off x="2516771" y="6179975"/>
            <a:ext cx="482550" cy="436781"/>
          </a:xfrm>
          <a:prstGeom prst="flowChartOr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327"/>
          <p:cNvCxnSpPr>
            <a:stCxn id="321" idx="6"/>
            <a:endCxn id="41" idx="2"/>
          </p:cNvCxnSpPr>
          <p:nvPr/>
        </p:nvCxnSpPr>
        <p:spPr>
          <a:xfrm>
            <a:off x="2999321" y="6398366"/>
            <a:ext cx="654233" cy="2335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Chevron 334"/>
          <p:cNvSpPr/>
          <p:nvPr/>
        </p:nvSpPr>
        <p:spPr>
          <a:xfrm>
            <a:off x="10649043" y="1052718"/>
            <a:ext cx="1260120" cy="1925834"/>
          </a:xfrm>
          <a:prstGeom prst="chevron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214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roup 253"/>
          <p:cNvGrpSpPr/>
          <p:nvPr/>
        </p:nvGrpSpPr>
        <p:grpSpPr>
          <a:xfrm>
            <a:off x="989561" y="691783"/>
            <a:ext cx="2209836" cy="3120034"/>
            <a:chOff x="5579634" y="1211413"/>
            <a:chExt cx="2209836" cy="3120034"/>
          </a:xfrm>
        </p:grpSpPr>
        <p:sp>
          <p:nvSpPr>
            <p:cNvPr id="60" name="Rectangle 59"/>
            <p:cNvSpPr/>
            <p:nvPr/>
          </p:nvSpPr>
          <p:spPr>
            <a:xfrm>
              <a:off x="6008438" y="1211413"/>
              <a:ext cx="1204029" cy="264621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6047373" y="1250555"/>
              <a:ext cx="1122885" cy="327607"/>
              <a:chOff x="3824287" y="1995689"/>
              <a:chExt cx="1092993" cy="318886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3824287" y="1995689"/>
                <a:ext cx="1092993" cy="3188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 flipH="1">
                <a:off x="4179094" y="2016916"/>
                <a:ext cx="2381" cy="278807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4555331" y="2016916"/>
                <a:ext cx="0" cy="278807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6047372" y="2885049"/>
              <a:ext cx="1122885" cy="327607"/>
              <a:chOff x="3976687" y="2148089"/>
              <a:chExt cx="1092993" cy="318886"/>
            </a:xfrm>
            <a:solidFill>
              <a:srgbClr val="FEE8E8"/>
            </a:solidFill>
          </p:grpSpPr>
          <p:sp>
            <p:nvSpPr>
              <p:cNvPr id="70" name="Rectangle 69"/>
              <p:cNvSpPr/>
              <p:nvPr/>
            </p:nvSpPr>
            <p:spPr>
              <a:xfrm>
                <a:off x="3976687" y="2148089"/>
                <a:ext cx="1092993" cy="318886"/>
              </a:xfrm>
              <a:prstGeom prst="rect">
                <a:avLst/>
              </a:prstGeom>
              <a:grpFill/>
              <a:ln>
                <a:solidFill>
                  <a:srgbClr val="CE0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33" dirty="0">
                  <a:solidFill>
                    <a:srgbClr val="CE0C0C"/>
                  </a:solidFill>
                </a:endParaRPr>
              </a:p>
            </p:txBody>
          </p:sp>
          <p:cxnSp>
            <p:nvCxnSpPr>
              <p:cNvPr id="71" name="Straight Connector 70"/>
              <p:cNvCxnSpPr/>
              <p:nvPr/>
            </p:nvCxnSpPr>
            <p:spPr>
              <a:xfrm flipH="1">
                <a:off x="4331494" y="21693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rgbClr val="CE0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4707731" y="2169316"/>
                <a:ext cx="0" cy="278807"/>
              </a:xfrm>
              <a:prstGeom prst="line">
                <a:avLst/>
              </a:prstGeom>
              <a:grpFill/>
              <a:ln w="19050">
                <a:solidFill>
                  <a:srgbClr val="CE0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6618587" y="169167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6608802" y="250125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6607576" y="332029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082064" y="1256670"/>
              <a:ext cx="285233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6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464675" y="1256670"/>
              <a:ext cx="285233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6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849000" y="1256059"/>
              <a:ext cx="285233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6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579634" y="3808227"/>
              <a:ext cx="22098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masked matrix </a:t>
              </a:r>
              <a:r>
                <a:rPr lang="en-US" sz="2800" b="1" i="1" dirty="0" err="1"/>
                <a:t>Q</a:t>
              </a:r>
              <a:r>
                <a:rPr lang="en-US" sz="2800" b="1" i="1" baseline="30000" dirty="0" err="1"/>
                <a:t>m</a:t>
              </a:r>
              <a:endParaRPr lang="en-US" sz="2800" b="1" i="1" baseline="30000" dirty="0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6047372" y="2079242"/>
              <a:ext cx="1122885" cy="327607"/>
              <a:chOff x="3976687" y="2148089"/>
              <a:chExt cx="1092993" cy="318886"/>
            </a:xfrm>
            <a:solidFill>
              <a:srgbClr val="FEE8E8"/>
            </a:solidFill>
          </p:grpSpPr>
          <p:sp>
            <p:nvSpPr>
              <p:cNvPr id="92" name="Rectangle 91"/>
              <p:cNvSpPr/>
              <p:nvPr/>
            </p:nvSpPr>
            <p:spPr>
              <a:xfrm>
                <a:off x="3976687" y="2148089"/>
                <a:ext cx="1092993" cy="318886"/>
              </a:xfrm>
              <a:prstGeom prst="rect">
                <a:avLst/>
              </a:prstGeom>
              <a:grpFill/>
              <a:ln>
                <a:solidFill>
                  <a:srgbClr val="CE0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33" dirty="0">
                  <a:solidFill>
                    <a:srgbClr val="CE0C0C"/>
                  </a:solidFill>
                </a:endParaRPr>
              </a:p>
            </p:txBody>
          </p:sp>
          <p:cxnSp>
            <p:nvCxnSpPr>
              <p:cNvPr id="93" name="Straight Connector 92"/>
              <p:cNvCxnSpPr/>
              <p:nvPr/>
            </p:nvCxnSpPr>
            <p:spPr>
              <a:xfrm flipH="1">
                <a:off x="4331494" y="21693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rgbClr val="CE0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>
                <a:off x="4707731" y="2169316"/>
                <a:ext cx="0" cy="278807"/>
              </a:xfrm>
              <a:prstGeom prst="line">
                <a:avLst/>
              </a:prstGeom>
              <a:grpFill/>
              <a:ln w="19050">
                <a:solidFill>
                  <a:srgbClr val="CE0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/>
            <p:cNvSpPr txBox="1"/>
            <p:nvPr/>
          </p:nvSpPr>
          <p:spPr>
            <a:xfrm>
              <a:off x="6009695" y="2084612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382519" y="2089504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760321" y="2082369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007083" y="2886495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379906" y="2891387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757708" y="2884252"/>
              <a:ext cx="453211" cy="322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rgbClr val="FF0000"/>
                  </a:solidFill>
                </a:rPr>
                <a:t>1/3</a:t>
              </a:r>
              <a:endParaRPr lang="en-US" sz="1644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1084836" y="-34833"/>
            <a:ext cx="3469668" cy="4375924"/>
            <a:chOff x="8199034" y="486813"/>
            <a:chExt cx="3469668" cy="4375924"/>
          </a:xfrm>
        </p:grpSpPr>
        <p:sp>
          <p:nvSpPr>
            <p:cNvPr id="85" name="TextBox 84"/>
            <p:cNvSpPr txBox="1"/>
            <p:nvPr/>
          </p:nvSpPr>
          <p:spPr>
            <a:xfrm>
              <a:off x="8199034" y="3723964"/>
              <a:ext cx="3469668" cy="1138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orientation-encoding matrix </a:t>
              </a:r>
              <a:r>
                <a:rPr lang="en-US" sz="2800" b="1" i="1" dirty="0"/>
                <a:t>Q</a:t>
              </a:r>
              <a:r>
                <a:rPr lang="en-US" sz="2000" i="1" dirty="0"/>
                <a:t> </a:t>
              </a:r>
            </a:p>
            <a:p>
              <a:pPr algn="ctr"/>
              <a:r>
                <a:rPr lang="en-US" sz="2000" dirty="0"/>
                <a:t>for the four-taxa-set </a:t>
              </a:r>
            </a:p>
            <a:p>
              <a:pPr algn="ctr"/>
              <a:r>
                <a:rPr lang="en-US" sz="2000" dirty="0"/>
                <a:t>(</a:t>
              </a:r>
              <a:r>
                <a:rPr lang="en-US" sz="2000" i="1" dirty="0"/>
                <a:t>t</a:t>
              </a:r>
              <a:r>
                <a:rPr lang="en-US" sz="2000" i="1" baseline="-25000" dirty="0"/>
                <a:t>1</a:t>
              </a:r>
              <a:r>
                <a:rPr lang="en-US" sz="2000" dirty="0"/>
                <a:t>,</a:t>
              </a:r>
              <a:r>
                <a:rPr lang="en-US" sz="2000" i="1" dirty="0"/>
                <a:t> t</a:t>
              </a:r>
              <a:r>
                <a:rPr lang="en-US" sz="2000" i="1" baseline="-25000" dirty="0"/>
                <a:t>2</a:t>
              </a:r>
              <a:r>
                <a:rPr lang="en-US" sz="2000" dirty="0"/>
                <a:t>,</a:t>
              </a:r>
              <a:r>
                <a:rPr lang="en-US" sz="2000" i="1" dirty="0"/>
                <a:t> t</a:t>
              </a:r>
              <a:r>
                <a:rPr lang="en-US" sz="2000" i="1" baseline="-25000" dirty="0"/>
                <a:t>3</a:t>
              </a:r>
              <a:r>
                <a:rPr lang="en-US" sz="2000" dirty="0"/>
                <a:t>,</a:t>
              </a:r>
              <a:r>
                <a:rPr lang="en-US" sz="2000" i="1" dirty="0"/>
                <a:t> t</a:t>
              </a:r>
              <a:r>
                <a:rPr lang="en-US" sz="2000" i="1" baseline="-25000" dirty="0"/>
                <a:t>4</a:t>
              </a:r>
              <a:r>
                <a:rPr lang="en-US" sz="2000" dirty="0"/>
                <a:t>)</a:t>
              </a:r>
            </a:p>
          </p:txBody>
        </p:sp>
        <p:grpSp>
          <p:nvGrpSpPr>
            <p:cNvPr id="255" name="Group 254"/>
            <p:cNvGrpSpPr/>
            <p:nvPr/>
          </p:nvGrpSpPr>
          <p:grpSpPr>
            <a:xfrm>
              <a:off x="9041468" y="486813"/>
              <a:ext cx="1933063" cy="3370817"/>
              <a:chOff x="9041468" y="486813"/>
              <a:chExt cx="1933063" cy="3370817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9106589" y="1211413"/>
                <a:ext cx="1204029" cy="264621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/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9145524" y="1250555"/>
                <a:ext cx="1122885" cy="327607"/>
                <a:chOff x="3824287" y="1995689"/>
                <a:chExt cx="1092993" cy="318886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3824287" y="19956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12" name="Straight Connector 11"/>
                <p:cNvCxnSpPr/>
                <p:nvPr/>
              </p:nvCxnSpPr>
              <p:spPr>
                <a:xfrm flipH="1">
                  <a:off x="4179094" y="20169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4555331" y="20169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/>
            </p:nvGrpSpPr>
            <p:grpSpPr>
              <a:xfrm>
                <a:off x="9145522" y="2082322"/>
                <a:ext cx="1122885" cy="327607"/>
                <a:chOff x="3976687" y="2148089"/>
                <a:chExt cx="1092993" cy="318886"/>
              </a:xfrm>
            </p:grpSpPr>
            <p:sp>
              <p:nvSpPr>
                <p:cNvPr id="19" name="Rectangle 18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20" name="Straight Connector 19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/>
            </p:nvGrpSpPr>
            <p:grpSpPr>
              <a:xfrm>
                <a:off x="9145522" y="2885049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25" name="Straight Connector 24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Straight Connector 27"/>
              <p:cNvCxnSpPr/>
              <p:nvPr/>
            </p:nvCxnSpPr>
            <p:spPr>
              <a:xfrm>
                <a:off x="9716738" y="1691677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9706953" y="2501254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9705727" y="3320290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9093523" y="2894203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485919" y="2903988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853935" y="2896853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180215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9562826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9947151" y="1256059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9181399" y="2085563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564010" y="2085563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948335" y="2084952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cxnSp>
            <p:nvCxnSpPr>
              <p:cNvPr id="6" name="Straight Arrow Connector 5"/>
              <p:cNvCxnSpPr/>
              <p:nvPr/>
            </p:nvCxnSpPr>
            <p:spPr>
              <a:xfrm flipH="1">
                <a:off x="10522645" y="1127960"/>
                <a:ext cx="26095" cy="2646217"/>
              </a:xfrm>
              <a:prstGeom prst="straightConnector1">
                <a:avLst/>
              </a:prstGeom>
              <a:ln w="57150"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>
              <a:xfrm>
                <a:off x="9069935" y="961927"/>
                <a:ext cx="1269369" cy="8368"/>
              </a:xfrm>
              <a:prstGeom prst="straightConnector1">
                <a:avLst/>
              </a:prstGeom>
              <a:ln w="57150"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9041468" y="486813"/>
                <a:ext cx="1518652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dirty="0"/>
                  <a:t>orientations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 rot="5400000">
                <a:off x="10093405" y="2418154"/>
                <a:ext cx="1343296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dirty="0"/>
                  <a:t>gene trees</a:t>
                </a:r>
              </a:p>
            </p:txBody>
          </p:sp>
        </p:grpSp>
      </p:grpSp>
      <p:sp>
        <p:nvSpPr>
          <p:cNvPr id="41" name="Trapezoid 40"/>
          <p:cNvSpPr/>
          <p:nvPr/>
        </p:nvSpPr>
        <p:spPr>
          <a:xfrm rot="5400000">
            <a:off x="34850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7122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5539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6535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9673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8728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60284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40200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62153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28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86" idx="2"/>
            <a:endCxn id="321" idx="0"/>
          </p:cNvCxnSpPr>
          <p:nvPr/>
        </p:nvCxnSpPr>
        <p:spPr>
          <a:xfrm rot="16200000" flipH="1">
            <a:off x="1242183" y="4664112"/>
            <a:ext cx="2368158" cy="663567"/>
          </a:xfrm>
          <a:prstGeom prst="bentConnector3">
            <a:avLst>
              <a:gd name="adj1" fmla="val 21684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7203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nip Same Side Corner Rectangle 29"/>
          <p:cNvSpPr/>
          <p:nvPr/>
        </p:nvSpPr>
        <p:spPr>
          <a:xfrm rot="10800000">
            <a:off x="117090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77" idx="0"/>
            <a:endCxn id="30" idx="2"/>
          </p:cNvCxnSpPr>
          <p:nvPr/>
        </p:nvCxnSpPr>
        <p:spPr>
          <a:xfrm>
            <a:off x="13860334" y="2105987"/>
            <a:ext cx="50602" cy="4297773"/>
          </a:xfrm>
          <a:prstGeom prst="bentConnector3">
            <a:avLst>
              <a:gd name="adj1" fmla="val 1365102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7516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1007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91396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91396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7108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7011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6998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91202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4989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8641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805497" y="7654263"/>
            <a:ext cx="216918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i</a:t>
            </a:r>
            <a:r>
              <a:rPr lang="en-US" sz="2000" dirty="0" err="1"/>
              <a:t>-th</a:t>
            </a:r>
            <a:r>
              <a:rPr lang="en-US" sz="2000" dirty="0"/>
              <a:t> output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pred</a:t>
            </a:r>
            <a:r>
              <a:rPr lang="en-US" sz="2050" b="1" i="1" dirty="0"/>
              <a:t> (</a:t>
            </a:r>
            <a:r>
              <a:rPr lang="en-US" sz="2050" b="1" i="1" dirty="0" err="1"/>
              <a:t>i</a:t>
            </a:r>
            <a:r>
              <a:rPr lang="en-US" sz="2050" b="1" i="1" dirty="0"/>
              <a:t>)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91396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90684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94507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8671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91184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94912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8690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103047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8064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  <p:grpSp>
        <p:nvGrpSpPr>
          <p:cNvPr id="258" name="Group 257"/>
          <p:cNvGrpSpPr/>
          <p:nvPr/>
        </p:nvGrpSpPr>
        <p:grpSpPr>
          <a:xfrm>
            <a:off x="4109518" y="426720"/>
            <a:ext cx="2641842" cy="3109137"/>
            <a:chOff x="2315275" y="851803"/>
            <a:chExt cx="2641842" cy="3109137"/>
          </a:xfrm>
        </p:grpSpPr>
        <p:sp>
          <p:nvSpPr>
            <p:cNvPr id="259" name="TextBox 258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457897" y="1986341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3" name="Straight Connector 262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6" name="Group 265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279" name="TextBox 278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280" name="Oval 279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7" name="Group 266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277" name="TextBox 276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278" name="Oval 277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75" name="TextBox 274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9" name="Straight Connector 268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Right Arrow 271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ight Arrow 272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ight Arrow 273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1" name="Group 280"/>
          <p:cNvGrpSpPr/>
          <p:nvPr/>
        </p:nvGrpSpPr>
        <p:grpSpPr>
          <a:xfrm>
            <a:off x="7965009" y="426720"/>
            <a:ext cx="2641842" cy="3109137"/>
            <a:chOff x="2315275" y="851803"/>
            <a:chExt cx="2641842" cy="3109137"/>
          </a:xfrm>
        </p:grpSpPr>
        <p:sp>
          <p:nvSpPr>
            <p:cNvPr id="282" name="TextBox 281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488377" y="1986341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050" i="1" dirty="0" smtClean="0"/>
                <a:t>t</a:t>
              </a:r>
              <a:r>
                <a:rPr lang="en-US" sz="2050" i="1" baseline="-25000" dirty="0" smtClean="0"/>
                <a:t>2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4</a:t>
              </a:r>
              <a:r>
                <a:rPr lang="en-US" sz="2050" dirty="0" smtClean="0"/>
                <a:t>)</a:t>
              </a:r>
              <a:endParaRPr lang="en-US" sz="2050" dirty="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6" name="Straight Connector 285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9" name="Group 288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302" name="TextBox 301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303" name="Oval 302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300" name="TextBox 299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301" name="Oval 300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1" name="Group 290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98" name="TextBox 297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99" name="Oval 298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92" name="Straight Connector 291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Right Arrow 294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ight Arrow 295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ight Arrow 296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402295" y="4281808"/>
            <a:ext cx="1499073" cy="1737923"/>
            <a:chOff x="1282691" y="4233410"/>
            <a:chExt cx="1499073" cy="1737923"/>
          </a:xfrm>
        </p:grpSpPr>
        <p:grpSp>
          <p:nvGrpSpPr>
            <p:cNvPr id="310" name="Group 309"/>
            <p:cNvGrpSpPr/>
            <p:nvPr/>
          </p:nvGrpSpPr>
          <p:grpSpPr>
            <a:xfrm>
              <a:off x="1445027" y="5359806"/>
              <a:ext cx="1182959" cy="611527"/>
              <a:chOff x="1231785" y="4812969"/>
              <a:chExt cx="1182959" cy="611527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231785" y="4812969"/>
                <a:ext cx="1182959" cy="611527"/>
              </a:xfrm>
              <a:prstGeom prst="rect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Freeform 308"/>
              <p:cNvSpPr/>
              <p:nvPr/>
            </p:nvSpPr>
            <p:spPr>
              <a:xfrm>
                <a:off x="1238250" y="4905351"/>
                <a:ext cx="1171575" cy="457226"/>
              </a:xfrm>
              <a:custGeom>
                <a:avLst/>
                <a:gdLst>
                  <a:gd name="connsiteX0" fmla="*/ 0 w 1171575"/>
                  <a:gd name="connsiteY0" fmla="*/ 581082 h 609660"/>
                  <a:gd name="connsiteX1" fmla="*/ 352425 w 1171575"/>
                  <a:gd name="connsiteY1" fmla="*/ 57 h 609660"/>
                  <a:gd name="connsiteX2" fmla="*/ 819150 w 1171575"/>
                  <a:gd name="connsiteY2" fmla="*/ 609657 h 609660"/>
                  <a:gd name="connsiteX3" fmla="*/ 1171575 w 1171575"/>
                  <a:gd name="connsiteY3" fmla="*/ 9582 h 609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609660">
                    <a:moveTo>
                      <a:pt x="0" y="581082"/>
                    </a:moveTo>
                    <a:cubicBezTo>
                      <a:pt x="107950" y="288188"/>
                      <a:pt x="215900" y="-4706"/>
                      <a:pt x="352425" y="57"/>
                    </a:cubicBezTo>
                    <a:cubicBezTo>
                      <a:pt x="488950" y="4819"/>
                      <a:pt x="682625" y="608070"/>
                      <a:pt x="819150" y="609657"/>
                    </a:cubicBezTo>
                    <a:cubicBezTo>
                      <a:pt x="955675" y="611244"/>
                      <a:pt x="1119187" y="103245"/>
                      <a:pt x="1171575" y="9582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1282691" y="4233410"/>
              <a:ext cx="1499073" cy="706604"/>
            </a:xfrm>
            <a:prstGeom prst="rect">
              <a:avLst/>
            </a:prstGeom>
            <a:noFill/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 of four-taxa-set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2" name="Straight Connector 311"/>
            <p:cNvCxnSpPr>
              <a:stCxn id="311" idx="2"/>
              <a:endCxn id="43" idx="0"/>
            </p:cNvCxnSpPr>
            <p:nvPr/>
          </p:nvCxnSpPr>
          <p:spPr>
            <a:xfrm>
              <a:off x="2032228" y="4940014"/>
              <a:ext cx="4279" cy="419792"/>
            </a:xfrm>
            <a:prstGeom prst="line">
              <a:avLst/>
            </a:prstGeom>
            <a:ln w="57150"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0" name="Elbow Connector 319"/>
          <p:cNvCxnSpPr>
            <a:stCxn id="43" idx="2"/>
            <a:endCxn id="321" idx="2"/>
          </p:cNvCxnSpPr>
          <p:nvPr/>
        </p:nvCxnSpPr>
        <p:spPr>
          <a:xfrm rot="16200000" flipH="1">
            <a:off x="1647124" y="5528718"/>
            <a:ext cx="378635" cy="1360660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Or 320"/>
          <p:cNvSpPr/>
          <p:nvPr/>
        </p:nvSpPr>
        <p:spPr>
          <a:xfrm>
            <a:off x="2516771" y="6179975"/>
            <a:ext cx="482550" cy="436781"/>
          </a:xfrm>
          <a:prstGeom prst="flowChartOr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327"/>
          <p:cNvCxnSpPr>
            <a:stCxn id="321" idx="6"/>
            <a:endCxn id="41" idx="2"/>
          </p:cNvCxnSpPr>
          <p:nvPr/>
        </p:nvCxnSpPr>
        <p:spPr>
          <a:xfrm>
            <a:off x="2999321" y="6398366"/>
            <a:ext cx="654233" cy="2335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Chevron 334"/>
          <p:cNvSpPr/>
          <p:nvPr/>
        </p:nvSpPr>
        <p:spPr>
          <a:xfrm>
            <a:off x="10647886" y="1016691"/>
            <a:ext cx="1260120" cy="1925834"/>
          </a:xfrm>
          <a:prstGeom prst="chevron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6" name="Chevron 335"/>
          <p:cNvSpPr/>
          <p:nvPr/>
        </p:nvSpPr>
        <p:spPr>
          <a:xfrm rot="10800000">
            <a:off x="2722842" y="1007795"/>
            <a:ext cx="1260120" cy="1925834"/>
          </a:xfrm>
          <a:prstGeom prst="chevron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Flowchart: Off-page Connector 1"/>
          <p:cNvSpPr/>
          <p:nvPr/>
        </p:nvSpPr>
        <p:spPr>
          <a:xfrm rot="5400000">
            <a:off x="6064325" y="1444395"/>
            <a:ext cx="2481763" cy="970054"/>
          </a:xfrm>
          <a:prstGeom prst="flowChartOffpageConnector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Data 2"/>
          <p:cNvSpPr/>
          <p:nvPr/>
        </p:nvSpPr>
        <p:spPr>
          <a:xfrm rot="16200000">
            <a:off x="6391175" y="1638874"/>
            <a:ext cx="1990183" cy="637426"/>
          </a:xfrm>
          <a:prstGeom prst="flowChartInputOutpu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7067553" y="1322463"/>
            <a:ext cx="637427" cy="411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>
            <a:off x="7067553" y="1724468"/>
            <a:ext cx="637427" cy="411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>
            <a:off x="7086040" y="2143180"/>
            <a:ext cx="637427" cy="411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3" idx="5"/>
            <a:endCxn id="3" idx="2"/>
          </p:cNvCxnSpPr>
          <p:nvPr/>
        </p:nvCxnSpPr>
        <p:spPr>
          <a:xfrm>
            <a:off x="7386267" y="1161514"/>
            <a:ext cx="0" cy="1592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Flowchart: Data 172"/>
          <p:cNvSpPr/>
          <p:nvPr/>
        </p:nvSpPr>
        <p:spPr>
          <a:xfrm rot="16200000">
            <a:off x="7222033" y="2468484"/>
            <a:ext cx="731188" cy="223346"/>
          </a:xfrm>
          <a:prstGeom prst="flowChartInputOutpu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lowchart: Data 173"/>
          <p:cNvSpPr/>
          <p:nvPr/>
        </p:nvSpPr>
        <p:spPr>
          <a:xfrm rot="16200000">
            <a:off x="6974090" y="2305951"/>
            <a:ext cx="731188" cy="223346"/>
          </a:xfrm>
          <a:prstGeom prst="flowChartInputOutpu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Flowchart: Data 174"/>
          <p:cNvSpPr/>
          <p:nvPr/>
        </p:nvSpPr>
        <p:spPr>
          <a:xfrm rot="16200000">
            <a:off x="7197748" y="1835328"/>
            <a:ext cx="731188" cy="223346"/>
          </a:xfrm>
          <a:prstGeom prst="flowChartInputOutpu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Flowchart: Data 175"/>
          <p:cNvSpPr/>
          <p:nvPr/>
        </p:nvSpPr>
        <p:spPr>
          <a:xfrm rot="16200000">
            <a:off x="6977225" y="1687072"/>
            <a:ext cx="731188" cy="223346"/>
          </a:xfrm>
          <a:prstGeom prst="flowChartInputOutpu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50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rapezoid 40"/>
          <p:cNvSpPr/>
          <p:nvPr/>
        </p:nvSpPr>
        <p:spPr>
          <a:xfrm rot="5400000">
            <a:off x="34850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7122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5539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6535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9673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8728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60284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40200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62153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28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86" idx="2"/>
            <a:endCxn id="321" idx="0"/>
          </p:cNvCxnSpPr>
          <p:nvPr/>
        </p:nvCxnSpPr>
        <p:spPr>
          <a:xfrm rot="16200000" flipH="1">
            <a:off x="1044063" y="4465992"/>
            <a:ext cx="2368158" cy="1059807"/>
          </a:xfrm>
          <a:prstGeom prst="bentConnector3">
            <a:avLst>
              <a:gd name="adj1" fmla="val 15142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7203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nip Same Side Corner Rectangle 29"/>
          <p:cNvSpPr/>
          <p:nvPr/>
        </p:nvSpPr>
        <p:spPr>
          <a:xfrm rot="10800000">
            <a:off x="117090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77" idx="0"/>
            <a:endCxn id="30" idx="2"/>
          </p:cNvCxnSpPr>
          <p:nvPr/>
        </p:nvCxnSpPr>
        <p:spPr>
          <a:xfrm flipH="1">
            <a:off x="13910936" y="2105987"/>
            <a:ext cx="467558" cy="4297773"/>
          </a:xfrm>
          <a:prstGeom prst="bentConnector3">
            <a:avLst>
              <a:gd name="adj1" fmla="val -14774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7516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1007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91396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91396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7108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7011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6998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91202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4989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8641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805497" y="7654263"/>
            <a:ext cx="216918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i</a:t>
            </a:r>
            <a:r>
              <a:rPr lang="en-US" sz="2000" dirty="0" err="1"/>
              <a:t>-th</a:t>
            </a:r>
            <a:r>
              <a:rPr lang="en-US" sz="2000" dirty="0"/>
              <a:t> output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pred</a:t>
            </a:r>
            <a:r>
              <a:rPr lang="en-US" sz="2050" b="1" i="1" dirty="0"/>
              <a:t> (</a:t>
            </a:r>
            <a:r>
              <a:rPr lang="en-US" sz="2050" b="1" i="1" dirty="0" err="1"/>
              <a:t>i</a:t>
            </a:r>
            <a:r>
              <a:rPr lang="en-US" sz="2050" b="1" i="1" dirty="0"/>
              <a:t>)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91396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90684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94507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8671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91184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94912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8690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103047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8064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  <p:grpSp>
        <p:nvGrpSpPr>
          <p:cNvPr id="258" name="Group 257"/>
          <p:cNvGrpSpPr/>
          <p:nvPr/>
        </p:nvGrpSpPr>
        <p:grpSpPr>
          <a:xfrm>
            <a:off x="3713278" y="426720"/>
            <a:ext cx="2641842" cy="3109137"/>
            <a:chOff x="2315275" y="851803"/>
            <a:chExt cx="2641842" cy="3109137"/>
          </a:xfrm>
        </p:grpSpPr>
        <p:sp>
          <p:nvSpPr>
            <p:cNvPr id="259" name="TextBox 258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457897" y="1986341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3" name="Straight Connector 262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6" name="Group 265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279" name="TextBox 278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280" name="Oval 279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7" name="Group 266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277" name="TextBox 276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278" name="Oval 277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75" name="TextBox 274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9" name="Straight Connector 268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Right Arrow 271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ight Arrow 272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ight Arrow 273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1" name="Group 280"/>
          <p:cNvGrpSpPr/>
          <p:nvPr/>
        </p:nvGrpSpPr>
        <p:grpSpPr>
          <a:xfrm>
            <a:off x="8346009" y="426720"/>
            <a:ext cx="2641842" cy="3109137"/>
            <a:chOff x="2315275" y="851803"/>
            <a:chExt cx="2641842" cy="3109137"/>
          </a:xfrm>
        </p:grpSpPr>
        <p:sp>
          <p:nvSpPr>
            <p:cNvPr id="282" name="TextBox 281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488377" y="1986341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050" i="1" dirty="0" smtClean="0"/>
                <a:t>t</a:t>
              </a:r>
              <a:r>
                <a:rPr lang="en-US" sz="2050" i="1" baseline="-25000" dirty="0" smtClean="0"/>
                <a:t>2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4</a:t>
              </a:r>
              <a:r>
                <a:rPr lang="en-US" sz="2050" dirty="0" smtClean="0"/>
                <a:t>)</a:t>
              </a:r>
              <a:endParaRPr lang="en-US" sz="2050" dirty="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6" name="Straight Connector 285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9" name="Group 288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302" name="TextBox 301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303" name="Oval 302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300" name="TextBox 299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301" name="Oval 300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1" name="Group 290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98" name="TextBox 297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99" name="Oval 298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92" name="Straight Connector 291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Right Arrow 294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ight Arrow 295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ight Arrow 296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425822" y="4467614"/>
            <a:ext cx="1499073" cy="2235100"/>
            <a:chOff x="1282691" y="3736233"/>
            <a:chExt cx="1499073" cy="2235100"/>
          </a:xfrm>
        </p:grpSpPr>
        <p:grpSp>
          <p:nvGrpSpPr>
            <p:cNvPr id="310" name="Group 309"/>
            <p:cNvGrpSpPr/>
            <p:nvPr/>
          </p:nvGrpSpPr>
          <p:grpSpPr>
            <a:xfrm>
              <a:off x="1445027" y="5359806"/>
              <a:ext cx="1182959" cy="611527"/>
              <a:chOff x="1231785" y="4812969"/>
              <a:chExt cx="1182959" cy="611527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231785" y="4812969"/>
                <a:ext cx="1182959" cy="611527"/>
              </a:xfrm>
              <a:prstGeom prst="rect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Freeform 308"/>
              <p:cNvSpPr/>
              <p:nvPr/>
            </p:nvSpPr>
            <p:spPr>
              <a:xfrm>
                <a:off x="1238250" y="4905351"/>
                <a:ext cx="1171575" cy="457226"/>
              </a:xfrm>
              <a:custGeom>
                <a:avLst/>
                <a:gdLst>
                  <a:gd name="connsiteX0" fmla="*/ 0 w 1171575"/>
                  <a:gd name="connsiteY0" fmla="*/ 581082 h 609660"/>
                  <a:gd name="connsiteX1" fmla="*/ 352425 w 1171575"/>
                  <a:gd name="connsiteY1" fmla="*/ 57 h 609660"/>
                  <a:gd name="connsiteX2" fmla="*/ 819150 w 1171575"/>
                  <a:gd name="connsiteY2" fmla="*/ 609657 h 609660"/>
                  <a:gd name="connsiteX3" fmla="*/ 1171575 w 1171575"/>
                  <a:gd name="connsiteY3" fmla="*/ 9582 h 609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609660">
                    <a:moveTo>
                      <a:pt x="0" y="581082"/>
                    </a:moveTo>
                    <a:cubicBezTo>
                      <a:pt x="107950" y="288188"/>
                      <a:pt x="215900" y="-4706"/>
                      <a:pt x="352425" y="57"/>
                    </a:cubicBezTo>
                    <a:cubicBezTo>
                      <a:pt x="488950" y="4819"/>
                      <a:pt x="682625" y="608070"/>
                      <a:pt x="819150" y="609657"/>
                    </a:cubicBezTo>
                    <a:cubicBezTo>
                      <a:pt x="955675" y="611244"/>
                      <a:pt x="1119187" y="103245"/>
                      <a:pt x="1171575" y="9582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1282691" y="3736233"/>
              <a:ext cx="1499073" cy="706604"/>
            </a:xfrm>
            <a:prstGeom prst="rect">
              <a:avLst/>
            </a:prstGeom>
            <a:noFill/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 of four-taxa-set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2" name="Straight Connector 311"/>
            <p:cNvCxnSpPr>
              <a:stCxn id="311" idx="2"/>
              <a:endCxn id="43" idx="0"/>
            </p:cNvCxnSpPr>
            <p:nvPr/>
          </p:nvCxnSpPr>
          <p:spPr>
            <a:xfrm>
              <a:off x="2032228" y="4442837"/>
              <a:ext cx="4279" cy="916969"/>
            </a:xfrm>
            <a:prstGeom prst="line">
              <a:avLst/>
            </a:prstGeom>
            <a:ln w="57150"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0" name="Elbow Connector 319"/>
          <p:cNvCxnSpPr>
            <a:stCxn id="43" idx="3"/>
            <a:endCxn id="321" idx="2"/>
          </p:cNvCxnSpPr>
          <p:nvPr/>
        </p:nvCxnSpPr>
        <p:spPr>
          <a:xfrm>
            <a:off x="1771117" y="6396951"/>
            <a:ext cx="745654" cy="1415"/>
          </a:xfrm>
          <a:prstGeom prst="bentConnector3">
            <a:avLst>
              <a:gd name="adj1" fmla="val 5000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Or 320"/>
          <p:cNvSpPr/>
          <p:nvPr/>
        </p:nvSpPr>
        <p:spPr>
          <a:xfrm>
            <a:off x="2516771" y="6179975"/>
            <a:ext cx="482550" cy="436781"/>
          </a:xfrm>
          <a:prstGeom prst="flowChartOr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327"/>
          <p:cNvCxnSpPr>
            <a:stCxn id="321" idx="6"/>
            <a:endCxn id="41" idx="2"/>
          </p:cNvCxnSpPr>
          <p:nvPr/>
        </p:nvCxnSpPr>
        <p:spPr>
          <a:xfrm>
            <a:off x="2999321" y="6398366"/>
            <a:ext cx="654233" cy="2335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Chevron 334"/>
          <p:cNvSpPr/>
          <p:nvPr/>
        </p:nvSpPr>
        <p:spPr>
          <a:xfrm>
            <a:off x="11028886" y="1016691"/>
            <a:ext cx="1260120" cy="1925834"/>
          </a:xfrm>
          <a:prstGeom prst="chevron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6" name="Chevron 335"/>
          <p:cNvSpPr/>
          <p:nvPr/>
        </p:nvSpPr>
        <p:spPr>
          <a:xfrm rot="10800000">
            <a:off x="2326602" y="1007795"/>
            <a:ext cx="1260120" cy="1925834"/>
          </a:xfrm>
          <a:prstGeom prst="chevron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6817640" y="731563"/>
            <a:ext cx="970054" cy="2481763"/>
            <a:chOff x="6804940" y="726640"/>
            <a:chExt cx="970054" cy="2481763"/>
          </a:xfrm>
        </p:grpSpPr>
        <p:sp>
          <p:nvSpPr>
            <p:cNvPr id="2" name="Flowchart: Off-page Connector 1"/>
            <p:cNvSpPr/>
            <p:nvPr/>
          </p:nvSpPr>
          <p:spPr>
            <a:xfrm rot="5400000">
              <a:off x="6049085" y="1482495"/>
              <a:ext cx="2481763" cy="970054"/>
            </a:xfrm>
            <a:prstGeom prst="flowChartOffpageConnector">
              <a:avLst/>
            </a:prstGeom>
            <a:ln w="57150"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7045723" y="988482"/>
              <a:ext cx="625897" cy="1887435"/>
              <a:chOff x="7071123" y="1090082"/>
              <a:chExt cx="625897" cy="1887435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7071124" y="1090082"/>
                <a:ext cx="625896" cy="1025826"/>
                <a:chOff x="7071124" y="1090082"/>
                <a:chExt cx="625896" cy="1025826"/>
              </a:xfrm>
            </p:grpSpPr>
            <p:grpSp>
              <p:nvGrpSpPr>
                <p:cNvPr id="180" name="Group 17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181" name="Flowchart: Data 180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Flowchart: Data 181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Flowchart: Data 182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4" name="Group 183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185" name="Flowchart: Data 18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Flowchart: Data 18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Flowchart: Data 18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9" name="Group 198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00" name="Flowchart: Data 19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1" name="Flowchart: Data 20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2" name="Flowchart: Data 20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3" name="Group 202"/>
                <p:cNvGrpSpPr/>
                <p:nvPr/>
              </p:nvGrpSpPr>
              <p:grpSpPr>
                <a:xfrm>
                  <a:off x="7071124" y="1731740"/>
                  <a:ext cx="625896" cy="384168"/>
                  <a:chOff x="7432320" y="975740"/>
                  <a:chExt cx="665643" cy="1204635"/>
                </a:xfrm>
              </p:grpSpPr>
              <p:sp>
                <p:nvSpPr>
                  <p:cNvPr id="205" name="Flowchart: Data 20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9" name="Flowchart: Data 208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0" name="Flowchart: Data 209"/>
                  <p:cNvSpPr/>
                  <p:nvPr/>
                </p:nvSpPr>
                <p:spPr>
                  <a:xfrm rot="16200000">
                    <a:off x="7110099" y="1297961"/>
                    <a:ext cx="867787" cy="223345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11" name="Group 210"/>
              <p:cNvGrpSpPr/>
              <p:nvPr/>
            </p:nvGrpSpPr>
            <p:grpSpPr>
              <a:xfrm>
                <a:off x="7071123" y="1951692"/>
                <a:ext cx="625897" cy="1025825"/>
                <a:chOff x="7071123" y="1090082"/>
                <a:chExt cx="625897" cy="1025825"/>
              </a:xfrm>
            </p:grpSpPr>
            <p:grpSp>
              <p:nvGrpSpPr>
                <p:cNvPr id="240" name="Group 23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253" name="Flowchart: Data 252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6" name="Flowchart: Data 25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7" name="Flowchart: Data 25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1" name="Group 240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250" name="Flowchart: Data 24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1" name="Flowchart: Data 25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2" name="Flowchart: Data 25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2" name="Group 241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47" name="Flowchart: Data 246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8" name="Flowchart: Data 247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9" name="Flowchart: Data 248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3" name="Group 242"/>
                <p:cNvGrpSpPr/>
                <p:nvPr/>
              </p:nvGrpSpPr>
              <p:grpSpPr>
                <a:xfrm>
                  <a:off x="7071123" y="1729359"/>
                  <a:ext cx="625897" cy="386548"/>
                  <a:chOff x="7432319" y="968276"/>
                  <a:chExt cx="665644" cy="1212099"/>
                </a:xfrm>
              </p:grpSpPr>
              <p:sp>
                <p:nvSpPr>
                  <p:cNvPr id="244" name="Flowchart: Data 243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5" name="Flowchart: Data 244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6" name="Flowchart: Data 245"/>
                  <p:cNvSpPr/>
                  <p:nvPr/>
                </p:nvSpPr>
                <p:spPr>
                  <a:xfrm rot="16200000">
                    <a:off x="7110099" y="1290496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9" name="Group 28"/>
          <p:cNvGrpSpPr/>
          <p:nvPr/>
        </p:nvGrpSpPr>
        <p:grpSpPr>
          <a:xfrm>
            <a:off x="593321" y="626083"/>
            <a:ext cx="2209836" cy="3185734"/>
            <a:chOff x="989561" y="626083"/>
            <a:chExt cx="2209836" cy="3185734"/>
          </a:xfrm>
        </p:grpSpPr>
        <p:grpSp>
          <p:nvGrpSpPr>
            <p:cNvPr id="254" name="Group 253"/>
            <p:cNvGrpSpPr/>
            <p:nvPr/>
          </p:nvGrpSpPr>
          <p:grpSpPr>
            <a:xfrm>
              <a:off x="989561" y="691783"/>
              <a:ext cx="2209836" cy="3120034"/>
              <a:chOff x="5579634" y="1211413"/>
              <a:chExt cx="2209836" cy="3120034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6008438" y="1211413"/>
                <a:ext cx="1204029" cy="264621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6047373" y="1250555"/>
                <a:ext cx="1122885" cy="327607"/>
                <a:chOff x="3824287" y="1995689"/>
                <a:chExt cx="1092993" cy="318886"/>
              </a:xfrm>
            </p:grpSpPr>
            <p:sp>
              <p:nvSpPr>
                <p:cNvPr id="62" name="Rectangle 61"/>
                <p:cNvSpPr/>
                <p:nvPr/>
              </p:nvSpPr>
              <p:spPr>
                <a:xfrm>
                  <a:off x="3824287" y="19956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63" name="Straight Connector 62"/>
                <p:cNvCxnSpPr/>
                <p:nvPr/>
              </p:nvCxnSpPr>
              <p:spPr>
                <a:xfrm flipH="1">
                  <a:off x="4179094" y="20169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4555331" y="20169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>
                <a:off x="6047372" y="2885049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70" name="Rectangle 69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71" name="Straight Connector 70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Straight Connector 72"/>
              <p:cNvCxnSpPr/>
              <p:nvPr/>
            </p:nvCxnSpPr>
            <p:spPr>
              <a:xfrm>
                <a:off x="6618587" y="1691677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6608802" y="2501254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6607576" y="3320290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6082064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6464675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6849000" y="1256059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579634" y="3808227"/>
                <a:ext cx="22098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masked matrix </a:t>
                </a:r>
                <a:r>
                  <a:rPr lang="en-US" sz="2800" b="1" i="1" dirty="0" err="1"/>
                  <a:t>Q</a:t>
                </a:r>
                <a:r>
                  <a:rPr lang="en-US" sz="2800" b="1" i="1" baseline="30000" dirty="0" err="1"/>
                  <a:t>m</a:t>
                </a:r>
                <a:endParaRPr lang="en-US" sz="2800" b="1" i="1" baseline="30000" dirty="0"/>
              </a:p>
            </p:txBody>
          </p:sp>
          <p:grpSp>
            <p:nvGrpSpPr>
              <p:cNvPr id="91" name="Group 90"/>
              <p:cNvGrpSpPr/>
              <p:nvPr/>
            </p:nvGrpSpPr>
            <p:grpSpPr>
              <a:xfrm>
                <a:off x="6047372" y="2079242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/>
              <p:cNvSpPr txBox="1"/>
              <p:nvPr/>
            </p:nvSpPr>
            <p:spPr>
              <a:xfrm>
                <a:off x="6009695" y="208461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6382519" y="2089504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6760321" y="2082369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007083" y="2886495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379906" y="2891387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6757708" y="288425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04" name="TextBox 303"/>
            <p:cNvSpPr txBox="1"/>
            <p:nvPr/>
          </p:nvSpPr>
          <p:spPr>
            <a:xfrm>
              <a:off x="1062320" y="626083"/>
              <a:ext cx="418628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/>
                <a:t>g</a:t>
              </a:r>
              <a:r>
                <a:rPr lang="en-US" sz="2050" i="1" baseline="-25000" dirty="0"/>
                <a:t>1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1076606" y="1446397"/>
              <a:ext cx="370869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j</a:t>
              </a:r>
              <a:endParaRPr lang="en-US" sz="2050" i="1" baseline="-25000" dirty="0"/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1052795" y="2237358"/>
              <a:ext cx="410393" cy="418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k</a:t>
              </a:r>
              <a:endParaRPr lang="en-US" sz="2050" i="1" baseline="-25000" dirty="0"/>
            </a:p>
          </p:txBody>
        </p:sp>
      </p:grpSp>
      <p:sp>
        <p:nvSpPr>
          <p:cNvPr id="307" name="TextBox 306"/>
          <p:cNvSpPr txBox="1"/>
          <p:nvPr/>
        </p:nvSpPr>
        <p:spPr>
          <a:xfrm>
            <a:off x="10284880" y="5037952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299166" y="5858266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313" name="TextBox 312"/>
          <p:cNvSpPr txBox="1"/>
          <p:nvPr/>
        </p:nvSpPr>
        <p:spPr>
          <a:xfrm>
            <a:off x="10275355" y="6649227"/>
            <a:ext cx="410393" cy="41895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11465836" y="-34833"/>
            <a:ext cx="3469668" cy="4375924"/>
            <a:chOff x="11084836" y="-34833"/>
            <a:chExt cx="3469668" cy="4375924"/>
          </a:xfrm>
        </p:grpSpPr>
        <p:grpSp>
          <p:nvGrpSpPr>
            <p:cNvPr id="32" name="Group 31"/>
            <p:cNvGrpSpPr/>
            <p:nvPr/>
          </p:nvGrpSpPr>
          <p:grpSpPr>
            <a:xfrm>
              <a:off x="11084836" y="-34833"/>
              <a:ext cx="3469668" cy="4375924"/>
              <a:chOff x="8199034" y="486813"/>
              <a:chExt cx="3469668" cy="4375924"/>
            </a:xfrm>
          </p:grpSpPr>
          <p:sp>
            <p:nvSpPr>
              <p:cNvPr id="85" name="TextBox 84"/>
              <p:cNvSpPr txBox="1"/>
              <p:nvPr/>
            </p:nvSpPr>
            <p:spPr>
              <a:xfrm>
                <a:off x="8199034" y="3723964"/>
                <a:ext cx="3469668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orientation-encoding matrix </a:t>
                </a:r>
                <a:r>
                  <a:rPr lang="en-US" sz="2800" b="1" i="1" dirty="0"/>
                  <a:t>Q</a:t>
                </a:r>
                <a:r>
                  <a:rPr lang="en-US" sz="2000" i="1" dirty="0"/>
                  <a:t> </a:t>
                </a:r>
              </a:p>
              <a:p>
                <a:pPr algn="ctr"/>
                <a:r>
                  <a:rPr lang="en-US" sz="2000" dirty="0"/>
                  <a:t>for the four-taxa-set </a:t>
                </a:r>
              </a:p>
              <a:p>
                <a:pPr algn="ctr"/>
                <a:r>
                  <a:rPr lang="en-US" sz="2000" dirty="0"/>
                  <a:t>(</a:t>
                </a:r>
                <a:r>
                  <a:rPr lang="en-US" sz="2000" i="1" dirty="0"/>
                  <a:t>t</a:t>
                </a:r>
                <a:r>
                  <a:rPr lang="en-US" sz="2000" i="1" baseline="-25000" dirty="0"/>
                  <a:t>1</a:t>
                </a:r>
                <a:r>
                  <a:rPr lang="en-US" sz="2000" dirty="0"/>
                  <a:t>,</a:t>
                </a:r>
                <a:r>
                  <a:rPr lang="en-US" sz="2000" i="1" dirty="0"/>
                  <a:t> t</a:t>
                </a:r>
                <a:r>
                  <a:rPr lang="en-US" sz="2000" i="1" baseline="-25000" dirty="0"/>
                  <a:t>2</a:t>
                </a:r>
                <a:r>
                  <a:rPr lang="en-US" sz="2000" dirty="0"/>
                  <a:t>,</a:t>
                </a:r>
                <a:r>
                  <a:rPr lang="en-US" sz="2000" i="1" dirty="0"/>
                  <a:t> t</a:t>
                </a:r>
                <a:r>
                  <a:rPr lang="en-US" sz="2000" i="1" baseline="-25000" dirty="0"/>
                  <a:t>3</a:t>
                </a:r>
                <a:r>
                  <a:rPr lang="en-US" sz="2000" dirty="0"/>
                  <a:t>,</a:t>
                </a:r>
                <a:r>
                  <a:rPr lang="en-US" sz="2000" i="1" dirty="0"/>
                  <a:t> t</a:t>
                </a:r>
                <a:r>
                  <a:rPr lang="en-US" sz="2000" i="1" baseline="-25000" dirty="0"/>
                  <a:t>4</a:t>
                </a:r>
                <a:r>
                  <a:rPr lang="en-US" sz="2000" dirty="0"/>
                  <a:t>)</a:t>
                </a:r>
              </a:p>
            </p:txBody>
          </p:sp>
          <p:grpSp>
            <p:nvGrpSpPr>
              <p:cNvPr id="255" name="Group 254"/>
              <p:cNvGrpSpPr/>
              <p:nvPr/>
            </p:nvGrpSpPr>
            <p:grpSpPr>
              <a:xfrm>
                <a:off x="9041468" y="486813"/>
                <a:ext cx="2070223" cy="3370817"/>
                <a:chOff x="9041468" y="486813"/>
                <a:chExt cx="2070223" cy="3370817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9106589" y="1211413"/>
                  <a:ext cx="1204029" cy="264621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/>
                </a:p>
              </p:txBody>
            </p:sp>
            <p:grpSp>
              <p:nvGrpSpPr>
                <p:cNvPr id="17" name="Group 16"/>
                <p:cNvGrpSpPr/>
                <p:nvPr/>
              </p:nvGrpSpPr>
              <p:grpSpPr>
                <a:xfrm>
                  <a:off x="9145524" y="1250555"/>
                  <a:ext cx="1122885" cy="327607"/>
                  <a:chOff x="3824287" y="1995689"/>
                  <a:chExt cx="1092993" cy="318886"/>
                </a:xfrm>
              </p:grpSpPr>
              <p:sp>
                <p:nvSpPr>
                  <p:cNvPr id="10" name="Rectangle 9"/>
                  <p:cNvSpPr/>
                  <p:nvPr/>
                </p:nvSpPr>
                <p:spPr>
                  <a:xfrm>
                    <a:off x="3824287" y="19956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2" name="Straight Connector 11"/>
                  <p:cNvCxnSpPr/>
                  <p:nvPr/>
                </p:nvCxnSpPr>
                <p:spPr>
                  <a:xfrm flipH="1">
                    <a:off x="4179094" y="20169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Connector 13"/>
                  <p:cNvCxnSpPr/>
                  <p:nvPr/>
                </p:nvCxnSpPr>
                <p:spPr>
                  <a:xfrm>
                    <a:off x="4555331" y="20169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9145522" y="2082322"/>
                  <a:ext cx="1122885" cy="327607"/>
                  <a:chOff x="3976687" y="2148089"/>
                  <a:chExt cx="1092993" cy="318886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20" name="Straight Connector 19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9145522" y="2885049"/>
                  <a:ext cx="1122885" cy="327607"/>
                  <a:chOff x="3976687" y="2148089"/>
                  <a:chExt cx="1092993" cy="318886"/>
                </a:xfrm>
                <a:solidFill>
                  <a:srgbClr val="FEE8E8"/>
                </a:solidFill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grpFill/>
                  <a:ln>
                    <a:solidFill>
                      <a:srgbClr val="CE0C0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233" dirty="0">
                      <a:solidFill>
                        <a:srgbClr val="CE0C0C"/>
                      </a:solidFill>
                    </a:endParaRPr>
                  </a:p>
                </p:txBody>
              </p:sp>
              <p:cxnSp>
                <p:nvCxnSpPr>
                  <p:cNvPr id="25" name="Straight Connector 24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9716738" y="1691677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9706953" y="2501254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9705727" y="3320290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/>
                <p:cNvSpPr txBox="1"/>
                <p:nvPr/>
              </p:nvSpPr>
              <p:spPr>
                <a:xfrm>
                  <a:off x="9093523" y="289420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9485919" y="2903988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9853935" y="289685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9180215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9562826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9947151" y="1256059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9181399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9564010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9948335" y="2084952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>
                <a:xfrm flipH="1">
                  <a:off x="10659805" y="1127960"/>
                  <a:ext cx="26095" cy="2646217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>
                  <a:off x="9069935" y="961927"/>
                  <a:ext cx="1269369" cy="8368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/>
                <p:cNvSpPr txBox="1"/>
                <p:nvPr/>
              </p:nvSpPr>
              <p:spPr>
                <a:xfrm>
                  <a:off x="9041468" y="486813"/>
                  <a:ext cx="1518652" cy="4189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/>
                    <a:t>orientations</a:t>
                  </a: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 rot="5400000">
                  <a:off x="10230565" y="2418154"/>
                  <a:ext cx="1343296" cy="4189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/>
                    <a:t>gene trees</a:t>
                  </a:r>
                </a:p>
              </p:txBody>
            </p:sp>
          </p:grpSp>
        </p:grpSp>
        <p:sp>
          <p:nvSpPr>
            <p:cNvPr id="314" name="TextBox 313"/>
            <p:cNvSpPr txBox="1"/>
            <p:nvPr/>
          </p:nvSpPr>
          <p:spPr>
            <a:xfrm>
              <a:off x="13163923" y="667252"/>
              <a:ext cx="418628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/>
                <a:t>g</a:t>
              </a:r>
              <a:r>
                <a:rPr lang="en-US" sz="2050" i="1" baseline="-25000" dirty="0"/>
                <a:t>1</a:t>
              </a:r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13178209" y="1487566"/>
              <a:ext cx="370869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j</a:t>
              </a:r>
              <a:endParaRPr lang="en-US" sz="2050" i="1" baseline="-25000" dirty="0"/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13154398" y="2278527"/>
              <a:ext cx="410393" cy="418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k</a:t>
              </a:r>
              <a:endParaRPr lang="en-US" sz="2050" i="1" baseline="-25000" dirty="0"/>
            </a:p>
          </p:txBody>
        </p:sp>
      </p:grpSp>
      <p:cxnSp>
        <p:nvCxnSpPr>
          <p:cNvPr id="317" name="Straight Connector 316"/>
          <p:cNvCxnSpPr>
            <a:stCxn id="285" idx="1"/>
            <a:endCxn id="2" idx="0"/>
          </p:cNvCxnSpPr>
          <p:nvPr/>
        </p:nvCxnSpPr>
        <p:spPr>
          <a:xfrm flipH="1" flipV="1">
            <a:off x="7787694" y="1972446"/>
            <a:ext cx="558315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/>
          <p:cNvCxnSpPr>
            <a:stCxn id="2" idx="2"/>
            <a:endCxn id="262" idx="3"/>
          </p:cNvCxnSpPr>
          <p:nvPr/>
        </p:nvCxnSpPr>
        <p:spPr>
          <a:xfrm flipH="1">
            <a:off x="6284270" y="1972446"/>
            <a:ext cx="533370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407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rapezoid 40"/>
          <p:cNvSpPr/>
          <p:nvPr/>
        </p:nvSpPr>
        <p:spPr>
          <a:xfrm rot="5400000">
            <a:off x="34850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7122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5539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6535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9673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8728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60284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40200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62153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28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86" idx="2"/>
            <a:endCxn id="321" idx="0"/>
          </p:cNvCxnSpPr>
          <p:nvPr/>
        </p:nvCxnSpPr>
        <p:spPr>
          <a:xfrm rot="16200000" flipH="1">
            <a:off x="897831" y="4319760"/>
            <a:ext cx="2368158" cy="1352271"/>
          </a:xfrm>
          <a:prstGeom prst="bentConnector3">
            <a:avLst>
              <a:gd name="adj1" fmla="val 1813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7203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nip Same Side Corner Rectangle 29"/>
          <p:cNvSpPr/>
          <p:nvPr/>
        </p:nvSpPr>
        <p:spPr>
          <a:xfrm rot="10800000">
            <a:off x="117090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77" idx="0"/>
            <a:endCxn id="30" idx="2"/>
          </p:cNvCxnSpPr>
          <p:nvPr/>
        </p:nvCxnSpPr>
        <p:spPr>
          <a:xfrm flipH="1">
            <a:off x="13910936" y="2077412"/>
            <a:ext cx="709766" cy="4326348"/>
          </a:xfrm>
          <a:prstGeom prst="bentConnector3">
            <a:avLst>
              <a:gd name="adj1" fmla="val -80964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7516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1007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91396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91396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7108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7011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6998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91202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4989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8641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805497" y="7654263"/>
            <a:ext cx="216918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i</a:t>
            </a:r>
            <a:r>
              <a:rPr lang="en-US" sz="2000" dirty="0" err="1"/>
              <a:t>-th</a:t>
            </a:r>
            <a:r>
              <a:rPr lang="en-US" sz="2000" dirty="0"/>
              <a:t> output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pred</a:t>
            </a:r>
            <a:r>
              <a:rPr lang="en-US" sz="2050" b="1" i="1" dirty="0"/>
              <a:t> (</a:t>
            </a:r>
            <a:r>
              <a:rPr lang="en-US" sz="2050" b="1" i="1" dirty="0" err="1"/>
              <a:t>i</a:t>
            </a:r>
            <a:r>
              <a:rPr lang="en-US" sz="2050" b="1" i="1" dirty="0"/>
              <a:t>)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91396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90684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94507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8671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91184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94912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8690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103047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8064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  <p:grpSp>
        <p:nvGrpSpPr>
          <p:cNvPr id="258" name="Group 257"/>
          <p:cNvGrpSpPr/>
          <p:nvPr/>
        </p:nvGrpSpPr>
        <p:grpSpPr>
          <a:xfrm>
            <a:off x="3789478" y="426720"/>
            <a:ext cx="2641842" cy="3109137"/>
            <a:chOff x="2315275" y="851803"/>
            <a:chExt cx="2641842" cy="3109137"/>
          </a:xfrm>
        </p:grpSpPr>
        <p:sp>
          <p:nvSpPr>
            <p:cNvPr id="259" name="TextBox 258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457897" y="1986341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3" name="Straight Connector 262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6" name="Group 265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279" name="TextBox 278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280" name="Oval 279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7" name="Group 266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277" name="TextBox 276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278" name="Oval 277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75" name="TextBox 274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9" name="Straight Connector 268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Right Arrow 271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ight Arrow 272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ight Arrow 273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1" name="Group 280"/>
          <p:cNvGrpSpPr/>
          <p:nvPr/>
        </p:nvGrpSpPr>
        <p:grpSpPr>
          <a:xfrm>
            <a:off x="8211753" y="426720"/>
            <a:ext cx="2641842" cy="3109137"/>
            <a:chOff x="2315275" y="851803"/>
            <a:chExt cx="2641842" cy="3109137"/>
          </a:xfrm>
        </p:grpSpPr>
        <p:sp>
          <p:nvSpPr>
            <p:cNvPr id="282" name="TextBox 281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488377" y="1986341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050" i="1" dirty="0" smtClean="0"/>
                <a:t>t</a:t>
              </a:r>
              <a:r>
                <a:rPr lang="en-US" sz="2050" i="1" baseline="-25000" dirty="0" smtClean="0"/>
                <a:t>2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4</a:t>
              </a:r>
              <a:r>
                <a:rPr lang="en-US" sz="2050" dirty="0" smtClean="0"/>
                <a:t>)</a:t>
              </a:r>
              <a:endParaRPr lang="en-US" sz="2050" dirty="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6" name="Straight Connector 285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9" name="Group 288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302" name="TextBox 301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303" name="Oval 302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300" name="TextBox 299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301" name="Oval 300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1" name="Group 290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98" name="TextBox 297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99" name="Oval 298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92" name="Straight Connector 291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Right Arrow 294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ight Arrow 295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ight Arrow 296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425822" y="4467614"/>
            <a:ext cx="1499073" cy="2235100"/>
            <a:chOff x="1282691" y="3736233"/>
            <a:chExt cx="1499073" cy="2235100"/>
          </a:xfrm>
        </p:grpSpPr>
        <p:grpSp>
          <p:nvGrpSpPr>
            <p:cNvPr id="310" name="Group 309"/>
            <p:cNvGrpSpPr/>
            <p:nvPr/>
          </p:nvGrpSpPr>
          <p:grpSpPr>
            <a:xfrm>
              <a:off x="1445027" y="5359806"/>
              <a:ext cx="1182959" cy="611527"/>
              <a:chOff x="1231785" y="4812969"/>
              <a:chExt cx="1182959" cy="611527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231785" y="4812969"/>
                <a:ext cx="1182959" cy="611527"/>
              </a:xfrm>
              <a:prstGeom prst="rect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Freeform 308"/>
              <p:cNvSpPr/>
              <p:nvPr/>
            </p:nvSpPr>
            <p:spPr>
              <a:xfrm>
                <a:off x="1238250" y="4905351"/>
                <a:ext cx="1171575" cy="457226"/>
              </a:xfrm>
              <a:custGeom>
                <a:avLst/>
                <a:gdLst>
                  <a:gd name="connsiteX0" fmla="*/ 0 w 1171575"/>
                  <a:gd name="connsiteY0" fmla="*/ 581082 h 609660"/>
                  <a:gd name="connsiteX1" fmla="*/ 352425 w 1171575"/>
                  <a:gd name="connsiteY1" fmla="*/ 57 h 609660"/>
                  <a:gd name="connsiteX2" fmla="*/ 819150 w 1171575"/>
                  <a:gd name="connsiteY2" fmla="*/ 609657 h 609660"/>
                  <a:gd name="connsiteX3" fmla="*/ 1171575 w 1171575"/>
                  <a:gd name="connsiteY3" fmla="*/ 9582 h 609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609660">
                    <a:moveTo>
                      <a:pt x="0" y="581082"/>
                    </a:moveTo>
                    <a:cubicBezTo>
                      <a:pt x="107950" y="288188"/>
                      <a:pt x="215900" y="-4706"/>
                      <a:pt x="352425" y="57"/>
                    </a:cubicBezTo>
                    <a:cubicBezTo>
                      <a:pt x="488950" y="4819"/>
                      <a:pt x="682625" y="608070"/>
                      <a:pt x="819150" y="609657"/>
                    </a:cubicBezTo>
                    <a:cubicBezTo>
                      <a:pt x="955675" y="611244"/>
                      <a:pt x="1119187" y="103245"/>
                      <a:pt x="1171575" y="9582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1282691" y="3736233"/>
              <a:ext cx="1499073" cy="706604"/>
            </a:xfrm>
            <a:prstGeom prst="rect">
              <a:avLst/>
            </a:prstGeom>
            <a:noFill/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 of four-taxa-set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2" name="Straight Connector 311"/>
            <p:cNvCxnSpPr>
              <a:stCxn id="311" idx="2"/>
              <a:endCxn id="43" idx="0"/>
            </p:cNvCxnSpPr>
            <p:nvPr/>
          </p:nvCxnSpPr>
          <p:spPr>
            <a:xfrm>
              <a:off x="2032228" y="4442837"/>
              <a:ext cx="4279" cy="916969"/>
            </a:xfrm>
            <a:prstGeom prst="line">
              <a:avLst/>
            </a:prstGeom>
            <a:ln w="57150"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0" name="Elbow Connector 319"/>
          <p:cNvCxnSpPr>
            <a:stCxn id="43" idx="3"/>
            <a:endCxn id="321" idx="2"/>
          </p:cNvCxnSpPr>
          <p:nvPr/>
        </p:nvCxnSpPr>
        <p:spPr>
          <a:xfrm>
            <a:off x="1771117" y="6396951"/>
            <a:ext cx="745654" cy="1415"/>
          </a:xfrm>
          <a:prstGeom prst="bentConnector3">
            <a:avLst>
              <a:gd name="adj1" fmla="val 5000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Or 320"/>
          <p:cNvSpPr/>
          <p:nvPr/>
        </p:nvSpPr>
        <p:spPr>
          <a:xfrm>
            <a:off x="2516771" y="6179975"/>
            <a:ext cx="482550" cy="436781"/>
          </a:xfrm>
          <a:prstGeom prst="flowChartOr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327"/>
          <p:cNvCxnSpPr>
            <a:stCxn id="321" idx="6"/>
            <a:endCxn id="41" idx="2"/>
          </p:cNvCxnSpPr>
          <p:nvPr/>
        </p:nvCxnSpPr>
        <p:spPr>
          <a:xfrm>
            <a:off x="2999321" y="6398366"/>
            <a:ext cx="654233" cy="2335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/>
          <p:cNvGrpSpPr/>
          <p:nvPr/>
        </p:nvGrpSpPr>
        <p:grpSpPr>
          <a:xfrm>
            <a:off x="6788612" y="731563"/>
            <a:ext cx="970054" cy="2481763"/>
            <a:chOff x="6804940" y="726640"/>
            <a:chExt cx="970054" cy="2481763"/>
          </a:xfrm>
        </p:grpSpPr>
        <p:sp>
          <p:nvSpPr>
            <p:cNvPr id="2" name="Flowchart: Off-page Connector 1"/>
            <p:cNvSpPr/>
            <p:nvPr/>
          </p:nvSpPr>
          <p:spPr>
            <a:xfrm rot="5400000">
              <a:off x="6049085" y="1482495"/>
              <a:ext cx="2481763" cy="970054"/>
            </a:xfrm>
            <a:prstGeom prst="flowChartOffpageConnector">
              <a:avLst/>
            </a:prstGeom>
            <a:ln w="57150"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7045723" y="988482"/>
              <a:ext cx="625897" cy="1887435"/>
              <a:chOff x="7071123" y="1090082"/>
              <a:chExt cx="625897" cy="1887435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7071124" y="1090082"/>
                <a:ext cx="625896" cy="1025826"/>
                <a:chOff x="7071124" y="1090082"/>
                <a:chExt cx="625896" cy="1025826"/>
              </a:xfrm>
            </p:grpSpPr>
            <p:grpSp>
              <p:nvGrpSpPr>
                <p:cNvPr id="180" name="Group 17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181" name="Flowchart: Data 180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Flowchart: Data 181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Flowchart: Data 182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4" name="Group 183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185" name="Flowchart: Data 18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Flowchart: Data 18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Flowchart: Data 18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9" name="Group 198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00" name="Flowchart: Data 19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1" name="Flowchart: Data 20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2" name="Flowchart: Data 20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3" name="Group 202"/>
                <p:cNvGrpSpPr/>
                <p:nvPr/>
              </p:nvGrpSpPr>
              <p:grpSpPr>
                <a:xfrm>
                  <a:off x="7071124" y="1731740"/>
                  <a:ext cx="625896" cy="384168"/>
                  <a:chOff x="7432320" y="975740"/>
                  <a:chExt cx="665643" cy="1204635"/>
                </a:xfrm>
              </p:grpSpPr>
              <p:sp>
                <p:nvSpPr>
                  <p:cNvPr id="205" name="Flowchart: Data 20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9" name="Flowchart: Data 208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0" name="Flowchart: Data 209"/>
                  <p:cNvSpPr/>
                  <p:nvPr/>
                </p:nvSpPr>
                <p:spPr>
                  <a:xfrm rot="16200000">
                    <a:off x="7110099" y="1297961"/>
                    <a:ext cx="867787" cy="223345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11" name="Group 210"/>
              <p:cNvGrpSpPr/>
              <p:nvPr/>
            </p:nvGrpSpPr>
            <p:grpSpPr>
              <a:xfrm>
                <a:off x="7071123" y="1951692"/>
                <a:ext cx="625897" cy="1025825"/>
                <a:chOff x="7071123" y="1090082"/>
                <a:chExt cx="625897" cy="1025825"/>
              </a:xfrm>
            </p:grpSpPr>
            <p:grpSp>
              <p:nvGrpSpPr>
                <p:cNvPr id="240" name="Group 23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253" name="Flowchart: Data 252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6" name="Flowchart: Data 25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7" name="Flowchart: Data 25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1" name="Group 240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250" name="Flowchart: Data 24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1" name="Flowchart: Data 25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2" name="Flowchart: Data 25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2" name="Group 241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47" name="Flowchart: Data 246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8" name="Flowchart: Data 247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9" name="Flowchart: Data 248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3" name="Group 242"/>
                <p:cNvGrpSpPr/>
                <p:nvPr/>
              </p:nvGrpSpPr>
              <p:grpSpPr>
                <a:xfrm>
                  <a:off x="7071123" y="1729359"/>
                  <a:ext cx="625897" cy="386548"/>
                  <a:chOff x="7432319" y="968276"/>
                  <a:chExt cx="665644" cy="1212099"/>
                </a:xfrm>
              </p:grpSpPr>
              <p:sp>
                <p:nvSpPr>
                  <p:cNvPr id="244" name="Flowchart: Data 243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5" name="Flowchart: Data 244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6" name="Flowchart: Data 245"/>
                  <p:cNvSpPr/>
                  <p:nvPr/>
                </p:nvSpPr>
                <p:spPr>
                  <a:xfrm rot="16200000">
                    <a:off x="7110099" y="1290496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9" name="Group 28"/>
          <p:cNvGrpSpPr/>
          <p:nvPr/>
        </p:nvGrpSpPr>
        <p:grpSpPr>
          <a:xfrm>
            <a:off x="300857" y="626083"/>
            <a:ext cx="2209836" cy="3185734"/>
            <a:chOff x="989561" y="626083"/>
            <a:chExt cx="2209836" cy="3185734"/>
          </a:xfrm>
        </p:grpSpPr>
        <p:grpSp>
          <p:nvGrpSpPr>
            <p:cNvPr id="254" name="Group 253"/>
            <p:cNvGrpSpPr/>
            <p:nvPr/>
          </p:nvGrpSpPr>
          <p:grpSpPr>
            <a:xfrm>
              <a:off x="989561" y="691783"/>
              <a:ext cx="2209836" cy="3120034"/>
              <a:chOff x="5579634" y="1211413"/>
              <a:chExt cx="2209836" cy="3120034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6008438" y="1211413"/>
                <a:ext cx="1204029" cy="264621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6047373" y="1250555"/>
                <a:ext cx="1122885" cy="327607"/>
                <a:chOff x="3824287" y="1995689"/>
                <a:chExt cx="1092993" cy="318886"/>
              </a:xfrm>
            </p:grpSpPr>
            <p:sp>
              <p:nvSpPr>
                <p:cNvPr id="62" name="Rectangle 61"/>
                <p:cNvSpPr/>
                <p:nvPr/>
              </p:nvSpPr>
              <p:spPr>
                <a:xfrm>
                  <a:off x="3824287" y="19956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63" name="Straight Connector 62"/>
                <p:cNvCxnSpPr/>
                <p:nvPr/>
              </p:nvCxnSpPr>
              <p:spPr>
                <a:xfrm flipH="1">
                  <a:off x="4179094" y="20169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4555331" y="20169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>
                <a:off x="6047372" y="2885049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70" name="Rectangle 69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71" name="Straight Connector 70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Straight Connector 72"/>
              <p:cNvCxnSpPr/>
              <p:nvPr/>
            </p:nvCxnSpPr>
            <p:spPr>
              <a:xfrm>
                <a:off x="6618587" y="1691677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6608802" y="2501254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6607576" y="3320290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6082064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6464675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6849000" y="1256059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579634" y="3808227"/>
                <a:ext cx="22098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masked matrix </a:t>
                </a:r>
                <a:r>
                  <a:rPr lang="en-US" sz="2800" b="1" i="1" dirty="0" err="1"/>
                  <a:t>Q</a:t>
                </a:r>
                <a:r>
                  <a:rPr lang="en-US" sz="2800" b="1" i="1" baseline="30000" dirty="0" err="1"/>
                  <a:t>m</a:t>
                </a:r>
                <a:endParaRPr lang="en-US" sz="2800" b="1" i="1" baseline="30000" dirty="0"/>
              </a:p>
            </p:txBody>
          </p:sp>
          <p:grpSp>
            <p:nvGrpSpPr>
              <p:cNvPr id="91" name="Group 90"/>
              <p:cNvGrpSpPr/>
              <p:nvPr/>
            </p:nvGrpSpPr>
            <p:grpSpPr>
              <a:xfrm>
                <a:off x="6047372" y="2079242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/>
              <p:cNvSpPr txBox="1"/>
              <p:nvPr/>
            </p:nvSpPr>
            <p:spPr>
              <a:xfrm>
                <a:off x="6009695" y="208461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6382519" y="2089504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6760321" y="2082369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007083" y="2886495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379906" y="2891387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6757708" y="288425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04" name="TextBox 303"/>
            <p:cNvSpPr txBox="1"/>
            <p:nvPr/>
          </p:nvSpPr>
          <p:spPr>
            <a:xfrm>
              <a:off x="1062320" y="626083"/>
              <a:ext cx="418628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/>
                <a:t>g</a:t>
              </a:r>
              <a:r>
                <a:rPr lang="en-US" sz="2050" i="1" baseline="-25000" dirty="0"/>
                <a:t>1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1076606" y="1446397"/>
              <a:ext cx="370869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j</a:t>
              </a:r>
              <a:endParaRPr lang="en-US" sz="2050" i="1" baseline="-25000" dirty="0"/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1052795" y="2237358"/>
              <a:ext cx="410393" cy="418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k</a:t>
              </a:r>
              <a:endParaRPr lang="en-US" sz="2050" i="1" baseline="-25000" dirty="0"/>
            </a:p>
          </p:txBody>
        </p:sp>
      </p:grpSp>
      <p:sp>
        <p:nvSpPr>
          <p:cNvPr id="307" name="TextBox 306"/>
          <p:cNvSpPr txBox="1"/>
          <p:nvPr/>
        </p:nvSpPr>
        <p:spPr>
          <a:xfrm>
            <a:off x="10284880" y="5037952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299166" y="5858266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313" name="TextBox 312"/>
          <p:cNvSpPr txBox="1"/>
          <p:nvPr/>
        </p:nvSpPr>
        <p:spPr>
          <a:xfrm>
            <a:off x="10275355" y="6649227"/>
            <a:ext cx="410393" cy="41895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11708044" y="-63408"/>
            <a:ext cx="3469668" cy="4375924"/>
            <a:chOff x="11084836" y="-34833"/>
            <a:chExt cx="3469668" cy="4375924"/>
          </a:xfrm>
        </p:grpSpPr>
        <p:grpSp>
          <p:nvGrpSpPr>
            <p:cNvPr id="32" name="Group 31"/>
            <p:cNvGrpSpPr/>
            <p:nvPr/>
          </p:nvGrpSpPr>
          <p:grpSpPr>
            <a:xfrm>
              <a:off x="11084836" y="-34833"/>
              <a:ext cx="3469668" cy="4375924"/>
              <a:chOff x="8199034" y="486813"/>
              <a:chExt cx="3469668" cy="4375924"/>
            </a:xfrm>
          </p:grpSpPr>
          <p:sp>
            <p:nvSpPr>
              <p:cNvPr id="85" name="TextBox 84"/>
              <p:cNvSpPr txBox="1"/>
              <p:nvPr/>
            </p:nvSpPr>
            <p:spPr>
              <a:xfrm>
                <a:off x="8199034" y="3723964"/>
                <a:ext cx="3469668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orientation-encoding matrix </a:t>
                </a:r>
                <a:r>
                  <a:rPr lang="en-US" sz="2800" b="1" i="1" dirty="0"/>
                  <a:t>Q</a:t>
                </a:r>
                <a:r>
                  <a:rPr lang="en-US" sz="2000" i="1" dirty="0"/>
                  <a:t> </a:t>
                </a:r>
              </a:p>
              <a:p>
                <a:pPr algn="ctr"/>
                <a:r>
                  <a:rPr lang="en-US" sz="2000" dirty="0"/>
                  <a:t>for the four-taxa-set </a:t>
                </a:r>
              </a:p>
              <a:p>
                <a:pPr algn="ctr"/>
                <a:r>
                  <a:rPr lang="en-US" sz="2000" dirty="0"/>
                  <a:t>(</a:t>
                </a:r>
                <a:r>
                  <a:rPr lang="en-US" sz="2000" i="1" dirty="0"/>
                  <a:t>t</a:t>
                </a:r>
                <a:r>
                  <a:rPr lang="en-US" sz="2000" i="1" baseline="-25000" dirty="0"/>
                  <a:t>1</a:t>
                </a:r>
                <a:r>
                  <a:rPr lang="en-US" sz="2000" dirty="0"/>
                  <a:t>,</a:t>
                </a:r>
                <a:r>
                  <a:rPr lang="en-US" sz="2000" i="1" dirty="0"/>
                  <a:t> t</a:t>
                </a:r>
                <a:r>
                  <a:rPr lang="en-US" sz="2000" i="1" baseline="-25000" dirty="0"/>
                  <a:t>2</a:t>
                </a:r>
                <a:r>
                  <a:rPr lang="en-US" sz="2000" dirty="0"/>
                  <a:t>,</a:t>
                </a:r>
                <a:r>
                  <a:rPr lang="en-US" sz="2000" i="1" dirty="0"/>
                  <a:t> t</a:t>
                </a:r>
                <a:r>
                  <a:rPr lang="en-US" sz="2000" i="1" baseline="-25000" dirty="0"/>
                  <a:t>3</a:t>
                </a:r>
                <a:r>
                  <a:rPr lang="en-US" sz="2000" dirty="0"/>
                  <a:t>,</a:t>
                </a:r>
                <a:r>
                  <a:rPr lang="en-US" sz="2000" i="1" dirty="0"/>
                  <a:t> t</a:t>
                </a:r>
                <a:r>
                  <a:rPr lang="en-US" sz="2000" i="1" baseline="-25000" dirty="0"/>
                  <a:t>4</a:t>
                </a:r>
                <a:r>
                  <a:rPr lang="en-US" sz="2000" dirty="0"/>
                  <a:t>)</a:t>
                </a:r>
              </a:p>
            </p:txBody>
          </p:sp>
          <p:grpSp>
            <p:nvGrpSpPr>
              <p:cNvPr id="255" name="Group 254"/>
              <p:cNvGrpSpPr/>
              <p:nvPr/>
            </p:nvGrpSpPr>
            <p:grpSpPr>
              <a:xfrm>
                <a:off x="9041468" y="486813"/>
                <a:ext cx="2070223" cy="3370817"/>
                <a:chOff x="9041468" y="486813"/>
                <a:chExt cx="2070223" cy="3370817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9106589" y="1211413"/>
                  <a:ext cx="1204029" cy="264621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/>
                </a:p>
              </p:txBody>
            </p:sp>
            <p:grpSp>
              <p:nvGrpSpPr>
                <p:cNvPr id="17" name="Group 16"/>
                <p:cNvGrpSpPr/>
                <p:nvPr/>
              </p:nvGrpSpPr>
              <p:grpSpPr>
                <a:xfrm>
                  <a:off x="9145524" y="1250555"/>
                  <a:ext cx="1122885" cy="327607"/>
                  <a:chOff x="3824287" y="1995689"/>
                  <a:chExt cx="1092993" cy="318886"/>
                </a:xfrm>
              </p:grpSpPr>
              <p:sp>
                <p:nvSpPr>
                  <p:cNvPr id="10" name="Rectangle 9"/>
                  <p:cNvSpPr/>
                  <p:nvPr/>
                </p:nvSpPr>
                <p:spPr>
                  <a:xfrm>
                    <a:off x="3824287" y="19956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2" name="Straight Connector 11"/>
                  <p:cNvCxnSpPr/>
                  <p:nvPr/>
                </p:nvCxnSpPr>
                <p:spPr>
                  <a:xfrm flipH="1">
                    <a:off x="4179094" y="20169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Connector 13"/>
                  <p:cNvCxnSpPr/>
                  <p:nvPr/>
                </p:nvCxnSpPr>
                <p:spPr>
                  <a:xfrm>
                    <a:off x="4555331" y="20169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9145522" y="2082322"/>
                  <a:ext cx="1122885" cy="327607"/>
                  <a:chOff x="3976687" y="2148089"/>
                  <a:chExt cx="1092993" cy="318886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20" name="Straight Connector 19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9145522" y="2885049"/>
                  <a:ext cx="1122885" cy="327607"/>
                  <a:chOff x="3976687" y="2148089"/>
                  <a:chExt cx="1092993" cy="318886"/>
                </a:xfrm>
                <a:solidFill>
                  <a:srgbClr val="FEE8E8"/>
                </a:solidFill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grpFill/>
                  <a:ln>
                    <a:solidFill>
                      <a:srgbClr val="CE0C0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233" dirty="0">
                      <a:solidFill>
                        <a:srgbClr val="CE0C0C"/>
                      </a:solidFill>
                    </a:endParaRPr>
                  </a:p>
                </p:txBody>
              </p:sp>
              <p:cxnSp>
                <p:nvCxnSpPr>
                  <p:cNvPr id="25" name="Straight Connector 24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9716738" y="1691677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9706953" y="2501254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9705727" y="3320290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/>
                <p:cNvSpPr txBox="1"/>
                <p:nvPr/>
              </p:nvSpPr>
              <p:spPr>
                <a:xfrm>
                  <a:off x="9093523" y="289420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9485919" y="2903988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9853935" y="289685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9180215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9562826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9947151" y="1256059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9181399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9564010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9948335" y="2084952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>
                <a:xfrm flipH="1">
                  <a:off x="10659805" y="1127960"/>
                  <a:ext cx="26095" cy="2646217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>
                  <a:off x="9069935" y="961927"/>
                  <a:ext cx="1269369" cy="8368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/>
                <p:cNvSpPr txBox="1"/>
                <p:nvPr/>
              </p:nvSpPr>
              <p:spPr>
                <a:xfrm>
                  <a:off x="9041468" y="486813"/>
                  <a:ext cx="1518652" cy="4189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/>
                    <a:t>orientations</a:t>
                  </a: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 rot="5400000">
                  <a:off x="10230565" y="2418154"/>
                  <a:ext cx="1343296" cy="4189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/>
                    <a:t>gene trees</a:t>
                  </a:r>
                </a:p>
              </p:txBody>
            </p:sp>
          </p:grpSp>
        </p:grpSp>
        <p:sp>
          <p:nvSpPr>
            <p:cNvPr id="314" name="TextBox 313"/>
            <p:cNvSpPr txBox="1"/>
            <p:nvPr/>
          </p:nvSpPr>
          <p:spPr>
            <a:xfrm>
              <a:off x="13163923" y="667252"/>
              <a:ext cx="418628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/>
                <a:t>g</a:t>
              </a:r>
              <a:r>
                <a:rPr lang="en-US" sz="2050" i="1" baseline="-25000" dirty="0"/>
                <a:t>1</a:t>
              </a:r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13178209" y="1487566"/>
              <a:ext cx="370869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j</a:t>
              </a:r>
              <a:endParaRPr lang="en-US" sz="2050" i="1" baseline="-25000" dirty="0"/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13154398" y="2278527"/>
              <a:ext cx="410393" cy="418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k</a:t>
              </a:r>
              <a:endParaRPr lang="en-US" sz="2050" i="1" baseline="-25000" dirty="0"/>
            </a:p>
          </p:txBody>
        </p:sp>
      </p:grpSp>
      <p:cxnSp>
        <p:nvCxnSpPr>
          <p:cNvPr id="317" name="Straight Connector 316"/>
          <p:cNvCxnSpPr>
            <a:stCxn id="285" idx="1"/>
            <a:endCxn id="2" idx="0"/>
          </p:cNvCxnSpPr>
          <p:nvPr/>
        </p:nvCxnSpPr>
        <p:spPr>
          <a:xfrm flipH="1" flipV="1">
            <a:off x="7758666" y="1972446"/>
            <a:ext cx="453087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/>
          <p:cNvCxnSpPr>
            <a:stCxn id="2" idx="2"/>
            <a:endCxn id="262" idx="3"/>
          </p:cNvCxnSpPr>
          <p:nvPr/>
        </p:nvCxnSpPr>
        <p:spPr>
          <a:xfrm flipH="1">
            <a:off x="6360470" y="1972446"/>
            <a:ext cx="428142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/>
          <p:cNvGrpSpPr/>
          <p:nvPr/>
        </p:nvGrpSpPr>
        <p:grpSpPr>
          <a:xfrm>
            <a:off x="11210788" y="650980"/>
            <a:ext cx="995836" cy="2655710"/>
            <a:chOff x="11230065" y="693847"/>
            <a:chExt cx="995836" cy="2655710"/>
          </a:xfrm>
        </p:grpSpPr>
        <p:sp>
          <p:nvSpPr>
            <p:cNvPr id="322" name="Flowchart: Delay 321"/>
            <p:cNvSpPr/>
            <p:nvPr/>
          </p:nvSpPr>
          <p:spPr>
            <a:xfrm>
              <a:off x="11230065" y="693847"/>
              <a:ext cx="995836" cy="2655710"/>
            </a:xfrm>
            <a:prstGeom prst="flowChartDelay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11384190" y="1752216"/>
              <a:ext cx="520541" cy="348293"/>
              <a:chOff x="7090174" y="3817040"/>
              <a:chExt cx="520541" cy="348293"/>
            </a:xfrm>
          </p:grpSpPr>
          <p:grpSp>
            <p:nvGrpSpPr>
              <p:cNvPr id="68" name="Group 67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13" name="Straight Connector 12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4" name="Group 323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25" name="Straight Connector 324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2" name="Straight Connector 81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Group 326"/>
            <p:cNvGrpSpPr/>
            <p:nvPr/>
          </p:nvGrpSpPr>
          <p:grpSpPr>
            <a:xfrm>
              <a:off x="11373870" y="2519814"/>
              <a:ext cx="520541" cy="348293"/>
              <a:chOff x="7090174" y="3817040"/>
              <a:chExt cx="520541" cy="348293"/>
            </a:xfrm>
          </p:grpSpPr>
          <p:grpSp>
            <p:nvGrpSpPr>
              <p:cNvPr id="329" name="Group 328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34" name="Straight Connector 33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Straight Connector 33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0" name="Group 329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32" name="Straight Connector 331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1" name="Straight Connector 330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" name="Group 337"/>
            <p:cNvGrpSpPr/>
            <p:nvPr/>
          </p:nvGrpSpPr>
          <p:grpSpPr>
            <a:xfrm>
              <a:off x="11373871" y="999659"/>
              <a:ext cx="520541" cy="348293"/>
              <a:chOff x="7090174" y="3817040"/>
              <a:chExt cx="520541" cy="348293"/>
            </a:xfrm>
          </p:grpSpPr>
          <p:grpSp>
            <p:nvGrpSpPr>
              <p:cNvPr id="339" name="Group 338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44" name="Straight Connector 34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0" name="Group 339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42" name="Straight Connector 341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1" name="Straight Connector 340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6" name="Straight Connector 345"/>
            <p:cNvCxnSpPr/>
            <p:nvPr/>
          </p:nvCxnSpPr>
          <p:spPr>
            <a:xfrm>
              <a:off x="11654734" y="138602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>
            <a:xfrm>
              <a:off x="11644949" y="2165121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/>
          </p:nvCxnSpPr>
          <p:spPr>
            <a:xfrm>
              <a:off x="11628483" y="292319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2369791" y="681978"/>
            <a:ext cx="991501" cy="2642645"/>
            <a:chOff x="2700356" y="845379"/>
            <a:chExt cx="991501" cy="2642645"/>
          </a:xfrm>
        </p:grpSpPr>
        <p:sp>
          <p:nvSpPr>
            <p:cNvPr id="3" name="Flowchart: Delay 2"/>
            <p:cNvSpPr/>
            <p:nvPr/>
          </p:nvSpPr>
          <p:spPr>
            <a:xfrm rot="10800000">
              <a:off x="2700356" y="845379"/>
              <a:ext cx="991501" cy="2642645"/>
            </a:xfrm>
            <a:prstGeom prst="flowChartDelay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4" name="Group 433"/>
            <p:cNvGrpSpPr/>
            <p:nvPr/>
          </p:nvGrpSpPr>
          <p:grpSpPr>
            <a:xfrm>
              <a:off x="3031188" y="1905925"/>
              <a:ext cx="520541" cy="348293"/>
              <a:chOff x="7090174" y="3817040"/>
              <a:chExt cx="520541" cy="348293"/>
            </a:xfrm>
          </p:grpSpPr>
          <p:grpSp>
            <p:nvGrpSpPr>
              <p:cNvPr id="435" name="Group 434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0" name="Straight Connector 439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6" name="Group 435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38" name="Straight Connector 437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7" name="Straight Connector 436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2" name="Group 441"/>
            <p:cNvGrpSpPr/>
            <p:nvPr/>
          </p:nvGrpSpPr>
          <p:grpSpPr>
            <a:xfrm>
              <a:off x="3020868" y="2673523"/>
              <a:ext cx="520541" cy="348293"/>
              <a:chOff x="7090174" y="3817040"/>
              <a:chExt cx="520541" cy="348293"/>
            </a:xfrm>
          </p:grpSpPr>
          <p:grpSp>
            <p:nvGrpSpPr>
              <p:cNvPr id="443" name="Group 442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8" name="Straight Connector 447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4" name="Group 443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6" name="Straight Connector 445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5" name="Straight Connector 444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0" name="Group 449"/>
            <p:cNvGrpSpPr/>
            <p:nvPr/>
          </p:nvGrpSpPr>
          <p:grpSpPr>
            <a:xfrm>
              <a:off x="3020869" y="1153368"/>
              <a:ext cx="520541" cy="348293"/>
              <a:chOff x="7090174" y="3817040"/>
              <a:chExt cx="520541" cy="348293"/>
            </a:xfrm>
          </p:grpSpPr>
          <p:grpSp>
            <p:nvGrpSpPr>
              <p:cNvPr id="451" name="Group 450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56" name="Straight Connector 455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Straight Connector 45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2" name="Group 451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54" name="Straight Connector 45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Straight Connector 454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3" name="Straight Connector 452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8" name="Straight Connector 457"/>
            <p:cNvCxnSpPr/>
            <p:nvPr/>
          </p:nvCxnSpPr>
          <p:spPr>
            <a:xfrm>
              <a:off x="3301732" y="1539733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/>
            <p:cNvCxnSpPr/>
            <p:nvPr/>
          </p:nvCxnSpPr>
          <p:spPr>
            <a:xfrm>
              <a:off x="3291947" y="231883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/>
            <p:cNvCxnSpPr/>
            <p:nvPr/>
          </p:nvCxnSpPr>
          <p:spPr>
            <a:xfrm>
              <a:off x="3275481" y="3076906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Straight Connector 460"/>
          <p:cNvCxnSpPr>
            <a:stCxn id="262" idx="1"/>
            <a:endCxn id="3" idx="1"/>
          </p:cNvCxnSpPr>
          <p:nvPr/>
        </p:nvCxnSpPr>
        <p:spPr>
          <a:xfrm flipH="1">
            <a:off x="3361292" y="1981289"/>
            <a:ext cx="428186" cy="22011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/>
          <p:cNvCxnSpPr>
            <a:stCxn id="3" idx="3"/>
            <a:endCxn id="60" idx="3"/>
          </p:cNvCxnSpPr>
          <p:nvPr/>
        </p:nvCxnSpPr>
        <p:spPr>
          <a:xfrm flipH="1">
            <a:off x="1933690" y="2003300"/>
            <a:ext cx="436101" cy="11592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/>
          <p:cNvCxnSpPr>
            <a:stCxn id="285" idx="3"/>
            <a:endCxn id="322" idx="1"/>
          </p:cNvCxnSpPr>
          <p:nvPr/>
        </p:nvCxnSpPr>
        <p:spPr>
          <a:xfrm flipV="1">
            <a:off x="10782745" y="1978835"/>
            <a:ext cx="428043" cy="2454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/>
          <p:cNvCxnSpPr>
            <a:stCxn id="322" idx="3"/>
            <a:endCxn id="4" idx="1"/>
          </p:cNvCxnSpPr>
          <p:nvPr/>
        </p:nvCxnSpPr>
        <p:spPr>
          <a:xfrm>
            <a:off x="12206624" y="1978835"/>
            <a:ext cx="408975" cy="5466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/>
          <p:cNvCxnSpPr/>
          <p:nvPr/>
        </p:nvCxnSpPr>
        <p:spPr>
          <a:xfrm>
            <a:off x="10840801" y="1981289"/>
            <a:ext cx="389264" cy="4041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372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rapezoid 40"/>
          <p:cNvSpPr/>
          <p:nvPr/>
        </p:nvSpPr>
        <p:spPr>
          <a:xfrm rot="5400000">
            <a:off x="377465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98652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82831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92786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424169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614714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630280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429437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648965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715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86" idx="2"/>
            <a:endCxn id="321" idx="0"/>
          </p:cNvCxnSpPr>
          <p:nvPr/>
        </p:nvCxnSpPr>
        <p:spPr>
          <a:xfrm rot="16200000" flipH="1">
            <a:off x="1175124" y="4322733"/>
            <a:ext cx="2367720" cy="1346763"/>
          </a:xfrm>
          <a:prstGeom prst="bentConnector3">
            <a:avLst>
              <a:gd name="adj1" fmla="val 1653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99465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nip Same Side Corner Rectangle 29"/>
          <p:cNvSpPr/>
          <p:nvPr/>
        </p:nvSpPr>
        <p:spPr>
          <a:xfrm rot="10800000">
            <a:off x="1198333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/>
          <p:nvPr/>
        </p:nvCxnSpPr>
        <p:spPr>
          <a:xfrm rot="16200000" flipH="1">
            <a:off x="12949432" y="5151984"/>
            <a:ext cx="2015245" cy="456403"/>
          </a:xfrm>
          <a:prstGeom prst="bentConnector4">
            <a:avLst>
              <a:gd name="adj1" fmla="val 34575"/>
              <a:gd name="adj2" fmla="val 209879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02597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37506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941400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941400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98521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97543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97420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939460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7324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13851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645832" y="7688311"/>
            <a:ext cx="69602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i="1" dirty="0" err="1" smtClean="0"/>
              <a:t>Q</a:t>
            </a:r>
            <a:r>
              <a:rPr lang="en-US" sz="2050" b="1" i="1" baseline="-25000" dirty="0" err="1" smtClean="0"/>
              <a:t>pred</a:t>
            </a:r>
            <a:endParaRPr lang="en-US" sz="2050" b="1" i="1" dirty="0"/>
          </a:p>
        </p:txBody>
      </p:sp>
      <p:grpSp>
        <p:nvGrpSpPr>
          <p:cNvPr id="229" name="Group 228"/>
          <p:cNvGrpSpPr/>
          <p:nvPr/>
        </p:nvGrpSpPr>
        <p:grpSpPr>
          <a:xfrm>
            <a:off x="941400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934275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972510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1014146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939275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976558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1014338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1057909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8077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  <p:grpSp>
        <p:nvGrpSpPr>
          <p:cNvPr id="258" name="Group 257"/>
          <p:cNvGrpSpPr/>
          <p:nvPr/>
        </p:nvGrpSpPr>
        <p:grpSpPr>
          <a:xfrm>
            <a:off x="4063798" y="426720"/>
            <a:ext cx="2641842" cy="3109137"/>
            <a:chOff x="2315275" y="851803"/>
            <a:chExt cx="2641842" cy="3109137"/>
          </a:xfrm>
        </p:grpSpPr>
        <p:sp>
          <p:nvSpPr>
            <p:cNvPr id="259" name="TextBox 258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457897" y="1986341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3" name="Straight Connector 262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6" name="Group 265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279" name="TextBox 278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280" name="Oval 279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7" name="Group 266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277" name="TextBox 276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278" name="Oval 277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75" name="TextBox 274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9" name="Straight Connector 268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Right Arrow 271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ight Arrow 272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ight Arrow 273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1" name="Group 280"/>
          <p:cNvGrpSpPr/>
          <p:nvPr/>
        </p:nvGrpSpPr>
        <p:grpSpPr>
          <a:xfrm>
            <a:off x="8486073" y="426720"/>
            <a:ext cx="2641842" cy="3109137"/>
            <a:chOff x="2315275" y="851803"/>
            <a:chExt cx="2641842" cy="3109137"/>
          </a:xfrm>
        </p:grpSpPr>
        <p:sp>
          <p:nvSpPr>
            <p:cNvPr id="282" name="TextBox 281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488377" y="1986341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050" i="1" dirty="0" smtClean="0"/>
                <a:t>t</a:t>
              </a:r>
              <a:r>
                <a:rPr lang="en-US" sz="2050" i="1" baseline="-25000" dirty="0" smtClean="0"/>
                <a:t>2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4</a:t>
              </a:r>
              <a:r>
                <a:rPr lang="en-US" sz="2050" dirty="0" smtClean="0"/>
                <a:t>)</a:t>
              </a:r>
              <a:endParaRPr lang="en-US" sz="2050" dirty="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6" name="Straight Connector 285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9" name="Group 288"/>
            <p:cNvGrpSpPr/>
            <p:nvPr/>
          </p:nvGrpSpPr>
          <p:grpSpPr>
            <a:xfrm>
              <a:off x="2382507" y="973015"/>
              <a:ext cx="554859" cy="578225"/>
              <a:chOff x="2915907" y="1201615"/>
              <a:chExt cx="554859" cy="578225"/>
            </a:xfrm>
          </p:grpSpPr>
          <p:sp>
            <p:nvSpPr>
              <p:cNvPr id="302" name="TextBox 301"/>
              <p:cNvSpPr txBox="1"/>
              <p:nvPr/>
            </p:nvSpPr>
            <p:spPr>
              <a:xfrm>
                <a:off x="2993010" y="1229697"/>
                <a:ext cx="418628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/>
                  <a:t>g</a:t>
                </a:r>
                <a:r>
                  <a:rPr lang="en-US" sz="2050" i="1" baseline="-25000" dirty="0"/>
                  <a:t>1</a:t>
                </a:r>
              </a:p>
            </p:txBody>
          </p:sp>
          <p:sp>
            <p:nvSpPr>
              <p:cNvPr id="303" name="Oval 302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395198" y="1961485"/>
              <a:ext cx="554859" cy="578225"/>
              <a:chOff x="2913358" y="1961485"/>
              <a:chExt cx="554859" cy="578225"/>
            </a:xfrm>
          </p:grpSpPr>
          <p:sp>
            <p:nvSpPr>
              <p:cNvPr id="300" name="TextBox 299"/>
              <p:cNvSpPr txBox="1"/>
              <p:nvPr/>
            </p:nvSpPr>
            <p:spPr>
              <a:xfrm>
                <a:off x="2991861" y="2049216"/>
                <a:ext cx="370869" cy="418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301" name="Oval 300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1" name="Group 290"/>
            <p:cNvGrpSpPr/>
            <p:nvPr/>
          </p:nvGrpSpPr>
          <p:grpSpPr>
            <a:xfrm>
              <a:off x="2394843" y="2952579"/>
              <a:ext cx="554859" cy="578225"/>
              <a:chOff x="2867283" y="2800179"/>
              <a:chExt cx="554859" cy="578225"/>
            </a:xfrm>
          </p:grpSpPr>
          <p:sp>
            <p:nvSpPr>
              <p:cNvPr id="298" name="TextBox 297"/>
              <p:cNvSpPr txBox="1"/>
              <p:nvPr/>
            </p:nvSpPr>
            <p:spPr>
              <a:xfrm>
                <a:off x="2961731" y="2868138"/>
                <a:ext cx="410393" cy="4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50" i="1" dirty="0" err="1"/>
                  <a:t>g</a:t>
                </a:r>
                <a:r>
                  <a:rPr lang="en-US" sz="2050" i="1" baseline="-25000" dirty="0" err="1"/>
                  <a:t>k</a:t>
                </a:r>
                <a:endParaRPr lang="en-US" sz="2050" i="1" baseline="-25000" dirty="0"/>
              </a:p>
            </p:txBody>
          </p:sp>
          <p:sp>
            <p:nvSpPr>
              <p:cNvPr id="299" name="Oval 298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92" name="Straight Connector 291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Right Arrow 294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ight Arrow 295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ight Arrow 296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700142" y="4467614"/>
            <a:ext cx="1499073" cy="2235100"/>
            <a:chOff x="1282691" y="3736233"/>
            <a:chExt cx="1499073" cy="2235100"/>
          </a:xfrm>
        </p:grpSpPr>
        <p:grpSp>
          <p:nvGrpSpPr>
            <p:cNvPr id="310" name="Group 309"/>
            <p:cNvGrpSpPr/>
            <p:nvPr/>
          </p:nvGrpSpPr>
          <p:grpSpPr>
            <a:xfrm>
              <a:off x="1445027" y="5359806"/>
              <a:ext cx="1182959" cy="611527"/>
              <a:chOff x="1231785" y="4812969"/>
              <a:chExt cx="1182959" cy="611527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231785" y="4812969"/>
                <a:ext cx="1182959" cy="611527"/>
              </a:xfrm>
              <a:prstGeom prst="rect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Freeform 308"/>
              <p:cNvSpPr/>
              <p:nvPr/>
            </p:nvSpPr>
            <p:spPr>
              <a:xfrm>
                <a:off x="1238250" y="4905351"/>
                <a:ext cx="1171575" cy="457226"/>
              </a:xfrm>
              <a:custGeom>
                <a:avLst/>
                <a:gdLst>
                  <a:gd name="connsiteX0" fmla="*/ 0 w 1171575"/>
                  <a:gd name="connsiteY0" fmla="*/ 581082 h 609660"/>
                  <a:gd name="connsiteX1" fmla="*/ 352425 w 1171575"/>
                  <a:gd name="connsiteY1" fmla="*/ 57 h 609660"/>
                  <a:gd name="connsiteX2" fmla="*/ 819150 w 1171575"/>
                  <a:gd name="connsiteY2" fmla="*/ 609657 h 609660"/>
                  <a:gd name="connsiteX3" fmla="*/ 1171575 w 1171575"/>
                  <a:gd name="connsiteY3" fmla="*/ 9582 h 609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609660">
                    <a:moveTo>
                      <a:pt x="0" y="581082"/>
                    </a:moveTo>
                    <a:cubicBezTo>
                      <a:pt x="107950" y="288188"/>
                      <a:pt x="215900" y="-4706"/>
                      <a:pt x="352425" y="57"/>
                    </a:cubicBezTo>
                    <a:cubicBezTo>
                      <a:pt x="488950" y="4819"/>
                      <a:pt x="682625" y="608070"/>
                      <a:pt x="819150" y="609657"/>
                    </a:cubicBezTo>
                    <a:cubicBezTo>
                      <a:pt x="955675" y="611244"/>
                      <a:pt x="1119187" y="103245"/>
                      <a:pt x="1171575" y="9582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1282691" y="3736233"/>
              <a:ext cx="1499073" cy="706604"/>
            </a:xfrm>
            <a:prstGeom prst="rect">
              <a:avLst/>
            </a:prstGeom>
            <a:noFill/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 of four-taxa-set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2" name="Straight Connector 311"/>
            <p:cNvCxnSpPr>
              <a:stCxn id="311" idx="2"/>
              <a:endCxn id="43" idx="0"/>
            </p:cNvCxnSpPr>
            <p:nvPr/>
          </p:nvCxnSpPr>
          <p:spPr>
            <a:xfrm>
              <a:off x="2032228" y="4442837"/>
              <a:ext cx="4279" cy="916969"/>
            </a:xfrm>
            <a:prstGeom prst="line">
              <a:avLst/>
            </a:prstGeom>
            <a:ln w="57150"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0" name="Elbow Connector 319"/>
          <p:cNvCxnSpPr>
            <a:stCxn id="43" idx="3"/>
            <a:endCxn id="321" idx="2"/>
          </p:cNvCxnSpPr>
          <p:nvPr/>
        </p:nvCxnSpPr>
        <p:spPr>
          <a:xfrm>
            <a:off x="2045437" y="6396951"/>
            <a:ext cx="745654" cy="1415"/>
          </a:xfrm>
          <a:prstGeom prst="bentConnector3">
            <a:avLst>
              <a:gd name="adj1" fmla="val 5000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Or 320"/>
          <p:cNvSpPr/>
          <p:nvPr/>
        </p:nvSpPr>
        <p:spPr>
          <a:xfrm>
            <a:off x="2791091" y="6179975"/>
            <a:ext cx="482550" cy="436781"/>
          </a:xfrm>
          <a:prstGeom prst="flowChartOr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327"/>
          <p:cNvCxnSpPr>
            <a:stCxn id="321" idx="6"/>
            <a:endCxn id="41" idx="2"/>
          </p:cNvCxnSpPr>
          <p:nvPr/>
        </p:nvCxnSpPr>
        <p:spPr>
          <a:xfrm>
            <a:off x="3273641" y="6398366"/>
            <a:ext cx="669473" cy="2335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/>
          <p:cNvGrpSpPr/>
          <p:nvPr/>
        </p:nvGrpSpPr>
        <p:grpSpPr>
          <a:xfrm>
            <a:off x="7078172" y="731563"/>
            <a:ext cx="970054" cy="2481763"/>
            <a:chOff x="6804940" y="726640"/>
            <a:chExt cx="970054" cy="2481763"/>
          </a:xfrm>
        </p:grpSpPr>
        <p:sp>
          <p:nvSpPr>
            <p:cNvPr id="2" name="Flowchart: Off-page Connector 1"/>
            <p:cNvSpPr/>
            <p:nvPr/>
          </p:nvSpPr>
          <p:spPr>
            <a:xfrm rot="5400000">
              <a:off x="6049085" y="1482495"/>
              <a:ext cx="2481763" cy="970054"/>
            </a:xfrm>
            <a:prstGeom prst="flowChartOffpageConnector">
              <a:avLst/>
            </a:prstGeom>
            <a:ln w="57150"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7045723" y="988482"/>
              <a:ext cx="625897" cy="1887435"/>
              <a:chOff x="7071123" y="1090082"/>
              <a:chExt cx="625897" cy="1887435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7071124" y="1090082"/>
                <a:ext cx="625896" cy="1025826"/>
                <a:chOff x="7071124" y="1090082"/>
                <a:chExt cx="625896" cy="1025826"/>
              </a:xfrm>
            </p:grpSpPr>
            <p:grpSp>
              <p:nvGrpSpPr>
                <p:cNvPr id="180" name="Group 17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181" name="Flowchart: Data 180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Flowchart: Data 181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Flowchart: Data 182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4" name="Group 183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185" name="Flowchart: Data 18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Flowchart: Data 18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Flowchart: Data 18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9" name="Group 198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00" name="Flowchart: Data 19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1" name="Flowchart: Data 20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2" name="Flowchart: Data 20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3" name="Group 202"/>
                <p:cNvGrpSpPr/>
                <p:nvPr/>
              </p:nvGrpSpPr>
              <p:grpSpPr>
                <a:xfrm>
                  <a:off x="7071124" y="1731740"/>
                  <a:ext cx="625896" cy="384168"/>
                  <a:chOff x="7432320" y="975740"/>
                  <a:chExt cx="665643" cy="1204635"/>
                </a:xfrm>
              </p:grpSpPr>
              <p:sp>
                <p:nvSpPr>
                  <p:cNvPr id="205" name="Flowchart: Data 20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9" name="Flowchart: Data 208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0" name="Flowchart: Data 209"/>
                  <p:cNvSpPr/>
                  <p:nvPr/>
                </p:nvSpPr>
                <p:spPr>
                  <a:xfrm rot="16200000">
                    <a:off x="7110099" y="1297961"/>
                    <a:ext cx="867787" cy="223345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11" name="Group 210"/>
              <p:cNvGrpSpPr/>
              <p:nvPr/>
            </p:nvGrpSpPr>
            <p:grpSpPr>
              <a:xfrm>
                <a:off x="7071123" y="1951692"/>
                <a:ext cx="625897" cy="1025825"/>
                <a:chOff x="7071123" y="1090082"/>
                <a:chExt cx="625897" cy="1025825"/>
              </a:xfrm>
            </p:grpSpPr>
            <p:grpSp>
              <p:nvGrpSpPr>
                <p:cNvPr id="240" name="Group 23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253" name="Flowchart: Data 252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6" name="Flowchart: Data 25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7" name="Flowchart: Data 25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1" name="Group 240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250" name="Flowchart: Data 24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1" name="Flowchart: Data 25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2" name="Flowchart: Data 25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2" name="Group 241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47" name="Flowchart: Data 246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8" name="Flowchart: Data 247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9" name="Flowchart: Data 248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3" name="Group 242"/>
                <p:cNvGrpSpPr/>
                <p:nvPr/>
              </p:nvGrpSpPr>
              <p:grpSpPr>
                <a:xfrm>
                  <a:off x="7071123" y="1729359"/>
                  <a:ext cx="625897" cy="386548"/>
                  <a:chOff x="7432319" y="968276"/>
                  <a:chExt cx="665644" cy="1212099"/>
                </a:xfrm>
              </p:grpSpPr>
              <p:sp>
                <p:nvSpPr>
                  <p:cNvPr id="244" name="Flowchart: Data 243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5" name="Flowchart: Data 244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6" name="Flowchart: Data 245"/>
                  <p:cNvSpPr/>
                  <p:nvPr/>
                </p:nvSpPr>
                <p:spPr>
                  <a:xfrm rot="16200000">
                    <a:off x="7110099" y="1290496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9" name="Group 28"/>
          <p:cNvGrpSpPr/>
          <p:nvPr/>
        </p:nvGrpSpPr>
        <p:grpSpPr>
          <a:xfrm>
            <a:off x="383003" y="626083"/>
            <a:ext cx="2605200" cy="3186172"/>
            <a:chOff x="797387" y="626083"/>
            <a:chExt cx="2605200" cy="3186172"/>
          </a:xfrm>
        </p:grpSpPr>
        <p:grpSp>
          <p:nvGrpSpPr>
            <p:cNvPr id="254" name="Group 253"/>
            <p:cNvGrpSpPr/>
            <p:nvPr/>
          </p:nvGrpSpPr>
          <p:grpSpPr>
            <a:xfrm>
              <a:off x="797387" y="691783"/>
              <a:ext cx="2605200" cy="3120472"/>
              <a:chOff x="5387460" y="1211413"/>
              <a:chExt cx="2605200" cy="3120472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6008438" y="1211413"/>
                <a:ext cx="1204029" cy="264621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6047373" y="1250555"/>
                <a:ext cx="1122885" cy="327607"/>
                <a:chOff x="3824287" y="1995689"/>
                <a:chExt cx="1092993" cy="318886"/>
              </a:xfrm>
            </p:grpSpPr>
            <p:sp>
              <p:nvSpPr>
                <p:cNvPr id="62" name="Rectangle 61"/>
                <p:cNvSpPr/>
                <p:nvPr/>
              </p:nvSpPr>
              <p:spPr>
                <a:xfrm>
                  <a:off x="3824287" y="19956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63" name="Straight Connector 62"/>
                <p:cNvCxnSpPr/>
                <p:nvPr/>
              </p:nvCxnSpPr>
              <p:spPr>
                <a:xfrm flipH="1">
                  <a:off x="4179094" y="20169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4555331" y="20169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>
                <a:off x="6047372" y="2885049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70" name="Rectangle 69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71" name="Straight Connector 70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Straight Connector 72"/>
              <p:cNvCxnSpPr/>
              <p:nvPr/>
            </p:nvCxnSpPr>
            <p:spPr>
              <a:xfrm>
                <a:off x="6618587" y="1691677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6608802" y="2501254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6607576" y="3320290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6082064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6464675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6849000" y="1256059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387460" y="3808665"/>
                <a:ext cx="2605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masked 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OE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matrix </a:t>
                </a:r>
                <a:r>
                  <a:rPr lang="en-US" sz="2800" b="1" i="1" dirty="0" err="1" smtClean="0"/>
                  <a:t>Q</a:t>
                </a:r>
                <a:r>
                  <a:rPr lang="en-US" sz="2800" b="1" i="1" baseline="30000" dirty="0" err="1" smtClean="0"/>
                  <a:t>m</a:t>
                </a:r>
                <a:endParaRPr lang="en-US" sz="2800" b="1" i="1" baseline="30000" dirty="0"/>
              </a:p>
            </p:txBody>
          </p:sp>
          <p:grpSp>
            <p:nvGrpSpPr>
              <p:cNvPr id="91" name="Group 90"/>
              <p:cNvGrpSpPr/>
              <p:nvPr/>
            </p:nvGrpSpPr>
            <p:grpSpPr>
              <a:xfrm>
                <a:off x="6047372" y="2079242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/>
              <p:cNvSpPr txBox="1"/>
              <p:nvPr/>
            </p:nvSpPr>
            <p:spPr>
              <a:xfrm>
                <a:off x="6009695" y="208461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6382519" y="2089504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6760321" y="2082369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007083" y="2886495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379906" y="2891387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6757708" y="288425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04" name="TextBox 303"/>
            <p:cNvSpPr txBox="1"/>
            <p:nvPr/>
          </p:nvSpPr>
          <p:spPr>
            <a:xfrm>
              <a:off x="1062320" y="626083"/>
              <a:ext cx="418628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/>
                <a:t>g</a:t>
              </a:r>
              <a:r>
                <a:rPr lang="en-US" sz="2050" i="1" baseline="-25000" dirty="0"/>
                <a:t>1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1076606" y="1446397"/>
              <a:ext cx="370869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j</a:t>
              </a:r>
              <a:endParaRPr lang="en-US" sz="2050" i="1" baseline="-25000" dirty="0"/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1052795" y="2237358"/>
              <a:ext cx="410393" cy="418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k</a:t>
              </a:r>
              <a:endParaRPr lang="en-US" sz="2050" i="1" baseline="-25000" dirty="0"/>
            </a:p>
          </p:txBody>
        </p:sp>
      </p:grpSp>
      <p:sp>
        <p:nvSpPr>
          <p:cNvPr id="307" name="TextBox 306"/>
          <p:cNvSpPr txBox="1"/>
          <p:nvPr/>
        </p:nvSpPr>
        <p:spPr>
          <a:xfrm>
            <a:off x="10559200" y="5037952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573486" y="5858266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313" name="TextBox 312"/>
          <p:cNvSpPr txBox="1"/>
          <p:nvPr/>
        </p:nvSpPr>
        <p:spPr>
          <a:xfrm>
            <a:off x="10549675" y="6649227"/>
            <a:ext cx="410393" cy="41895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12296933" y="44156"/>
            <a:ext cx="2609743" cy="4344359"/>
            <a:chOff x="11387750" y="-3268"/>
            <a:chExt cx="2609743" cy="4344359"/>
          </a:xfrm>
        </p:grpSpPr>
        <p:grpSp>
          <p:nvGrpSpPr>
            <p:cNvPr id="32" name="Group 31"/>
            <p:cNvGrpSpPr/>
            <p:nvPr/>
          </p:nvGrpSpPr>
          <p:grpSpPr>
            <a:xfrm>
              <a:off x="11387750" y="-3268"/>
              <a:ext cx="2609743" cy="4344359"/>
              <a:chOff x="8501948" y="518378"/>
              <a:chExt cx="2609743" cy="4344359"/>
            </a:xfrm>
          </p:grpSpPr>
          <p:sp>
            <p:nvSpPr>
              <p:cNvPr id="85" name="TextBox 84"/>
              <p:cNvSpPr txBox="1"/>
              <p:nvPr/>
            </p:nvSpPr>
            <p:spPr>
              <a:xfrm>
                <a:off x="8762617" y="3723964"/>
                <a:ext cx="2342501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OE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 </a:t>
                </a:r>
                <a:r>
                  <a:rPr lang="en-US" sz="2800" b="1" i="1" dirty="0"/>
                  <a:t>Q</a:t>
                </a:r>
                <a:r>
                  <a:rPr lang="en-US" sz="2000" i="1" dirty="0"/>
                  <a:t> </a:t>
                </a:r>
              </a:p>
              <a:p>
                <a:pPr algn="ctr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four-taxa-set </a:t>
                </a:r>
              </a:p>
              <a:p>
                <a:pPr algn="ctr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55" name="Group 254"/>
              <p:cNvGrpSpPr/>
              <p:nvPr/>
            </p:nvGrpSpPr>
            <p:grpSpPr>
              <a:xfrm>
                <a:off x="8501948" y="518378"/>
                <a:ext cx="2609743" cy="3339252"/>
                <a:chOff x="8501948" y="518378"/>
                <a:chExt cx="2609743" cy="3339252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9106589" y="1211413"/>
                  <a:ext cx="1204029" cy="264621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/>
                </a:p>
              </p:txBody>
            </p:sp>
            <p:grpSp>
              <p:nvGrpSpPr>
                <p:cNvPr id="17" name="Group 16"/>
                <p:cNvGrpSpPr/>
                <p:nvPr/>
              </p:nvGrpSpPr>
              <p:grpSpPr>
                <a:xfrm>
                  <a:off x="9145524" y="1250555"/>
                  <a:ext cx="1122885" cy="327607"/>
                  <a:chOff x="3824287" y="1995689"/>
                  <a:chExt cx="1092993" cy="318886"/>
                </a:xfrm>
              </p:grpSpPr>
              <p:sp>
                <p:nvSpPr>
                  <p:cNvPr id="10" name="Rectangle 9"/>
                  <p:cNvSpPr/>
                  <p:nvPr/>
                </p:nvSpPr>
                <p:spPr>
                  <a:xfrm>
                    <a:off x="3824287" y="19956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2" name="Straight Connector 11"/>
                  <p:cNvCxnSpPr/>
                  <p:nvPr/>
                </p:nvCxnSpPr>
                <p:spPr>
                  <a:xfrm flipH="1">
                    <a:off x="4179094" y="20169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Connector 13"/>
                  <p:cNvCxnSpPr/>
                  <p:nvPr/>
                </p:nvCxnSpPr>
                <p:spPr>
                  <a:xfrm>
                    <a:off x="4555331" y="20169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9145522" y="2082322"/>
                  <a:ext cx="1122885" cy="327607"/>
                  <a:chOff x="3976687" y="2148089"/>
                  <a:chExt cx="1092993" cy="318886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20" name="Straight Connector 19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9145522" y="2885049"/>
                  <a:ext cx="1122885" cy="327607"/>
                  <a:chOff x="3976687" y="2148089"/>
                  <a:chExt cx="1092993" cy="318886"/>
                </a:xfrm>
                <a:solidFill>
                  <a:srgbClr val="FEE8E8"/>
                </a:solidFill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grpFill/>
                  <a:ln>
                    <a:solidFill>
                      <a:srgbClr val="CE0C0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233" dirty="0">
                      <a:solidFill>
                        <a:srgbClr val="CE0C0C"/>
                      </a:solidFill>
                    </a:endParaRPr>
                  </a:p>
                </p:txBody>
              </p:sp>
              <p:cxnSp>
                <p:nvCxnSpPr>
                  <p:cNvPr id="25" name="Straight Connector 24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9716738" y="1691677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9706953" y="2501254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9705727" y="3320290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/>
                <p:cNvSpPr txBox="1"/>
                <p:nvPr/>
              </p:nvSpPr>
              <p:spPr>
                <a:xfrm>
                  <a:off x="9093523" y="289420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9485919" y="2903988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9853935" y="289685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9180215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9562826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9947151" y="1256059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9181399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9564010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9948335" y="2084952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>
                <a:xfrm flipH="1">
                  <a:off x="10659805" y="1127960"/>
                  <a:ext cx="26095" cy="2646217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>
                  <a:off x="9069935" y="961927"/>
                  <a:ext cx="1269369" cy="8368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/>
                <p:cNvSpPr txBox="1"/>
                <p:nvPr/>
              </p:nvSpPr>
              <p:spPr>
                <a:xfrm>
                  <a:off x="8501948" y="518378"/>
                  <a:ext cx="2479077" cy="407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 smtClean="0"/>
                    <a:t>orientations/quartets</a:t>
                  </a:r>
                  <a:endParaRPr lang="en-US" sz="2050" dirty="0"/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 rot="5400000">
                  <a:off x="10230565" y="2418154"/>
                  <a:ext cx="1343296" cy="4189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/>
                    <a:t>gene trees</a:t>
                  </a:r>
                </a:p>
              </p:txBody>
            </p:sp>
          </p:grpSp>
        </p:grpSp>
        <p:sp>
          <p:nvSpPr>
            <p:cNvPr id="314" name="TextBox 313"/>
            <p:cNvSpPr txBox="1"/>
            <p:nvPr/>
          </p:nvSpPr>
          <p:spPr>
            <a:xfrm>
              <a:off x="13163923" y="667252"/>
              <a:ext cx="418628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/>
                <a:t>g</a:t>
              </a:r>
              <a:r>
                <a:rPr lang="en-US" sz="2050" i="1" baseline="-25000" dirty="0"/>
                <a:t>1</a:t>
              </a:r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13178209" y="1487566"/>
              <a:ext cx="370869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j</a:t>
              </a:r>
              <a:endParaRPr lang="en-US" sz="2050" i="1" baseline="-25000" dirty="0"/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13154398" y="2278527"/>
              <a:ext cx="410393" cy="418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50" i="1" dirty="0" err="1"/>
                <a:t>g</a:t>
              </a:r>
              <a:r>
                <a:rPr lang="en-US" sz="2050" i="1" baseline="-25000" dirty="0" err="1"/>
                <a:t>k</a:t>
              </a:r>
              <a:endParaRPr lang="en-US" sz="2050" i="1" baseline="-25000" dirty="0"/>
            </a:p>
          </p:txBody>
        </p:sp>
      </p:grpSp>
      <p:cxnSp>
        <p:nvCxnSpPr>
          <p:cNvPr id="317" name="Straight Connector 316"/>
          <p:cNvCxnSpPr>
            <a:stCxn id="285" idx="1"/>
            <a:endCxn id="2" idx="0"/>
          </p:cNvCxnSpPr>
          <p:nvPr/>
        </p:nvCxnSpPr>
        <p:spPr>
          <a:xfrm flipH="1" flipV="1">
            <a:off x="8048226" y="1972446"/>
            <a:ext cx="437847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/>
          <p:cNvCxnSpPr>
            <a:stCxn id="2" idx="2"/>
            <a:endCxn id="262" idx="3"/>
          </p:cNvCxnSpPr>
          <p:nvPr/>
        </p:nvCxnSpPr>
        <p:spPr>
          <a:xfrm flipH="1">
            <a:off x="6634790" y="1972446"/>
            <a:ext cx="443382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/>
          <p:cNvGrpSpPr/>
          <p:nvPr/>
        </p:nvGrpSpPr>
        <p:grpSpPr>
          <a:xfrm>
            <a:off x="11485108" y="650980"/>
            <a:ext cx="995836" cy="2655710"/>
            <a:chOff x="11230065" y="693847"/>
            <a:chExt cx="995836" cy="2655710"/>
          </a:xfrm>
        </p:grpSpPr>
        <p:sp>
          <p:nvSpPr>
            <p:cNvPr id="322" name="Flowchart: Delay 321"/>
            <p:cNvSpPr/>
            <p:nvPr/>
          </p:nvSpPr>
          <p:spPr>
            <a:xfrm>
              <a:off x="11230065" y="693847"/>
              <a:ext cx="995836" cy="2655710"/>
            </a:xfrm>
            <a:prstGeom prst="flowChartDelay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11384190" y="1752216"/>
              <a:ext cx="520541" cy="348293"/>
              <a:chOff x="7090174" y="3817040"/>
              <a:chExt cx="520541" cy="348293"/>
            </a:xfrm>
          </p:grpSpPr>
          <p:grpSp>
            <p:nvGrpSpPr>
              <p:cNvPr id="68" name="Group 67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13" name="Straight Connector 12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4" name="Group 323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25" name="Straight Connector 324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2" name="Straight Connector 81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Group 326"/>
            <p:cNvGrpSpPr/>
            <p:nvPr/>
          </p:nvGrpSpPr>
          <p:grpSpPr>
            <a:xfrm>
              <a:off x="11373870" y="2519814"/>
              <a:ext cx="520541" cy="348293"/>
              <a:chOff x="7090174" y="3817040"/>
              <a:chExt cx="520541" cy="348293"/>
            </a:xfrm>
          </p:grpSpPr>
          <p:grpSp>
            <p:nvGrpSpPr>
              <p:cNvPr id="329" name="Group 328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34" name="Straight Connector 33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Straight Connector 33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0" name="Group 329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32" name="Straight Connector 331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1" name="Straight Connector 330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" name="Group 337"/>
            <p:cNvGrpSpPr/>
            <p:nvPr/>
          </p:nvGrpSpPr>
          <p:grpSpPr>
            <a:xfrm>
              <a:off x="11373871" y="999659"/>
              <a:ext cx="520541" cy="348293"/>
              <a:chOff x="7090174" y="3817040"/>
              <a:chExt cx="520541" cy="348293"/>
            </a:xfrm>
          </p:grpSpPr>
          <p:grpSp>
            <p:nvGrpSpPr>
              <p:cNvPr id="339" name="Group 338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44" name="Straight Connector 34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0" name="Group 339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42" name="Straight Connector 341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1" name="Straight Connector 340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6" name="Straight Connector 345"/>
            <p:cNvCxnSpPr/>
            <p:nvPr/>
          </p:nvCxnSpPr>
          <p:spPr>
            <a:xfrm>
              <a:off x="11654734" y="138602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>
            <a:xfrm>
              <a:off x="11644949" y="2165121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/>
          </p:nvCxnSpPr>
          <p:spPr>
            <a:xfrm>
              <a:off x="11628483" y="292319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2644111" y="681978"/>
            <a:ext cx="991501" cy="2642645"/>
            <a:chOff x="2700356" y="845379"/>
            <a:chExt cx="991501" cy="2642645"/>
          </a:xfrm>
        </p:grpSpPr>
        <p:sp>
          <p:nvSpPr>
            <p:cNvPr id="3" name="Flowchart: Delay 2"/>
            <p:cNvSpPr/>
            <p:nvPr/>
          </p:nvSpPr>
          <p:spPr>
            <a:xfrm rot="10800000">
              <a:off x="2700356" y="845379"/>
              <a:ext cx="991501" cy="2642645"/>
            </a:xfrm>
            <a:prstGeom prst="flowChartDelay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4" name="Group 433"/>
            <p:cNvGrpSpPr/>
            <p:nvPr/>
          </p:nvGrpSpPr>
          <p:grpSpPr>
            <a:xfrm>
              <a:off x="3031188" y="1905925"/>
              <a:ext cx="520541" cy="348293"/>
              <a:chOff x="7090174" y="3817040"/>
              <a:chExt cx="520541" cy="348293"/>
            </a:xfrm>
          </p:grpSpPr>
          <p:grpSp>
            <p:nvGrpSpPr>
              <p:cNvPr id="435" name="Group 434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0" name="Straight Connector 439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6" name="Group 435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38" name="Straight Connector 437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7" name="Straight Connector 436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2" name="Group 441"/>
            <p:cNvGrpSpPr/>
            <p:nvPr/>
          </p:nvGrpSpPr>
          <p:grpSpPr>
            <a:xfrm>
              <a:off x="3020868" y="2673523"/>
              <a:ext cx="520541" cy="348293"/>
              <a:chOff x="7090174" y="3817040"/>
              <a:chExt cx="520541" cy="348293"/>
            </a:xfrm>
          </p:grpSpPr>
          <p:grpSp>
            <p:nvGrpSpPr>
              <p:cNvPr id="443" name="Group 442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8" name="Straight Connector 447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4" name="Group 443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6" name="Straight Connector 445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5" name="Straight Connector 444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0" name="Group 449"/>
            <p:cNvGrpSpPr/>
            <p:nvPr/>
          </p:nvGrpSpPr>
          <p:grpSpPr>
            <a:xfrm>
              <a:off x="3020869" y="1153368"/>
              <a:ext cx="520541" cy="348293"/>
              <a:chOff x="7090174" y="3817040"/>
              <a:chExt cx="520541" cy="348293"/>
            </a:xfrm>
          </p:grpSpPr>
          <p:grpSp>
            <p:nvGrpSpPr>
              <p:cNvPr id="451" name="Group 450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56" name="Straight Connector 455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Straight Connector 45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2" name="Group 451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54" name="Straight Connector 45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Straight Connector 454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3" name="Straight Connector 452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8" name="Straight Connector 457"/>
            <p:cNvCxnSpPr/>
            <p:nvPr/>
          </p:nvCxnSpPr>
          <p:spPr>
            <a:xfrm>
              <a:off x="3301732" y="1539733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/>
            <p:cNvCxnSpPr/>
            <p:nvPr/>
          </p:nvCxnSpPr>
          <p:spPr>
            <a:xfrm>
              <a:off x="3291947" y="231883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/>
            <p:cNvCxnSpPr/>
            <p:nvPr/>
          </p:nvCxnSpPr>
          <p:spPr>
            <a:xfrm>
              <a:off x="3275481" y="3076906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Straight Connector 460"/>
          <p:cNvCxnSpPr>
            <a:stCxn id="262" idx="1"/>
            <a:endCxn id="3" idx="1"/>
          </p:cNvCxnSpPr>
          <p:nvPr/>
        </p:nvCxnSpPr>
        <p:spPr>
          <a:xfrm flipH="1">
            <a:off x="3635612" y="1981289"/>
            <a:ext cx="428186" cy="22011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/>
          <p:cNvCxnSpPr>
            <a:stCxn id="3" idx="3"/>
            <a:endCxn id="60" idx="3"/>
          </p:cNvCxnSpPr>
          <p:nvPr/>
        </p:nvCxnSpPr>
        <p:spPr>
          <a:xfrm flipH="1">
            <a:off x="2208010" y="2003300"/>
            <a:ext cx="436101" cy="11592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/>
          <p:cNvCxnSpPr>
            <a:stCxn id="285" idx="3"/>
            <a:endCxn id="322" idx="1"/>
          </p:cNvCxnSpPr>
          <p:nvPr/>
        </p:nvCxnSpPr>
        <p:spPr>
          <a:xfrm flipV="1">
            <a:off x="11057065" y="1978835"/>
            <a:ext cx="428043" cy="2454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/>
          <p:cNvCxnSpPr>
            <a:stCxn id="322" idx="3"/>
            <a:endCxn id="4" idx="1"/>
          </p:cNvCxnSpPr>
          <p:nvPr/>
        </p:nvCxnSpPr>
        <p:spPr>
          <a:xfrm>
            <a:off x="12480944" y="1978835"/>
            <a:ext cx="420630" cy="81465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/>
          <p:cNvCxnSpPr/>
          <p:nvPr/>
        </p:nvCxnSpPr>
        <p:spPr>
          <a:xfrm>
            <a:off x="11115121" y="1981289"/>
            <a:ext cx="389264" cy="4041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467614" y="3467743"/>
            <a:ext cx="2595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Gene-trees and available taxa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4066778" y="3467743"/>
            <a:ext cx="2595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Gene-trees and available taxa after masking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645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3607823" y="4956851"/>
            <a:ext cx="4066795" cy="2614669"/>
            <a:chOff x="3550673" y="4956851"/>
            <a:chExt cx="4066795" cy="2614669"/>
          </a:xfrm>
        </p:grpSpPr>
        <p:sp>
          <p:nvSpPr>
            <p:cNvPr id="41" name="Trapezoid 40"/>
            <p:cNvSpPr/>
            <p:nvPr/>
          </p:nvSpPr>
          <p:spPr>
            <a:xfrm rot="5400000">
              <a:off x="3397464" y="5435144"/>
              <a:ext cx="2176593" cy="1839673"/>
            </a:xfrm>
            <a:prstGeom prst="trapezoid">
              <a:avLst>
                <a:gd name="adj" fmla="val 30319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69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sp>
          <p:nvSpPr>
            <p:cNvPr id="212" name="Trapezoid 211"/>
            <p:cNvSpPr/>
            <p:nvPr/>
          </p:nvSpPr>
          <p:spPr>
            <a:xfrm rot="16200000">
              <a:off x="5609335" y="5432268"/>
              <a:ext cx="2176593" cy="1839673"/>
            </a:xfrm>
            <a:prstGeom prst="trapezoid">
              <a:avLst>
                <a:gd name="adj" fmla="val 30319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69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457473" y="5833471"/>
              <a:ext cx="269534" cy="104185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cxnSp>
          <p:nvCxnSpPr>
            <p:cNvPr id="213" name="Straight Arrow Connector 212"/>
            <p:cNvCxnSpPr/>
            <p:nvPr/>
          </p:nvCxnSpPr>
          <p:spPr>
            <a:xfrm>
              <a:off x="3550673" y="5092542"/>
              <a:ext cx="1900450" cy="583188"/>
            </a:xfrm>
            <a:prstGeom prst="straightConnector1">
              <a:avLst/>
            </a:prstGeom>
            <a:ln w="571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213"/>
            <p:cNvSpPr txBox="1"/>
            <p:nvPr/>
          </p:nvSpPr>
          <p:spPr>
            <a:xfrm rot="995966">
              <a:off x="3812102" y="4969671"/>
              <a:ext cx="1544012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2050" b="1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05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FC layers</a:t>
              </a:r>
            </a:p>
          </p:txBody>
        </p:sp>
        <p:cxnSp>
          <p:nvCxnSpPr>
            <p:cNvPr id="215" name="Straight Arrow Connector 214"/>
            <p:cNvCxnSpPr/>
            <p:nvPr/>
          </p:nvCxnSpPr>
          <p:spPr>
            <a:xfrm flipV="1">
              <a:off x="5769956" y="5102847"/>
              <a:ext cx="1841258" cy="555022"/>
            </a:xfrm>
            <a:prstGeom prst="straightConnector1">
              <a:avLst/>
            </a:prstGeom>
            <a:ln w="571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TextBox 215"/>
            <p:cNvSpPr txBox="1"/>
            <p:nvPr/>
          </p:nvSpPr>
          <p:spPr>
            <a:xfrm rot="20572771">
              <a:off x="5887148" y="4956851"/>
              <a:ext cx="1539204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2050" b="1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5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FC layers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 rot="20597095">
              <a:off x="3900733" y="7163716"/>
              <a:ext cx="1133644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 rot="1022148">
              <a:off x="6112460" y="7151728"/>
              <a:ext cx="1130392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59963" y="6811185"/>
              <a:ext cx="4876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3200" b="1" i="1" baseline="-25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sz="36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6" name="Elbow Connector 35"/>
          <p:cNvCxnSpPr>
            <a:stCxn id="86" idx="2"/>
            <a:endCxn id="321" idx="0"/>
          </p:cNvCxnSpPr>
          <p:nvPr/>
        </p:nvCxnSpPr>
        <p:spPr>
          <a:xfrm rot="16200000" flipH="1">
            <a:off x="626485" y="4448464"/>
            <a:ext cx="2367720" cy="1003862"/>
          </a:xfrm>
          <a:prstGeom prst="bentConnector3">
            <a:avLst>
              <a:gd name="adj1" fmla="val 19426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674618" y="6352104"/>
            <a:ext cx="132325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Elbow Connector 205"/>
          <p:cNvCxnSpPr>
            <a:stCxn id="85" idx="3"/>
            <a:endCxn id="30" idx="2"/>
          </p:cNvCxnSpPr>
          <p:nvPr/>
        </p:nvCxnSpPr>
        <p:spPr>
          <a:xfrm flipH="1">
            <a:off x="13690019" y="3678159"/>
            <a:ext cx="832894" cy="1445070"/>
          </a:xfrm>
          <a:prstGeom prst="bentConnector3">
            <a:avLst>
              <a:gd name="adj1" fmla="val -27446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1488100" y="4501535"/>
            <a:ext cx="2208612" cy="1243389"/>
            <a:chOff x="11983337" y="5782066"/>
            <a:chExt cx="2208612" cy="1243389"/>
          </a:xfrm>
        </p:grpSpPr>
        <p:sp>
          <p:nvSpPr>
            <p:cNvPr id="30" name="Snip Same Side Corner Rectangle 29"/>
            <p:cNvSpPr/>
            <p:nvPr/>
          </p:nvSpPr>
          <p:spPr>
            <a:xfrm rot="10800000">
              <a:off x="11983337" y="5782066"/>
              <a:ext cx="2201919" cy="1243389"/>
            </a:xfrm>
            <a:prstGeom prst="snip2SameRect">
              <a:avLst/>
            </a:prstGeom>
            <a:solidFill>
              <a:schemeClr val="bg1"/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990320" y="5875356"/>
              <a:ext cx="2201629" cy="1013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Cross-entropy loss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(as reconstruction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loss)</a:t>
              </a:r>
            </a:p>
          </p:txBody>
        </p:sp>
      </p:grpSp>
      <p:sp>
        <p:nvSpPr>
          <p:cNvPr id="194" name="Rectangle 193"/>
          <p:cNvSpPr/>
          <p:nvPr/>
        </p:nvSpPr>
        <p:spPr>
          <a:xfrm>
            <a:off x="8997876" y="503139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9036811" y="507053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9036810" y="670503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608025" y="551165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598240" y="632123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597014" y="714027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9017416" y="507603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396054" y="507664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761329" y="507603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268642" y="7642591"/>
            <a:ext cx="69602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i="1" dirty="0" err="1" smtClean="0"/>
              <a:t>Q</a:t>
            </a:r>
            <a:r>
              <a:rPr lang="en-US" sz="2050" b="1" i="1" baseline="-25000" dirty="0" err="1" smtClean="0"/>
              <a:t>pred</a:t>
            </a:r>
            <a:endParaRPr lang="en-US" sz="2050" b="1" i="1" dirty="0"/>
          </a:p>
        </p:txBody>
      </p:sp>
      <p:grpSp>
        <p:nvGrpSpPr>
          <p:cNvPr id="229" name="Group 228"/>
          <p:cNvGrpSpPr/>
          <p:nvPr/>
        </p:nvGrpSpPr>
        <p:grpSpPr>
          <a:xfrm>
            <a:off x="9036810" y="589922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965564" y="590459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9347914" y="590948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764270" y="591686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9015568" y="670647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9388391" y="671136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766193" y="670423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34096" y="5134225"/>
            <a:ext cx="118013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</a:p>
          <a:p>
            <a:pPr algn="ctr"/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8" name="Group 257"/>
          <p:cNvGrpSpPr/>
          <p:nvPr/>
        </p:nvGrpSpPr>
        <p:grpSpPr>
          <a:xfrm>
            <a:off x="3686608" y="381000"/>
            <a:ext cx="2641842" cy="3109137"/>
            <a:chOff x="2315275" y="851803"/>
            <a:chExt cx="2641842" cy="3109137"/>
          </a:xfrm>
        </p:grpSpPr>
        <p:sp>
          <p:nvSpPr>
            <p:cNvPr id="259" name="TextBox 258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457897" y="1986341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3" name="Straight Connector 262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6" name="Group 265"/>
            <p:cNvGrpSpPr/>
            <p:nvPr/>
          </p:nvGrpSpPr>
          <p:grpSpPr>
            <a:xfrm>
              <a:off x="2382507" y="962997"/>
              <a:ext cx="554859" cy="588243"/>
              <a:chOff x="2915907" y="1191597"/>
              <a:chExt cx="554859" cy="588243"/>
            </a:xfrm>
          </p:grpSpPr>
          <p:sp>
            <p:nvSpPr>
              <p:cNvPr id="279" name="TextBox 278"/>
              <p:cNvSpPr txBox="1"/>
              <p:nvPr/>
            </p:nvSpPr>
            <p:spPr>
              <a:xfrm>
                <a:off x="2973960" y="1191597"/>
                <a:ext cx="4908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/>
                  <a:t>g</a:t>
                </a:r>
                <a:r>
                  <a:rPr lang="en-US" sz="2800" i="1" baseline="-25000" dirty="0"/>
                  <a:t>1</a:t>
                </a:r>
              </a:p>
            </p:txBody>
          </p:sp>
          <p:sp>
            <p:nvSpPr>
              <p:cNvPr id="280" name="Oval 279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7" name="Group 266"/>
            <p:cNvGrpSpPr/>
            <p:nvPr/>
          </p:nvGrpSpPr>
          <p:grpSpPr>
            <a:xfrm>
              <a:off x="2395198" y="1953966"/>
              <a:ext cx="554859" cy="585744"/>
              <a:chOff x="2913358" y="1953966"/>
              <a:chExt cx="554859" cy="585744"/>
            </a:xfrm>
          </p:grpSpPr>
          <p:sp>
            <p:nvSpPr>
              <p:cNvPr id="277" name="TextBox 276"/>
              <p:cNvSpPr txBox="1"/>
              <p:nvPr/>
            </p:nvSpPr>
            <p:spPr>
              <a:xfrm>
                <a:off x="2991861" y="1953966"/>
                <a:ext cx="42672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err="1"/>
                  <a:t>g</a:t>
                </a:r>
                <a:r>
                  <a:rPr lang="en-US" sz="280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278" name="Oval 277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/>
            <p:cNvGrpSpPr/>
            <p:nvPr/>
          </p:nvGrpSpPr>
          <p:grpSpPr>
            <a:xfrm>
              <a:off x="2394843" y="2944338"/>
              <a:ext cx="554859" cy="586466"/>
              <a:chOff x="2867283" y="2791938"/>
              <a:chExt cx="554859" cy="586466"/>
            </a:xfrm>
          </p:grpSpPr>
          <p:sp>
            <p:nvSpPr>
              <p:cNvPr id="275" name="TextBox 274"/>
              <p:cNvSpPr txBox="1"/>
              <p:nvPr/>
            </p:nvSpPr>
            <p:spPr>
              <a:xfrm>
                <a:off x="2942681" y="2791938"/>
                <a:ext cx="47801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err="1"/>
                  <a:t>g</a:t>
                </a:r>
                <a:r>
                  <a:rPr lang="en-US" sz="2800" i="1" baseline="-25000" dirty="0" err="1"/>
                  <a:t>k</a:t>
                </a:r>
                <a:endParaRPr lang="en-US" sz="2800" i="1" baseline="-25000" dirty="0"/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9" name="Straight Connector 268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Right Arrow 271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ight Arrow 272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ight Arrow 273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1" name="Group 280"/>
          <p:cNvGrpSpPr/>
          <p:nvPr/>
        </p:nvGrpSpPr>
        <p:grpSpPr>
          <a:xfrm>
            <a:off x="8108883" y="381000"/>
            <a:ext cx="2641842" cy="3109137"/>
            <a:chOff x="2315275" y="851803"/>
            <a:chExt cx="2641842" cy="3109137"/>
          </a:xfrm>
        </p:grpSpPr>
        <p:sp>
          <p:nvSpPr>
            <p:cNvPr id="282" name="TextBox 281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488377" y="1986341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050" i="1" dirty="0" smtClean="0"/>
                <a:t>t</a:t>
              </a:r>
              <a:r>
                <a:rPr lang="en-US" sz="2050" i="1" baseline="-25000" dirty="0" smtClean="0"/>
                <a:t>2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4</a:t>
              </a:r>
              <a:r>
                <a:rPr lang="en-US" sz="2050" dirty="0" smtClean="0"/>
                <a:t>)</a:t>
              </a:r>
              <a:endParaRPr lang="en-US" sz="2050" dirty="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6" name="Straight Connector 285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9" name="Group 288"/>
            <p:cNvGrpSpPr/>
            <p:nvPr/>
          </p:nvGrpSpPr>
          <p:grpSpPr>
            <a:xfrm>
              <a:off x="2382507" y="962997"/>
              <a:ext cx="554859" cy="588243"/>
              <a:chOff x="2915907" y="1191597"/>
              <a:chExt cx="554859" cy="588243"/>
            </a:xfrm>
          </p:grpSpPr>
          <p:sp>
            <p:nvSpPr>
              <p:cNvPr id="302" name="TextBox 301"/>
              <p:cNvSpPr txBox="1"/>
              <p:nvPr/>
            </p:nvSpPr>
            <p:spPr>
              <a:xfrm>
                <a:off x="2973960" y="1191597"/>
                <a:ext cx="4908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smtClean="0"/>
                  <a:t>g</a:t>
                </a:r>
                <a:r>
                  <a:rPr lang="en-US" sz="2800" i="1" baseline="-25000" dirty="0" smtClean="0"/>
                  <a:t>1</a:t>
                </a:r>
                <a:endParaRPr lang="en-US" sz="2050" i="1" baseline="-25000" dirty="0"/>
              </a:p>
            </p:txBody>
          </p:sp>
          <p:sp>
            <p:nvSpPr>
              <p:cNvPr id="303" name="Oval 302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395198" y="1953966"/>
              <a:ext cx="554859" cy="585744"/>
              <a:chOff x="2913358" y="1953966"/>
              <a:chExt cx="554859" cy="585744"/>
            </a:xfrm>
          </p:grpSpPr>
          <p:sp>
            <p:nvSpPr>
              <p:cNvPr id="300" name="TextBox 299"/>
              <p:cNvSpPr txBox="1"/>
              <p:nvPr/>
            </p:nvSpPr>
            <p:spPr>
              <a:xfrm>
                <a:off x="2991861" y="1953966"/>
                <a:ext cx="42672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err="1"/>
                  <a:t>g</a:t>
                </a:r>
                <a:r>
                  <a:rPr lang="en-US" sz="280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301" name="Oval 300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1" name="Group 290"/>
            <p:cNvGrpSpPr/>
            <p:nvPr/>
          </p:nvGrpSpPr>
          <p:grpSpPr>
            <a:xfrm>
              <a:off x="2394843" y="2944338"/>
              <a:ext cx="554859" cy="586466"/>
              <a:chOff x="2867283" y="2791938"/>
              <a:chExt cx="554859" cy="586466"/>
            </a:xfrm>
          </p:grpSpPr>
          <p:sp>
            <p:nvSpPr>
              <p:cNvPr id="298" name="TextBox 297"/>
              <p:cNvSpPr txBox="1"/>
              <p:nvPr/>
            </p:nvSpPr>
            <p:spPr>
              <a:xfrm>
                <a:off x="2942681" y="2791938"/>
                <a:ext cx="47801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err="1"/>
                  <a:t>g</a:t>
                </a:r>
                <a:r>
                  <a:rPr lang="en-US" sz="2800" i="1" baseline="-25000" dirty="0" err="1"/>
                  <a:t>k</a:t>
                </a:r>
                <a:endParaRPr lang="en-US" sz="2800" i="1" baseline="-25000" dirty="0"/>
              </a:p>
            </p:txBody>
          </p:sp>
          <p:sp>
            <p:nvSpPr>
              <p:cNvPr id="299" name="Oval 298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92" name="Straight Connector 291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Right Arrow 294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ight Arrow 295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ight Arrow 296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227702" y="4421894"/>
            <a:ext cx="1499073" cy="2235100"/>
            <a:chOff x="1282691" y="3736233"/>
            <a:chExt cx="1499073" cy="2235100"/>
          </a:xfrm>
        </p:grpSpPr>
        <p:grpSp>
          <p:nvGrpSpPr>
            <p:cNvPr id="310" name="Group 309"/>
            <p:cNvGrpSpPr/>
            <p:nvPr/>
          </p:nvGrpSpPr>
          <p:grpSpPr>
            <a:xfrm>
              <a:off x="1445027" y="5359806"/>
              <a:ext cx="1182959" cy="611527"/>
              <a:chOff x="1231785" y="4812969"/>
              <a:chExt cx="1182959" cy="611527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231785" y="4812969"/>
                <a:ext cx="1182959" cy="611527"/>
              </a:xfrm>
              <a:prstGeom prst="rect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Freeform 308"/>
              <p:cNvSpPr/>
              <p:nvPr/>
            </p:nvSpPr>
            <p:spPr>
              <a:xfrm>
                <a:off x="1238250" y="4905351"/>
                <a:ext cx="1171575" cy="457226"/>
              </a:xfrm>
              <a:custGeom>
                <a:avLst/>
                <a:gdLst>
                  <a:gd name="connsiteX0" fmla="*/ 0 w 1171575"/>
                  <a:gd name="connsiteY0" fmla="*/ 581082 h 609660"/>
                  <a:gd name="connsiteX1" fmla="*/ 352425 w 1171575"/>
                  <a:gd name="connsiteY1" fmla="*/ 57 h 609660"/>
                  <a:gd name="connsiteX2" fmla="*/ 819150 w 1171575"/>
                  <a:gd name="connsiteY2" fmla="*/ 609657 h 609660"/>
                  <a:gd name="connsiteX3" fmla="*/ 1171575 w 1171575"/>
                  <a:gd name="connsiteY3" fmla="*/ 9582 h 609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609660">
                    <a:moveTo>
                      <a:pt x="0" y="581082"/>
                    </a:moveTo>
                    <a:cubicBezTo>
                      <a:pt x="107950" y="288188"/>
                      <a:pt x="215900" y="-4706"/>
                      <a:pt x="352425" y="57"/>
                    </a:cubicBezTo>
                    <a:cubicBezTo>
                      <a:pt x="488950" y="4819"/>
                      <a:pt x="682625" y="608070"/>
                      <a:pt x="819150" y="609657"/>
                    </a:cubicBezTo>
                    <a:cubicBezTo>
                      <a:pt x="955675" y="611244"/>
                      <a:pt x="1119187" y="103245"/>
                      <a:pt x="1171575" y="9582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1282691" y="3736233"/>
              <a:ext cx="1499073" cy="706604"/>
            </a:xfrm>
            <a:prstGeom prst="rect">
              <a:avLst/>
            </a:prstGeom>
            <a:noFill/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 of four-taxa-set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2" name="Straight Connector 311"/>
            <p:cNvCxnSpPr>
              <a:stCxn id="311" idx="2"/>
              <a:endCxn id="43" idx="0"/>
            </p:cNvCxnSpPr>
            <p:nvPr/>
          </p:nvCxnSpPr>
          <p:spPr>
            <a:xfrm>
              <a:off x="2032228" y="4442837"/>
              <a:ext cx="4279" cy="916969"/>
            </a:xfrm>
            <a:prstGeom prst="line">
              <a:avLst/>
            </a:prstGeom>
            <a:ln w="57150"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0" name="Elbow Connector 319"/>
          <p:cNvCxnSpPr>
            <a:stCxn id="43" idx="3"/>
            <a:endCxn id="321" idx="2"/>
          </p:cNvCxnSpPr>
          <p:nvPr/>
        </p:nvCxnSpPr>
        <p:spPr>
          <a:xfrm>
            <a:off x="1572997" y="6351231"/>
            <a:ext cx="498004" cy="1415"/>
          </a:xfrm>
          <a:prstGeom prst="bentConnector3">
            <a:avLst>
              <a:gd name="adj1" fmla="val 5000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Or 320"/>
          <p:cNvSpPr/>
          <p:nvPr/>
        </p:nvSpPr>
        <p:spPr>
          <a:xfrm>
            <a:off x="2071001" y="6134255"/>
            <a:ext cx="482550" cy="436781"/>
          </a:xfrm>
          <a:prstGeom prst="flowChartOr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327"/>
          <p:cNvCxnSpPr>
            <a:stCxn id="321" idx="6"/>
            <a:endCxn id="41" idx="2"/>
          </p:cNvCxnSpPr>
          <p:nvPr/>
        </p:nvCxnSpPr>
        <p:spPr>
          <a:xfrm>
            <a:off x="2553551" y="6352646"/>
            <a:ext cx="1069523" cy="2335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/>
          <p:cNvGrpSpPr/>
          <p:nvPr/>
        </p:nvGrpSpPr>
        <p:grpSpPr>
          <a:xfrm>
            <a:off x="6700982" y="685843"/>
            <a:ext cx="970054" cy="2481763"/>
            <a:chOff x="6804940" y="726640"/>
            <a:chExt cx="970054" cy="2481763"/>
          </a:xfrm>
        </p:grpSpPr>
        <p:sp>
          <p:nvSpPr>
            <p:cNvPr id="2" name="Flowchart: Off-page Connector 1"/>
            <p:cNvSpPr/>
            <p:nvPr/>
          </p:nvSpPr>
          <p:spPr>
            <a:xfrm rot="5400000">
              <a:off x="6049085" y="1482495"/>
              <a:ext cx="2481763" cy="970054"/>
            </a:xfrm>
            <a:prstGeom prst="flowChartOffpageConnector">
              <a:avLst/>
            </a:prstGeom>
            <a:ln w="57150"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7045723" y="988482"/>
              <a:ext cx="625897" cy="1887435"/>
              <a:chOff x="7071123" y="1090082"/>
              <a:chExt cx="625897" cy="1887435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7071124" y="1090082"/>
                <a:ext cx="625896" cy="1025826"/>
                <a:chOff x="7071124" y="1090082"/>
                <a:chExt cx="625896" cy="1025826"/>
              </a:xfrm>
            </p:grpSpPr>
            <p:grpSp>
              <p:nvGrpSpPr>
                <p:cNvPr id="180" name="Group 17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181" name="Flowchart: Data 180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Flowchart: Data 181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Flowchart: Data 182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4" name="Group 183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185" name="Flowchart: Data 18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Flowchart: Data 18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Flowchart: Data 18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9" name="Group 198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00" name="Flowchart: Data 19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1" name="Flowchart: Data 20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2" name="Flowchart: Data 20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3" name="Group 202"/>
                <p:cNvGrpSpPr/>
                <p:nvPr/>
              </p:nvGrpSpPr>
              <p:grpSpPr>
                <a:xfrm>
                  <a:off x="7071124" y="1731740"/>
                  <a:ext cx="625896" cy="384168"/>
                  <a:chOff x="7432320" y="975740"/>
                  <a:chExt cx="665643" cy="1204635"/>
                </a:xfrm>
              </p:grpSpPr>
              <p:sp>
                <p:nvSpPr>
                  <p:cNvPr id="205" name="Flowchart: Data 20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9" name="Flowchart: Data 208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0" name="Flowchart: Data 209"/>
                  <p:cNvSpPr/>
                  <p:nvPr/>
                </p:nvSpPr>
                <p:spPr>
                  <a:xfrm rot="16200000">
                    <a:off x="7110099" y="1297961"/>
                    <a:ext cx="867787" cy="223345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11" name="Group 210"/>
              <p:cNvGrpSpPr/>
              <p:nvPr/>
            </p:nvGrpSpPr>
            <p:grpSpPr>
              <a:xfrm>
                <a:off x="7071123" y="1951692"/>
                <a:ext cx="625897" cy="1025825"/>
                <a:chOff x="7071123" y="1090082"/>
                <a:chExt cx="625897" cy="1025825"/>
              </a:xfrm>
            </p:grpSpPr>
            <p:grpSp>
              <p:nvGrpSpPr>
                <p:cNvPr id="240" name="Group 23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253" name="Flowchart: Data 252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6" name="Flowchart: Data 25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7" name="Flowchart: Data 25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1" name="Group 240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250" name="Flowchart: Data 24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1" name="Flowchart: Data 25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2" name="Flowchart: Data 25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2" name="Group 241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47" name="Flowchart: Data 246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8" name="Flowchart: Data 247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9" name="Flowchart: Data 248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3" name="Group 242"/>
                <p:cNvGrpSpPr/>
                <p:nvPr/>
              </p:nvGrpSpPr>
              <p:grpSpPr>
                <a:xfrm>
                  <a:off x="7071123" y="1729359"/>
                  <a:ext cx="625897" cy="386548"/>
                  <a:chOff x="7432319" y="968276"/>
                  <a:chExt cx="665644" cy="1212099"/>
                </a:xfrm>
              </p:grpSpPr>
              <p:sp>
                <p:nvSpPr>
                  <p:cNvPr id="244" name="Flowchart: Data 243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5" name="Flowchart: Data 244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6" name="Flowchart: Data 245"/>
                  <p:cNvSpPr/>
                  <p:nvPr/>
                </p:nvSpPr>
                <p:spPr>
                  <a:xfrm rot="16200000">
                    <a:off x="7110099" y="1290496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9" name="Group 28"/>
          <p:cNvGrpSpPr/>
          <p:nvPr/>
        </p:nvGrpSpPr>
        <p:grpSpPr>
          <a:xfrm>
            <a:off x="-42277" y="542263"/>
            <a:ext cx="2701381" cy="3224272"/>
            <a:chOff x="749297" y="587983"/>
            <a:chExt cx="2701381" cy="3224272"/>
          </a:xfrm>
        </p:grpSpPr>
        <p:grpSp>
          <p:nvGrpSpPr>
            <p:cNvPr id="254" name="Group 253"/>
            <p:cNvGrpSpPr/>
            <p:nvPr/>
          </p:nvGrpSpPr>
          <p:grpSpPr>
            <a:xfrm>
              <a:off x="749297" y="691783"/>
              <a:ext cx="2701381" cy="3120472"/>
              <a:chOff x="5339370" y="1211413"/>
              <a:chExt cx="2701381" cy="3120472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6008438" y="1211413"/>
                <a:ext cx="1204029" cy="264621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6047373" y="1250555"/>
                <a:ext cx="1122885" cy="327607"/>
                <a:chOff x="3824287" y="1995689"/>
                <a:chExt cx="1092993" cy="318886"/>
              </a:xfrm>
            </p:grpSpPr>
            <p:sp>
              <p:nvSpPr>
                <p:cNvPr id="62" name="Rectangle 61"/>
                <p:cNvSpPr/>
                <p:nvPr/>
              </p:nvSpPr>
              <p:spPr>
                <a:xfrm>
                  <a:off x="3824287" y="19956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63" name="Straight Connector 62"/>
                <p:cNvCxnSpPr/>
                <p:nvPr/>
              </p:nvCxnSpPr>
              <p:spPr>
                <a:xfrm flipH="1">
                  <a:off x="4179094" y="20169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4555331" y="20169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>
                <a:off x="6047372" y="2885049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70" name="Rectangle 69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71" name="Straight Connector 70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Straight Connector 72"/>
              <p:cNvCxnSpPr/>
              <p:nvPr/>
            </p:nvCxnSpPr>
            <p:spPr>
              <a:xfrm>
                <a:off x="6618587" y="1691677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6608802" y="2501254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6607576" y="3320290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6082064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6464675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6849000" y="1256059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339370" y="3808665"/>
                <a:ext cx="27013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masked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matrix </a:t>
                </a:r>
                <a:r>
                  <a:rPr lang="en-US" sz="2800" b="1" i="1" dirty="0" err="1" smtClean="0"/>
                  <a:t>Q</a:t>
                </a:r>
                <a:r>
                  <a:rPr lang="en-US" sz="2800" b="1" i="1" baseline="-25000" dirty="0" err="1" smtClean="0"/>
                  <a:t>i</a:t>
                </a:r>
                <a:r>
                  <a:rPr lang="en-US" sz="2800" b="1" i="1" baseline="30000" dirty="0" err="1" smtClean="0"/>
                  <a:t>m</a:t>
                </a:r>
                <a:endParaRPr lang="en-US" sz="2800" b="1" i="1" baseline="30000" dirty="0"/>
              </a:p>
            </p:txBody>
          </p:sp>
          <p:grpSp>
            <p:nvGrpSpPr>
              <p:cNvPr id="91" name="Group 90"/>
              <p:cNvGrpSpPr/>
              <p:nvPr/>
            </p:nvGrpSpPr>
            <p:grpSpPr>
              <a:xfrm>
                <a:off x="6047372" y="2079242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/>
              <p:cNvSpPr txBox="1"/>
              <p:nvPr/>
            </p:nvSpPr>
            <p:spPr>
              <a:xfrm>
                <a:off x="6009695" y="208461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6382519" y="2089504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6760321" y="2082369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007083" y="2886495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379906" y="2891387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6757708" y="288425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04" name="TextBox 303"/>
            <p:cNvSpPr txBox="1"/>
            <p:nvPr/>
          </p:nvSpPr>
          <p:spPr>
            <a:xfrm>
              <a:off x="986120" y="587983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smtClean="0">
                  <a:cs typeface="Times New Roman" panose="02020603050405020304" pitchFamily="18" charset="0"/>
                </a:rPr>
                <a:t>1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981157" y="1409557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995913" y="2256207"/>
              <a:ext cx="4363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k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</p:grpSp>
      <p:sp>
        <p:nvSpPr>
          <p:cNvPr id="307" name="TextBox 306"/>
          <p:cNvSpPr txBox="1"/>
          <p:nvPr/>
        </p:nvSpPr>
        <p:spPr>
          <a:xfrm>
            <a:off x="10182010" y="4992232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q̂</a:t>
            </a:r>
            <a:r>
              <a:rPr lang="en-US" sz="2400" i="1" baseline="-25000" dirty="0" smtClean="0">
                <a:cs typeface="Times New Roman" panose="02020603050405020304" pitchFamily="18" charset="0"/>
              </a:rPr>
              <a:t>1</a:t>
            </a:r>
            <a:endParaRPr lang="en-US" sz="2400" i="1" baseline="-25000" dirty="0">
              <a:cs typeface="Times New Roman" panose="02020603050405020304" pitchFamily="18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2180412" y="-59082"/>
            <a:ext cx="2394298" cy="4306627"/>
            <a:chOff x="8762617" y="556110"/>
            <a:chExt cx="2394298" cy="4306627"/>
          </a:xfrm>
        </p:grpSpPr>
        <p:sp>
          <p:nvSpPr>
            <p:cNvPr id="85" name="TextBox 84"/>
            <p:cNvSpPr txBox="1"/>
            <p:nvPr/>
          </p:nvSpPr>
          <p:spPr>
            <a:xfrm>
              <a:off x="8762617" y="3723964"/>
              <a:ext cx="2342501" cy="1138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matrix </a:t>
              </a:r>
              <a:r>
                <a:rPr lang="en-US" sz="2800" b="1" i="1" dirty="0" smtClean="0"/>
                <a:t>Q</a:t>
              </a:r>
              <a:r>
                <a:rPr lang="en-US" sz="2800" b="1" i="1" baseline="-25000" dirty="0" smtClean="0"/>
                <a:t>i</a:t>
              </a:r>
              <a:r>
                <a:rPr lang="en-US" sz="2000" i="1" dirty="0" smtClean="0"/>
                <a:t> </a:t>
              </a:r>
              <a:endParaRPr lang="en-US" sz="2000" i="1" dirty="0"/>
            </a:p>
            <a:p>
              <a:pPr algn="ctr"/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the four-taxa-set </a:t>
              </a:r>
            </a:p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0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</a:t>
              </a:r>
              <a:r>
                <a:rPr lang="en-US" sz="20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</a:t>
              </a:r>
              <a:r>
                <a:rPr lang="en-US" sz="20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</a:t>
              </a:r>
              <a:r>
                <a:rPr lang="en-US" sz="20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grpSp>
          <p:nvGrpSpPr>
            <p:cNvPr id="255" name="Group 254"/>
            <p:cNvGrpSpPr/>
            <p:nvPr/>
          </p:nvGrpSpPr>
          <p:grpSpPr>
            <a:xfrm>
              <a:off x="9069935" y="556110"/>
              <a:ext cx="2086980" cy="3301520"/>
              <a:chOff x="9069935" y="556110"/>
              <a:chExt cx="2086980" cy="330152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9106589" y="1211413"/>
                <a:ext cx="1204029" cy="264621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/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9145524" y="1250555"/>
                <a:ext cx="1122885" cy="327607"/>
                <a:chOff x="3824287" y="1995689"/>
                <a:chExt cx="1092993" cy="318886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3824287" y="19956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12" name="Straight Connector 11"/>
                <p:cNvCxnSpPr/>
                <p:nvPr/>
              </p:nvCxnSpPr>
              <p:spPr>
                <a:xfrm flipH="1">
                  <a:off x="4179094" y="20169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4555331" y="20169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/>
            </p:nvGrpSpPr>
            <p:grpSpPr>
              <a:xfrm>
                <a:off x="9145522" y="2082322"/>
                <a:ext cx="1122885" cy="327607"/>
                <a:chOff x="3976687" y="2148089"/>
                <a:chExt cx="1092993" cy="318886"/>
              </a:xfrm>
            </p:grpSpPr>
            <p:sp>
              <p:nvSpPr>
                <p:cNvPr id="19" name="Rectangle 18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20" name="Straight Connector 19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/>
            </p:nvGrpSpPr>
            <p:grpSpPr>
              <a:xfrm>
                <a:off x="9145522" y="2885049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25" name="Straight Connector 24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Straight Connector 27"/>
              <p:cNvCxnSpPr/>
              <p:nvPr/>
            </p:nvCxnSpPr>
            <p:spPr>
              <a:xfrm>
                <a:off x="9716738" y="1691677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9706953" y="2501254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9705727" y="3320290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9093523" y="2894203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485919" y="2903988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853935" y="2896853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180215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9562826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9947151" y="1256059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9181399" y="2085563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564010" y="2085563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948335" y="2084952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cxnSp>
            <p:nvCxnSpPr>
              <p:cNvPr id="6" name="Straight Arrow Connector 5"/>
              <p:cNvCxnSpPr/>
              <p:nvPr/>
            </p:nvCxnSpPr>
            <p:spPr>
              <a:xfrm flipH="1">
                <a:off x="10710605" y="1127960"/>
                <a:ext cx="26095" cy="2646217"/>
              </a:xfrm>
              <a:prstGeom prst="straightConnector1">
                <a:avLst/>
              </a:prstGeom>
              <a:ln w="57150"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>
              <a:xfrm>
                <a:off x="9069935" y="961927"/>
                <a:ext cx="1269369" cy="8368"/>
              </a:xfrm>
              <a:prstGeom prst="straightConnector1">
                <a:avLst/>
              </a:prstGeom>
              <a:ln w="57150"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9205431" y="556110"/>
                <a:ext cx="1019831" cy="407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quartets</a:t>
                </a:r>
                <a:endParaRPr lang="en-US" sz="2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 rot="5400000">
                <a:off x="10330086" y="2423730"/>
                <a:ext cx="1245854" cy="407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 trees</a:t>
                </a:r>
              </a:p>
            </p:txBody>
          </p:sp>
        </p:grpSp>
      </p:grpSp>
      <p:cxnSp>
        <p:nvCxnSpPr>
          <p:cNvPr id="317" name="Straight Connector 316"/>
          <p:cNvCxnSpPr>
            <a:stCxn id="285" idx="1"/>
            <a:endCxn id="2" idx="0"/>
          </p:cNvCxnSpPr>
          <p:nvPr/>
        </p:nvCxnSpPr>
        <p:spPr>
          <a:xfrm flipH="1" flipV="1">
            <a:off x="7671036" y="1926726"/>
            <a:ext cx="437847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/>
          <p:cNvCxnSpPr>
            <a:stCxn id="2" idx="2"/>
            <a:endCxn id="262" idx="3"/>
          </p:cNvCxnSpPr>
          <p:nvPr/>
        </p:nvCxnSpPr>
        <p:spPr>
          <a:xfrm flipH="1">
            <a:off x="6257600" y="1926726"/>
            <a:ext cx="443382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/>
          <p:cNvGrpSpPr/>
          <p:nvPr/>
        </p:nvGrpSpPr>
        <p:grpSpPr>
          <a:xfrm>
            <a:off x="11107918" y="605260"/>
            <a:ext cx="995836" cy="2655710"/>
            <a:chOff x="11230065" y="693847"/>
            <a:chExt cx="995836" cy="2655710"/>
          </a:xfrm>
        </p:grpSpPr>
        <p:sp>
          <p:nvSpPr>
            <p:cNvPr id="322" name="Flowchart: Delay 321"/>
            <p:cNvSpPr/>
            <p:nvPr/>
          </p:nvSpPr>
          <p:spPr>
            <a:xfrm>
              <a:off x="11230065" y="693847"/>
              <a:ext cx="995836" cy="2655710"/>
            </a:xfrm>
            <a:prstGeom prst="flowChartDelay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11384190" y="1752216"/>
              <a:ext cx="520541" cy="348293"/>
              <a:chOff x="7090174" y="3817040"/>
              <a:chExt cx="520541" cy="348293"/>
            </a:xfrm>
          </p:grpSpPr>
          <p:grpSp>
            <p:nvGrpSpPr>
              <p:cNvPr id="68" name="Group 67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13" name="Straight Connector 12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4" name="Group 323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25" name="Straight Connector 324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2" name="Straight Connector 81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Group 326"/>
            <p:cNvGrpSpPr/>
            <p:nvPr/>
          </p:nvGrpSpPr>
          <p:grpSpPr>
            <a:xfrm>
              <a:off x="11373870" y="2519814"/>
              <a:ext cx="520541" cy="348293"/>
              <a:chOff x="7090174" y="3817040"/>
              <a:chExt cx="520541" cy="348293"/>
            </a:xfrm>
          </p:grpSpPr>
          <p:grpSp>
            <p:nvGrpSpPr>
              <p:cNvPr id="329" name="Group 328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34" name="Straight Connector 33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Straight Connector 33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0" name="Group 329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32" name="Straight Connector 331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1" name="Straight Connector 330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" name="Group 337"/>
            <p:cNvGrpSpPr/>
            <p:nvPr/>
          </p:nvGrpSpPr>
          <p:grpSpPr>
            <a:xfrm>
              <a:off x="11373871" y="999659"/>
              <a:ext cx="520541" cy="348293"/>
              <a:chOff x="7090174" y="3817040"/>
              <a:chExt cx="520541" cy="348293"/>
            </a:xfrm>
          </p:grpSpPr>
          <p:grpSp>
            <p:nvGrpSpPr>
              <p:cNvPr id="339" name="Group 338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44" name="Straight Connector 34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0" name="Group 339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42" name="Straight Connector 341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1" name="Straight Connector 340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6" name="Straight Connector 345"/>
            <p:cNvCxnSpPr/>
            <p:nvPr/>
          </p:nvCxnSpPr>
          <p:spPr>
            <a:xfrm>
              <a:off x="11654734" y="138602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>
            <a:xfrm>
              <a:off x="11644949" y="2165121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/>
          </p:nvCxnSpPr>
          <p:spPr>
            <a:xfrm>
              <a:off x="11628483" y="292319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2266921" y="636258"/>
            <a:ext cx="991501" cy="2642645"/>
            <a:chOff x="2700356" y="845379"/>
            <a:chExt cx="991501" cy="2642645"/>
          </a:xfrm>
        </p:grpSpPr>
        <p:sp>
          <p:nvSpPr>
            <p:cNvPr id="3" name="Flowchart: Delay 2"/>
            <p:cNvSpPr/>
            <p:nvPr/>
          </p:nvSpPr>
          <p:spPr>
            <a:xfrm rot="10800000">
              <a:off x="2700356" y="845379"/>
              <a:ext cx="991501" cy="2642645"/>
            </a:xfrm>
            <a:prstGeom prst="flowChartDelay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4" name="Group 433"/>
            <p:cNvGrpSpPr/>
            <p:nvPr/>
          </p:nvGrpSpPr>
          <p:grpSpPr>
            <a:xfrm>
              <a:off x="3031188" y="1905925"/>
              <a:ext cx="520541" cy="348293"/>
              <a:chOff x="7090174" y="3817040"/>
              <a:chExt cx="520541" cy="348293"/>
            </a:xfrm>
          </p:grpSpPr>
          <p:grpSp>
            <p:nvGrpSpPr>
              <p:cNvPr id="435" name="Group 434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0" name="Straight Connector 439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6" name="Group 435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38" name="Straight Connector 437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7" name="Straight Connector 436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2" name="Group 441"/>
            <p:cNvGrpSpPr/>
            <p:nvPr/>
          </p:nvGrpSpPr>
          <p:grpSpPr>
            <a:xfrm>
              <a:off x="3020868" y="2673523"/>
              <a:ext cx="520541" cy="348293"/>
              <a:chOff x="7090174" y="3817040"/>
              <a:chExt cx="520541" cy="348293"/>
            </a:xfrm>
          </p:grpSpPr>
          <p:grpSp>
            <p:nvGrpSpPr>
              <p:cNvPr id="443" name="Group 442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8" name="Straight Connector 447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4" name="Group 443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6" name="Straight Connector 445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5" name="Straight Connector 444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0" name="Group 449"/>
            <p:cNvGrpSpPr/>
            <p:nvPr/>
          </p:nvGrpSpPr>
          <p:grpSpPr>
            <a:xfrm>
              <a:off x="3020869" y="1153368"/>
              <a:ext cx="520541" cy="348293"/>
              <a:chOff x="7090174" y="3817040"/>
              <a:chExt cx="520541" cy="348293"/>
            </a:xfrm>
          </p:grpSpPr>
          <p:grpSp>
            <p:nvGrpSpPr>
              <p:cNvPr id="451" name="Group 450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56" name="Straight Connector 455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Straight Connector 45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2" name="Group 451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54" name="Straight Connector 45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Straight Connector 454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3" name="Straight Connector 452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8" name="Straight Connector 457"/>
            <p:cNvCxnSpPr/>
            <p:nvPr/>
          </p:nvCxnSpPr>
          <p:spPr>
            <a:xfrm>
              <a:off x="3301732" y="1539733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/>
            <p:cNvCxnSpPr/>
            <p:nvPr/>
          </p:nvCxnSpPr>
          <p:spPr>
            <a:xfrm>
              <a:off x="3291947" y="231883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/>
            <p:cNvCxnSpPr/>
            <p:nvPr/>
          </p:nvCxnSpPr>
          <p:spPr>
            <a:xfrm>
              <a:off x="3275481" y="3076906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Straight Connector 460"/>
          <p:cNvCxnSpPr>
            <a:stCxn id="262" idx="1"/>
            <a:endCxn id="3" idx="1"/>
          </p:cNvCxnSpPr>
          <p:nvPr/>
        </p:nvCxnSpPr>
        <p:spPr>
          <a:xfrm flipH="1">
            <a:off x="3258422" y="1935569"/>
            <a:ext cx="428186" cy="22011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/>
          <p:cNvCxnSpPr>
            <a:stCxn id="3" idx="3"/>
            <a:endCxn id="60" idx="3"/>
          </p:cNvCxnSpPr>
          <p:nvPr/>
        </p:nvCxnSpPr>
        <p:spPr>
          <a:xfrm flipH="1">
            <a:off x="1830820" y="1957580"/>
            <a:ext cx="436101" cy="11592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/>
          <p:cNvCxnSpPr>
            <a:stCxn id="285" idx="3"/>
            <a:endCxn id="322" idx="1"/>
          </p:cNvCxnSpPr>
          <p:nvPr/>
        </p:nvCxnSpPr>
        <p:spPr>
          <a:xfrm flipV="1">
            <a:off x="10679875" y="1933115"/>
            <a:ext cx="428043" cy="2454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/>
          <p:cNvCxnSpPr>
            <a:stCxn id="322" idx="3"/>
            <a:endCxn id="4" idx="1"/>
          </p:cNvCxnSpPr>
          <p:nvPr/>
        </p:nvCxnSpPr>
        <p:spPr>
          <a:xfrm flipV="1">
            <a:off x="12103754" y="1919330"/>
            <a:ext cx="420630" cy="13785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48492" y="3442035"/>
            <a:ext cx="34951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Gene-trees and available taxa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(for the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four-taxa-set 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3285037" y="3479564"/>
            <a:ext cx="3252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Gene-trees and available taxa after masking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6" name="Elbow Connector 335"/>
          <p:cNvCxnSpPr>
            <a:stCxn id="194" idx="3"/>
            <a:endCxn id="30" idx="0"/>
          </p:cNvCxnSpPr>
          <p:nvPr/>
        </p:nvCxnSpPr>
        <p:spPr>
          <a:xfrm flipV="1">
            <a:off x="10201905" y="5123229"/>
            <a:ext cx="1286195" cy="1231274"/>
          </a:xfrm>
          <a:prstGeom prst="bentConnector3">
            <a:avLst>
              <a:gd name="adj1" fmla="val 5000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/>
          <p:cNvGrpSpPr/>
          <p:nvPr/>
        </p:nvGrpSpPr>
        <p:grpSpPr>
          <a:xfrm>
            <a:off x="11088542" y="5904949"/>
            <a:ext cx="4350059" cy="2221638"/>
            <a:chOff x="11088542" y="5904949"/>
            <a:chExt cx="4350059" cy="2221638"/>
          </a:xfrm>
        </p:grpSpPr>
        <p:sp>
          <p:nvSpPr>
            <p:cNvPr id="89" name="Rectangle 88"/>
            <p:cNvSpPr/>
            <p:nvPr/>
          </p:nvSpPr>
          <p:spPr>
            <a:xfrm>
              <a:off x="11088542" y="5904949"/>
              <a:ext cx="4345768" cy="22216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11215335" y="5972718"/>
              <a:ext cx="1674175" cy="2095172"/>
              <a:chOff x="11291535" y="5972718"/>
              <a:chExt cx="1674175" cy="2095172"/>
            </a:xfrm>
          </p:grpSpPr>
          <p:grpSp>
            <p:nvGrpSpPr>
              <p:cNvPr id="349" name="Group 348"/>
              <p:cNvGrpSpPr/>
              <p:nvPr/>
            </p:nvGrpSpPr>
            <p:grpSpPr>
              <a:xfrm>
                <a:off x="11297861" y="5972718"/>
                <a:ext cx="530803" cy="838467"/>
                <a:chOff x="6804940" y="726640"/>
                <a:chExt cx="970054" cy="2481763"/>
              </a:xfrm>
            </p:grpSpPr>
            <p:sp>
              <p:nvSpPr>
                <p:cNvPr id="350" name="Flowchart: Off-page Connector 349"/>
                <p:cNvSpPr/>
                <p:nvPr/>
              </p:nvSpPr>
              <p:spPr>
                <a:xfrm rot="5400000">
                  <a:off x="6049085" y="1482495"/>
                  <a:ext cx="2481763" cy="970054"/>
                </a:xfrm>
                <a:prstGeom prst="flowChartOffpageConnector">
                  <a:avLst/>
                </a:prstGeom>
                <a:ln w="57150">
                  <a:solidFill>
                    <a:srgbClr val="7030A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51" name="Group 350"/>
                <p:cNvGrpSpPr/>
                <p:nvPr/>
              </p:nvGrpSpPr>
              <p:grpSpPr>
                <a:xfrm>
                  <a:off x="7045723" y="988482"/>
                  <a:ext cx="625897" cy="1887435"/>
                  <a:chOff x="7071123" y="1090082"/>
                  <a:chExt cx="625897" cy="1887435"/>
                </a:xfrm>
              </p:grpSpPr>
              <p:grpSp>
                <p:nvGrpSpPr>
                  <p:cNvPr id="352" name="Group 351"/>
                  <p:cNvGrpSpPr/>
                  <p:nvPr/>
                </p:nvGrpSpPr>
                <p:grpSpPr>
                  <a:xfrm>
                    <a:off x="7071124" y="1090082"/>
                    <a:ext cx="625896" cy="1025826"/>
                    <a:chOff x="7071124" y="1090082"/>
                    <a:chExt cx="625896" cy="1025826"/>
                  </a:xfrm>
                </p:grpSpPr>
                <p:grpSp>
                  <p:nvGrpSpPr>
                    <p:cNvPr id="370" name="Group 369"/>
                    <p:cNvGrpSpPr/>
                    <p:nvPr/>
                  </p:nvGrpSpPr>
                  <p:grpSpPr>
                    <a:xfrm>
                      <a:off x="7072672" y="1090082"/>
                      <a:ext cx="624141" cy="374179"/>
                      <a:chOff x="7434851" y="975742"/>
                      <a:chExt cx="663112" cy="1204633"/>
                    </a:xfrm>
                  </p:grpSpPr>
                  <p:sp>
                    <p:nvSpPr>
                      <p:cNvPr id="383" name="Flowchart: Data 382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84" name="Flowchart: Data 383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85" name="Flowchart: Data 384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71" name="Group 370"/>
                    <p:cNvGrpSpPr/>
                    <p:nvPr/>
                  </p:nvGrpSpPr>
                  <p:grpSpPr>
                    <a:xfrm>
                      <a:off x="7071537" y="1300163"/>
                      <a:ext cx="625481" cy="384167"/>
                      <a:chOff x="7434851" y="975742"/>
                      <a:chExt cx="663112" cy="1204633"/>
                    </a:xfrm>
                  </p:grpSpPr>
                  <p:sp>
                    <p:nvSpPr>
                      <p:cNvPr id="380" name="Flowchart: Data 379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81" name="Flowchart: Data 380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82" name="Flowchart: Data 381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72" name="Group 371"/>
                    <p:cNvGrpSpPr/>
                    <p:nvPr/>
                  </p:nvGrpSpPr>
                  <p:grpSpPr>
                    <a:xfrm>
                      <a:off x="7071537" y="1521659"/>
                      <a:ext cx="625481" cy="374179"/>
                      <a:chOff x="7434851" y="975742"/>
                      <a:chExt cx="663112" cy="1204633"/>
                    </a:xfrm>
                  </p:grpSpPr>
                  <p:sp>
                    <p:nvSpPr>
                      <p:cNvPr id="377" name="Flowchart: Data 376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78" name="Flowchart: Data 377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solidFill>
                        <a:schemeClr val="tx1"/>
                      </a:solidFill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79" name="Flowchart: Data 378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73" name="Group 372"/>
                    <p:cNvGrpSpPr/>
                    <p:nvPr/>
                  </p:nvGrpSpPr>
                  <p:grpSpPr>
                    <a:xfrm>
                      <a:off x="7071124" y="1731740"/>
                      <a:ext cx="625896" cy="384168"/>
                      <a:chOff x="7432320" y="975740"/>
                      <a:chExt cx="665643" cy="1204635"/>
                    </a:xfrm>
                  </p:grpSpPr>
                  <p:sp>
                    <p:nvSpPr>
                      <p:cNvPr id="374" name="Flowchart: Data 373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75" name="Flowchart: Data 374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76" name="Flowchart: Data 375"/>
                      <p:cNvSpPr/>
                      <p:nvPr/>
                    </p:nvSpPr>
                    <p:spPr>
                      <a:xfrm rot="16200000">
                        <a:off x="7110099" y="1297961"/>
                        <a:ext cx="867787" cy="223345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353" name="Group 352"/>
                  <p:cNvGrpSpPr/>
                  <p:nvPr/>
                </p:nvGrpSpPr>
                <p:grpSpPr>
                  <a:xfrm>
                    <a:off x="7071123" y="1951692"/>
                    <a:ext cx="625897" cy="1025825"/>
                    <a:chOff x="7071123" y="1090082"/>
                    <a:chExt cx="625897" cy="1025825"/>
                  </a:xfrm>
                </p:grpSpPr>
                <p:grpSp>
                  <p:nvGrpSpPr>
                    <p:cNvPr id="354" name="Group 353"/>
                    <p:cNvGrpSpPr/>
                    <p:nvPr/>
                  </p:nvGrpSpPr>
                  <p:grpSpPr>
                    <a:xfrm>
                      <a:off x="7072672" y="1090082"/>
                      <a:ext cx="624141" cy="374179"/>
                      <a:chOff x="7434851" y="975742"/>
                      <a:chExt cx="663112" cy="1204633"/>
                    </a:xfrm>
                  </p:grpSpPr>
                  <p:sp>
                    <p:nvSpPr>
                      <p:cNvPr id="367" name="Flowchart: Data 366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solidFill>
                        <a:schemeClr val="tx1"/>
                      </a:solidFill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8" name="Flowchart: Data 367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9" name="Flowchart: Data 368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55" name="Group 354"/>
                    <p:cNvGrpSpPr/>
                    <p:nvPr/>
                  </p:nvGrpSpPr>
                  <p:grpSpPr>
                    <a:xfrm>
                      <a:off x="7071537" y="1300163"/>
                      <a:ext cx="625481" cy="384167"/>
                      <a:chOff x="7434851" y="975742"/>
                      <a:chExt cx="663112" cy="1204633"/>
                    </a:xfrm>
                  </p:grpSpPr>
                  <p:sp>
                    <p:nvSpPr>
                      <p:cNvPr id="364" name="Flowchart: Data 363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5" name="Flowchart: Data 364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6" name="Flowchart: Data 365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56" name="Group 355"/>
                    <p:cNvGrpSpPr/>
                    <p:nvPr/>
                  </p:nvGrpSpPr>
                  <p:grpSpPr>
                    <a:xfrm>
                      <a:off x="7071537" y="1521659"/>
                      <a:ext cx="625481" cy="374179"/>
                      <a:chOff x="7434851" y="975742"/>
                      <a:chExt cx="663112" cy="1204633"/>
                    </a:xfrm>
                  </p:grpSpPr>
                  <p:sp>
                    <p:nvSpPr>
                      <p:cNvPr id="361" name="Flowchart: Data 360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2" name="Flowchart: Data 361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3" name="Flowchart: Data 362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solidFill>
                        <a:schemeClr val="tx1"/>
                      </a:solidFill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57" name="Group 356"/>
                    <p:cNvGrpSpPr/>
                    <p:nvPr/>
                  </p:nvGrpSpPr>
                  <p:grpSpPr>
                    <a:xfrm>
                      <a:off x="7071123" y="1729359"/>
                      <a:ext cx="625897" cy="386548"/>
                      <a:chOff x="7432319" y="968276"/>
                      <a:chExt cx="665644" cy="1212099"/>
                    </a:xfrm>
                  </p:grpSpPr>
                  <p:sp>
                    <p:nvSpPr>
                      <p:cNvPr id="358" name="Flowchart: Data 357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59" name="Flowchart: Data 358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0" name="Flowchart: Data 359"/>
                      <p:cNvSpPr/>
                      <p:nvPr/>
                    </p:nvSpPr>
                    <p:spPr>
                      <a:xfrm rot="16200000">
                        <a:off x="7110099" y="1290496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</p:grpSp>
          <p:grpSp>
            <p:nvGrpSpPr>
              <p:cNvPr id="101" name="Group 100"/>
              <p:cNvGrpSpPr/>
              <p:nvPr/>
            </p:nvGrpSpPr>
            <p:grpSpPr>
              <a:xfrm>
                <a:off x="11291535" y="7072956"/>
                <a:ext cx="520602" cy="986502"/>
                <a:chOff x="11246621" y="7032636"/>
                <a:chExt cx="520602" cy="986502"/>
              </a:xfrm>
            </p:grpSpPr>
            <p:sp>
              <p:nvSpPr>
                <p:cNvPr id="387" name="Flowchart: Delay 386"/>
                <p:cNvSpPr/>
                <p:nvPr/>
              </p:nvSpPr>
              <p:spPr>
                <a:xfrm rot="10800000">
                  <a:off x="11246621" y="7032636"/>
                  <a:ext cx="520602" cy="986502"/>
                </a:xfrm>
                <a:prstGeom prst="flowChartDelay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89" name="Group 388"/>
                <p:cNvGrpSpPr/>
                <p:nvPr/>
              </p:nvGrpSpPr>
              <p:grpSpPr>
                <a:xfrm>
                  <a:off x="11419673" y="7577185"/>
                  <a:ext cx="273318" cy="188986"/>
                  <a:chOff x="7090174" y="3817040"/>
                  <a:chExt cx="520541" cy="348293"/>
                </a:xfrm>
              </p:grpSpPr>
              <p:grpSp>
                <p:nvGrpSpPr>
                  <p:cNvPr id="401" name="Group 400"/>
                  <p:cNvGrpSpPr/>
                  <p:nvPr/>
                </p:nvGrpSpPr>
                <p:grpSpPr>
                  <a:xfrm>
                    <a:off x="7090174" y="3819956"/>
                    <a:ext cx="161526" cy="345377"/>
                    <a:chOff x="7058424" y="3819956"/>
                    <a:chExt cx="161526" cy="345377"/>
                  </a:xfrm>
                </p:grpSpPr>
                <p:cxnSp>
                  <p:nvCxnSpPr>
                    <p:cNvPr id="406" name="Straight Connector 405"/>
                    <p:cNvCxnSpPr/>
                    <p:nvPr/>
                  </p:nvCxnSpPr>
                  <p:spPr>
                    <a:xfrm flipH="1">
                      <a:off x="7058425" y="3990761"/>
                      <a:ext cx="161525" cy="174572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7" name="Straight Connector 406"/>
                    <p:cNvCxnSpPr/>
                    <p:nvPr/>
                  </p:nvCxnSpPr>
                  <p:spPr>
                    <a:xfrm flipH="1" flipV="1">
                      <a:off x="7058424" y="3819953"/>
                      <a:ext cx="161526" cy="170808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02" name="Group 401"/>
                  <p:cNvGrpSpPr/>
                  <p:nvPr/>
                </p:nvGrpSpPr>
                <p:grpSpPr>
                  <a:xfrm rot="10800000">
                    <a:off x="7449189" y="3817040"/>
                    <a:ext cx="161526" cy="345380"/>
                    <a:chOff x="7058424" y="3819953"/>
                    <a:chExt cx="161526" cy="345380"/>
                  </a:xfrm>
                </p:grpSpPr>
                <p:cxnSp>
                  <p:nvCxnSpPr>
                    <p:cNvPr id="404" name="Straight Connector 403"/>
                    <p:cNvCxnSpPr/>
                    <p:nvPr/>
                  </p:nvCxnSpPr>
                  <p:spPr>
                    <a:xfrm flipH="1">
                      <a:off x="7058425" y="3990761"/>
                      <a:ext cx="161525" cy="174572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5" name="Straight Connector 404"/>
                    <p:cNvCxnSpPr/>
                    <p:nvPr/>
                  </p:nvCxnSpPr>
                  <p:spPr>
                    <a:xfrm flipH="1" flipV="1">
                      <a:off x="7058424" y="3819953"/>
                      <a:ext cx="161526" cy="170808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03" name="Straight Connector 402"/>
                  <p:cNvCxnSpPr/>
                  <p:nvPr/>
                </p:nvCxnSpPr>
                <p:spPr>
                  <a:xfrm>
                    <a:off x="7219951" y="3986708"/>
                    <a:ext cx="25781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0" name="Group 389"/>
                <p:cNvGrpSpPr/>
                <p:nvPr/>
              </p:nvGrpSpPr>
              <p:grpSpPr>
                <a:xfrm>
                  <a:off x="11409452" y="7194410"/>
                  <a:ext cx="273318" cy="188986"/>
                  <a:chOff x="7090174" y="3817040"/>
                  <a:chExt cx="520541" cy="348293"/>
                </a:xfrm>
              </p:grpSpPr>
              <p:grpSp>
                <p:nvGrpSpPr>
                  <p:cNvPr id="394" name="Group 393"/>
                  <p:cNvGrpSpPr/>
                  <p:nvPr/>
                </p:nvGrpSpPr>
                <p:grpSpPr>
                  <a:xfrm>
                    <a:off x="7090174" y="3819953"/>
                    <a:ext cx="161526" cy="345380"/>
                    <a:chOff x="7058424" y="3819953"/>
                    <a:chExt cx="161526" cy="345380"/>
                  </a:xfrm>
                </p:grpSpPr>
                <p:cxnSp>
                  <p:nvCxnSpPr>
                    <p:cNvPr id="399" name="Straight Connector 398"/>
                    <p:cNvCxnSpPr/>
                    <p:nvPr/>
                  </p:nvCxnSpPr>
                  <p:spPr>
                    <a:xfrm flipH="1">
                      <a:off x="7058425" y="3990761"/>
                      <a:ext cx="161525" cy="174572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0" name="Straight Connector 399"/>
                    <p:cNvCxnSpPr/>
                    <p:nvPr/>
                  </p:nvCxnSpPr>
                  <p:spPr>
                    <a:xfrm flipH="1" flipV="1">
                      <a:off x="7058424" y="3819953"/>
                      <a:ext cx="161526" cy="170808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95" name="Group 394"/>
                  <p:cNvGrpSpPr/>
                  <p:nvPr/>
                </p:nvGrpSpPr>
                <p:grpSpPr>
                  <a:xfrm rot="10800000">
                    <a:off x="7449189" y="3817040"/>
                    <a:ext cx="161526" cy="345380"/>
                    <a:chOff x="7058424" y="3819953"/>
                    <a:chExt cx="161526" cy="345380"/>
                  </a:xfrm>
                </p:grpSpPr>
                <p:cxnSp>
                  <p:nvCxnSpPr>
                    <p:cNvPr id="397" name="Straight Connector 396"/>
                    <p:cNvCxnSpPr/>
                    <p:nvPr/>
                  </p:nvCxnSpPr>
                  <p:spPr>
                    <a:xfrm flipH="1">
                      <a:off x="7058425" y="3990761"/>
                      <a:ext cx="161525" cy="174572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8" name="Straight Connector 397"/>
                    <p:cNvCxnSpPr/>
                    <p:nvPr/>
                  </p:nvCxnSpPr>
                  <p:spPr>
                    <a:xfrm flipH="1" flipV="1">
                      <a:off x="7058424" y="3819953"/>
                      <a:ext cx="161526" cy="170808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96" name="Straight Connector 395"/>
                  <p:cNvCxnSpPr/>
                  <p:nvPr/>
                </p:nvCxnSpPr>
                <p:spPr>
                  <a:xfrm>
                    <a:off x="7219950" y="3986709"/>
                    <a:ext cx="257814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92" name="Straight Connector 391"/>
                <p:cNvCxnSpPr/>
                <p:nvPr/>
              </p:nvCxnSpPr>
              <p:spPr>
                <a:xfrm>
                  <a:off x="11562007" y="7384726"/>
                  <a:ext cx="0" cy="157427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/>
                <p:cNvCxnSpPr/>
                <p:nvPr/>
              </p:nvCxnSpPr>
              <p:spPr>
                <a:xfrm>
                  <a:off x="11553362" y="7796063"/>
                  <a:ext cx="0" cy="157427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TextBox 101"/>
              <p:cNvSpPr txBox="1"/>
              <p:nvPr/>
            </p:nvSpPr>
            <p:spPr>
              <a:xfrm>
                <a:off x="11836503" y="6213592"/>
                <a:ext cx="1080745" cy="399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Masking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5" name="TextBox 414"/>
              <p:cNvSpPr txBox="1"/>
              <p:nvPr/>
            </p:nvSpPr>
            <p:spPr>
              <a:xfrm>
                <a:off x="11798403" y="7054151"/>
                <a:ext cx="1167307" cy="10137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Quartet</a:t>
                </a:r>
              </a:p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Encoding</a:t>
                </a:r>
              </a:p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Module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13135414" y="6147958"/>
              <a:ext cx="1014976" cy="530765"/>
              <a:chOff x="1066569" y="6877410"/>
              <a:chExt cx="1182959" cy="611527"/>
            </a:xfrm>
          </p:grpSpPr>
          <p:sp>
            <p:nvSpPr>
              <p:cNvPr id="417" name="Rectangle 416"/>
              <p:cNvSpPr/>
              <p:nvPr/>
            </p:nvSpPr>
            <p:spPr>
              <a:xfrm>
                <a:off x="1066569" y="6877410"/>
                <a:ext cx="1182959" cy="611527"/>
              </a:xfrm>
              <a:prstGeom prst="rect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Freeform 417"/>
              <p:cNvSpPr/>
              <p:nvPr/>
            </p:nvSpPr>
            <p:spPr>
              <a:xfrm>
                <a:off x="1073034" y="6962474"/>
                <a:ext cx="1171576" cy="457226"/>
              </a:xfrm>
              <a:custGeom>
                <a:avLst/>
                <a:gdLst>
                  <a:gd name="connsiteX0" fmla="*/ 0 w 1171575"/>
                  <a:gd name="connsiteY0" fmla="*/ 581082 h 609660"/>
                  <a:gd name="connsiteX1" fmla="*/ 352425 w 1171575"/>
                  <a:gd name="connsiteY1" fmla="*/ 57 h 609660"/>
                  <a:gd name="connsiteX2" fmla="*/ 819150 w 1171575"/>
                  <a:gd name="connsiteY2" fmla="*/ 609657 h 609660"/>
                  <a:gd name="connsiteX3" fmla="*/ 1171575 w 1171575"/>
                  <a:gd name="connsiteY3" fmla="*/ 9582 h 609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609660">
                    <a:moveTo>
                      <a:pt x="0" y="581082"/>
                    </a:moveTo>
                    <a:cubicBezTo>
                      <a:pt x="107950" y="288188"/>
                      <a:pt x="215900" y="-4706"/>
                      <a:pt x="352425" y="57"/>
                    </a:cubicBezTo>
                    <a:cubicBezTo>
                      <a:pt x="488950" y="4819"/>
                      <a:pt x="682625" y="608070"/>
                      <a:pt x="819150" y="609657"/>
                    </a:cubicBezTo>
                    <a:cubicBezTo>
                      <a:pt x="955675" y="611244"/>
                      <a:pt x="1119187" y="103245"/>
                      <a:pt x="1171575" y="9582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9" name="TextBox 418"/>
            <p:cNvSpPr txBox="1"/>
            <p:nvPr/>
          </p:nvSpPr>
          <p:spPr>
            <a:xfrm>
              <a:off x="14145994" y="5944201"/>
              <a:ext cx="1199046" cy="1013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Positional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Encoding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" name="Flowchart: Or 419"/>
            <p:cNvSpPr/>
            <p:nvPr/>
          </p:nvSpPr>
          <p:spPr>
            <a:xfrm>
              <a:off x="13366454" y="7322412"/>
              <a:ext cx="482550" cy="436781"/>
            </a:xfrm>
            <a:prstGeom prst="flowChartOr">
              <a:avLst/>
            </a:prstGeom>
            <a:ln w="57150"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13847268" y="7206551"/>
              <a:ext cx="1591333" cy="706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Addition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6" name="TextBox 385"/>
          <p:cNvSpPr txBox="1"/>
          <p:nvPr/>
        </p:nvSpPr>
        <p:spPr>
          <a:xfrm>
            <a:off x="2356717" y="5042352"/>
            <a:ext cx="1279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Reshaped</a:t>
            </a:r>
          </a:p>
          <a:p>
            <a:pPr algn="ctr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b="1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3600" b="1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10180338" y="5809909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 smtClean="0"/>
              <a:t>q̂</a:t>
            </a:r>
            <a:r>
              <a:rPr lang="en-US" sz="2400" i="1" baseline="-25000" dirty="0" err="1">
                <a:cs typeface="Times New Roman" panose="02020603050405020304" pitchFamily="18" charset="0"/>
              </a:rPr>
              <a:t>j</a:t>
            </a:r>
            <a:endParaRPr lang="en-US" sz="2400" i="1" baseline="-25000" dirty="0">
              <a:cs typeface="Times New Roman" panose="02020603050405020304" pitchFamily="18" charset="0"/>
            </a:endParaRPr>
          </a:p>
        </p:txBody>
      </p:sp>
      <p:sp>
        <p:nvSpPr>
          <p:cNvPr id="391" name="TextBox 390"/>
          <p:cNvSpPr txBox="1"/>
          <p:nvPr/>
        </p:nvSpPr>
        <p:spPr>
          <a:xfrm>
            <a:off x="10181086" y="6624504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 smtClean="0"/>
              <a:t>q̂</a:t>
            </a:r>
            <a:r>
              <a:rPr lang="en-US" sz="2400" i="1" baseline="-25000" dirty="0" err="1" smtClean="0">
                <a:cs typeface="Times New Roman" panose="02020603050405020304" pitchFamily="18" charset="0"/>
              </a:rPr>
              <a:t>k</a:t>
            </a:r>
            <a:endParaRPr lang="en-US" sz="2400" i="1" baseline="-25000" dirty="0">
              <a:cs typeface="Times New Roman" panose="02020603050405020304" pitchFamily="18" charset="0"/>
            </a:endParaRPr>
          </a:p>
        </p:txBody>
      </p:sp>
      <p:sp>
        <p:nvSpPr>
          <p:cNvPr id="411" name="TextBox 410"/>
          <p:cNvSpPr txBox="1"/>
          <p:nvPr/>
        </p:nvSpPr>
        <p:spPr>
          <a:xfrm>
            <a:off x="13699624" y="502384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cs typeface="Times New Roman" panose="02020603050405020304" pitchFamily="18" charset="0"/>
              </a:rPr>
              <a:t>q</a:t>
            </a:r>
            <a:r>
              <a:rPr lang="en-US" sz="2400" i="1" baseline="-25000" dirty="0" smtClean="0">
                <a:cs typeface="Times New Roman" panose="02020603050405020304" pitchFamily="18" charset="0"/>
              </a:rPr>
              <a:t>1</a:t>
            </a:r>
            <a:endParaRPr lang="en-US" sz="2400" i="1" baseline="-25000" dirty="0">
              <a:cs typeface="Times New Roman" panose="02020603050405020304" pitchFamily="18" charset="0"/>
            </a:endParaRPr>
          </a:p>
        </p:txBody>
      </p:sp>
      <p:sp>
        <p:nvSpPr>
          <p:cNvPr id="412" name="TextBox 411"/>
          <p:cNvSpPr txBox="1"/>
          <p:nvPr/>
        </p:nvSpPr>
        <p:spPr>
          <a:xfrm>
            <a:off x="13694661" y="1323958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 smtClean="0">
                <a:cs typeface="Times New Roman" panose="02020603050405020304" pitchFamily="18" charset="0"/>
              </a:rPr>
              <a:t>q</a:t>
            </a:r>
            <a:r>
              <a:rPr lang="en-US" sz="2400" i="1" baseline="-25000" dirty="0" err="1" smtClean="0">
                <a:cs typeface="Times New Roman" panose="02020603050405020304" pitchFamily="18" charset="0"/>
              </a:rPr>
              <a:t>j</a:t>
            </a:r>
            <a:endParaRPr lang="en-US" sz="2400" i="1" baseline="-25000" dirty="0">
              <a:cs typeface="Times New Roman" panose="02020603050405020304" pitchFamily="18" charset="0"/>
            </a:endParaRPr>
          </a:p>
        </p:txBody>
      </p:sp>
      <p:sp>
        <p:nvSpPr>
          <p:cNvPr id="413" name="TextBox 412"/>
          <p:cNvSpPr txBox="1"/>
          <p:nvPr/>
        </p:nvSpPr>
        <p:spPr>
          <a:xfrm>
            <a:off x="13709417" y="2170608"/>
            <a:ext cx="43633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i="1" dirty="0" err="1" smtClean="0">
                <a:cs typeface="Times New Roman" panose="02020603050405020304" pitchFamily="18" charset="0"/>
              </a:rPr>
              <a:t>q</a:t>
            </a:r>
            <a:r>
              <a:rPr lang="en-US" sz="2400" i="1" baseline="-25000" dirty="0" err="1" smtClean="0">
                <a:cs typeface="Times New Roman" panose="02020603050405020304" pitchFamily="18" charset="0"/>
              </a:rPr>
              <a:t>k</a:t>
            </a:r>
            <a:endParaRPr lang="en-US" sz="2400" i="1" baseline="-25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64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26298" y="4769049"/>
            <a:ext cx="2366482" cy="3484400"/>
            <a:chOff x="8451801" y="4992232"/>
            <a:chExt cx="2366482" cy="3484400"/>
          </a:xfrm>
        </p:grpSpPr>
        <p:sp>
          <p:nvSpPr>
            <p:cNvPr id="194" name="Rectangle 193"/>
            <p:cNvSpPr/>
            <p:nvPr/>
          </p:nvSpPr>
          <p:spPr>
            <a:xfrm>
              <a:off x="8997876" y="5031394"/>
              <a:ext cx="1204029" cy="264621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grpSp>
          <p:nvGrpSpPr>
            <p:cNvPr id="195" name="Group 194"/>
            <p:cNvGrpSpPr/>
            <p:nvPr/>
          </p:nvGrpSpPr>
          <p:grpSpPr>
            <a:xfrm>
              <a:off x="9036811" y="5070536"/>
              <a:ext cx="1122885" cy="327607"/>
              <a:chOff x="3824287" y="1995689"/>
              <a:chExt cx="1092993" cy="318886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204" name="Rectangle 203"/>
              <p:cNvSpPr/>
              <p:nvPr/>
            </p:nvSpPr>
            <p:spPr>
              <a:xfrm>
                <a:off x="3824287" y="1995689"/>
                <a:ext cx="1092993" cy="318886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7" name="Straight Connector 206"/>
              <p:cNvCxnSpPr/>
              <p:nvPr/>
            </p:nvCxnSpPr>
            <p:spPr>
              <a:xfrm flipH="1">
                <a:off x="4179094" y="20169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/>
              <p:cNvCxnSpPr/>
              <p:nvPr/>
            </p:nvCxnSpPr>
            <p:spPr>
              <a:xfrm>
                <a:off x="4555331" y="2016916"/>
                <a:ext cx="0" cy="278807"/>
              </a:xfrm>
              <a:prstGeom prst="line">
                <a:avLst/>
              </a:prstGeom>
              <a:grpFill/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" name="Group 217"/>
            <p:cNvGrpSpPr/>
            <p:nvPr/>
          </p:nvGrpSpPr>
          <p:grpSpPr>
            <a:xfrm>
              <a:off x="9036810" y="6705030"/>
              <a:ext cx="1122885" cy="327607"/>
              <a:chOff x="3976687" y="2148089"/>
              <a:chExt cx="1092993" cy="318886"/>
            </a:xfrm>
            <a:solidFill>
              <a:srgbClr val="FEE8E8"/>
            </a:solidFill>
          </p:grpSpPr>
          <p:sp>
            <p:nvSpPr>
              <p:cNvPr id="219" name="Rectangle 218"/>
              <p:cNvSpPr/>
              <p:nvPr/>
            </p:nvSpPr>
            <p:spPr>
              <a:xfrm>
                <a:off x="3976687" y="2148089"/>
                <a:ext cx="1092993" cy="318886"/>
              </a:xfrm>
              <a:prstGeom prst="rect">
                <a:avLst/>
              </a:prstGeom>
              <a:grp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33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0" name="Straight Connector 219"/>
              <p:cNvCxnSpPr/>
              <p:nvPr/>
            </p:nvCxnSpPr>
            <p:spPr>
              <a:xfrm flipH="1">
                <a:off x="4331494" y="21693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/>
              <p:cNvCxnSpPr/>
              <p:nvPr/>
            </p:nvCxnSpPr>
            <p:spPr>
              <a:xfrm>
                <a:off x="4707731" y="2169316"/>
                <a:ext cx="0" cy="278807"/>
              </a:xfrm>
              <a:prstGeom prst="line">
                <a:avLst/>
              </a:prstGeom>
              <a:grpFill/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2" name="Straight Connector 221"/>
            <p:cNvCxnSpPr/>
            <p:nvPr/>
          </p:nvCxnSpPr>
          <p:spPr>
            <a:xfrm>
              <a:off x="9608025" y="5511658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>
              <a:off x="9598240" y="6321235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9597014" y="7140271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TextBox 224"/>
            <p:cNvSpPr txBox="1"/>
            <p:nvPr/>
          </p:nvSpPr>
          <p:spPr>
            <a:xfrm>
              <a:off x="9017416" y="5076037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0.2</a:t>
              </a: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9396054" y="5076648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0.7</a:t>
              </a: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9761329" y="5076037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0.1</a:t>
              </a: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8451801" y="7645635"/>
              <a:ext cx="236648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Predicted QE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matrix</a:t>
              </a: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800" b="1" i="1" dirty="0" err="1" smtClean="0">
                  <a:solidFill>
                    <a:prstClr val="black"/>
                  </a:solidFill>
                  <a:latin typeface="Century Schoolbook" panose="02040604050505020304" pitchFamily="18" charset="0"/>
                </a:rPr>
                <a:t>Q</a:t>
              </a:r>
              <a:r>
                <a:rPr lang="en-US" sz="2800" b="1" i="1" baseline="-25000" dirty="0" err="1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800" b="1" i="1" baseline="30000" dirty="0" err="1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pred</a:t>
              </a:r>
              <a:endParaRPr lang="en-US" sz="205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9" name="Group 228"/>
            <p:cNvGrpSpPr/>
            <p:nvPr/>
          </p:nvGrpSpPr>
          <p:grpSpPr>
            <a:xfrm>
              <a:off x="9036810" y="5899223"/>
              <a:ext cx="1122885" cy="327607"/>
              <a:chOff x="3976687" y="2148089"/>
              <a:chExt cx="1092993" cy="318886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230" name="Rectangle 229"/>
              <p:cNvSpPr/>
              <p:nvPr/>
            </p:nvSpPr>
            <p:spPr>
              <a:xfrm>
                <a:off x="3976687" y="2148089"/>
                <a:ext cx="1092993" cy="318886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33" dirty="0">
                  <a:solidFill>
                    <a:srgbClr val="CE0C0C"/>
                  </a:solidFill>
                </a:endParaRPr>
              </a:p>
            </p:txBody>
          </p:sp>
          <p:cxnSp>
            <p:nvCxnSpPr>
              <p:cNvPr id="231" name="Straight Connector 230"/>
              <p:cNvCxnSpPr/>
              <p:nvPr/>
            </p:nvCxnSpPr>
            <p:spPr>
              <a:xfrm flipH="1">
                <a:off x="4331494" y="21693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/>
              <p:cNvCxnSpPr/>
              <p:nvPr/>
            </p:nvCxnSpPr>
            <p:spPr>
              <a:xfrm>
                <a:off x="4707731" y="2169316"/>
                <a:ext cx="0" cy="278807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3" name="TextBox 232"/>
            <p:cNvSpPr txBox="1"/>
            <p:nvPr/>
          </p:nvSpPr>
          <p:spPr>
            <a:xfrm>
              <a:off x="8965564" y="5904590"/>
              <a:ext cx="510076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0.15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9347914" y="5909482"/>
              <a:ext cx="510076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0.15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9764270" y="5916861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0.7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8982450" y="6666532"/>
              <a:ext cx="5132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</a:rPr>
                <a:t>0.6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9388391" y="6711365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0.2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9766193" y="6704230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0.1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10182010" y="4992232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smtClean="0"/>
                <a:t>q̂</a:t>
              </a:r>
              <a:r>
                <a:rPr lang="en-US" sz="2400" i="1" baseline="-25000" dirty="0" smtClean="0">
                  <a:cs typeface="Times New Roman" panose="02020603050405020304" pitchFamily="18" charset="0"/>
                </a:rPr>
                <a:t>1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88" name="TextBox 387"/>
            <p:cNvSpPr txBox="1"/>
            <p:nvPr/>
          </p:nvSpPr>
          <p:spPr>
            <a:xfrm>
              <a:off x="10180338" y="5809909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/>
                <a:t>q̂</a:t>
              </a:r>
              <a:r>
                <a:rPr lang="en-US" sz="2400" i="1" baseline="-25000" dirty="0" err="1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91" name="TextBox 390"/>
            <p:cNvSpPr txBox="1"/>
            <p:nvPr/>
          </p:nvSpPr>
          <p:spPr>
            <a:xfrm>
              <a:off x="10181086" y="6624504"/>
              <a:ext cx="4363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/>
                <a:t>q̂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k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-38679" y="64770"/>
            <a:ext cx="2774557" cy="4425333"/>
            <a:chOff x="11766606" y="-59082"/>
            <a:chExt cx="2774557" cy="4425333"/>
          </a:xfrm>
        </p:grpSpPr>
        <p:grpSp>
          <p:nvGrpSpPr>
            <p:cNvPr id="32" name="Group 31"/>
            <p:cNvGrpSpPr/>
            <p:nvPr/>
          </p:nvGrpSpPr>
          <p:grpSpPr>
            <a:xfrm>
              <a:off x="11766606" y="-59082"/>
              <a:ext cx="2774557" cy="4425333"/>
              <a:chOff x="8348811" y="556110"/>
              <a:chExt cx="2774557" cy="4425333"/>
            </a:xfrm>
          </p:grpSpPr>
          <p:sp>
            <p:nvSpPr>
              <p:cNvPr id="85" name="TextBox 84"/>
              <p:cNvSpPr txBox="1"/>
              <p:nvPr/>
            </p:nvSpPr>
            <p:spPr>
              <a:xfrm>
                <a:off x="8401468" y="3781114"/>
                <a:ext cx="272190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 </a:t>
                </a:r>
                <a:r>
                  <a:rPr lang="en-US" sz="2800" b="1" i="1" dirty="0" smtClean="0">
                    <a:latin typeface="Century Schoolbook" panose="02040604050505020304" pitchFamily="18" charset="0"/>
                  </a:rPr>
                  <a:t>Q</a:t>
                </a:r>
                <a:r>
                  <a:rPr lang="en-US" sz="28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i="1" dirty="0" smtClean="0">
                    <a:latin typeface="Georgia" panose="02040502050405020303" pitchFamily="18" charset="0"/>
                  </a:rPr>
                  <a:t> </a:t>
                </a:r>
                <a:endParaRPr lang="en-US" sz="2000" i="1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-th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four-taxa-set </a:t>
                </a:r>
              </a:p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</p:txBody>
          </p:sp>
          <p:grpSp>
            <p:nvGrpSpPr>
              <p:cNvPr id="255" name="Group 254"/>
              <p:cNvGrpSpPr/>
              <p:nvPr/>
            </p:nvGrpSpPr>
            <p:grpSpPr>
              <a:xfrm>
                <a:off x="8348811" y="556110"/>
                <a:ext cx="1990493" cy="3301520"/>
                <a:chOff x="8348811" y="556110"/>
                <a:chExt cx="1990493" cy="330152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9106589" y="1211413"/>
                  <a:ext cx="1204029" cy="264621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/>
                </a:p>
              </p:txBody>
            </p:sp>
            <p:grpSp>
              <p:nvGrpSpPr>
                <p:cNvPr id="17" name="Group 16"/>
                <p:cNvGrpSpPr/>
                <p:nvPr/>
              </p:nvGrpSpPr>
              <p:grpSpPr>
                <a:xfrm>
                  <a:off x="9145524" y="1250555"/>
                  <a:ext cx="1122885" cy="327607"/>
                  <a:chOff x="3824287" y="1995689"/>
                  <a:chExt cx="1092993" cy="318886"/>
                </a:xfrm>
              </p:grpSpPr>
              <p:sp>
                <p:nvSpPr>
                  <p:cNvPr id="10" name="Rectangle 9"/>
                  <p:cNvSpPr/>
                  <p:nvPr/>
                </p:nvSpPr>
                <p:spPr>
                  <a:xfrm>
                    <a:off x="3824287" y="19956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2" name="Straight Connector 11"/>
                  <p:cNvCxnSpPr/>
                  <p:nvPr/>
                </p:nvCxnSpPr>
                <p:spPr>
                  <a:xfrm flipH="1">
                    <a:off x="4179094" y="20169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Connector 13"/>
                  <p:cNvCxnSpPr/>
                  <p:nvPr/>
                </p:nvCxnSpPr>
                <p:spPr>
                  <a:xfrm>
                    <a:off x="4555331" y="20169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9145522" y="2082322"/>
                  <a:ext cx="1122885" cy="327607"/>
                  <a:chOff x="3976687" y="2148089"/>
                  <a:chExt cx="1092993" cy="318886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20" name="Straight Connector 19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9145522" y="2885049"/>
                  <a:ext cx="1122885" cy="327607"/>
                  <a:chOff x="3976687" y="2148089"/>
                  <a:chExt cx="1092993" cy="318886"/>
                </a:xfrm>
                <a:solidFill>
                  <a:srgbClr val="FEE8E8"/>
                </a:solidFill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grpFill/>
                  <a:ln>
                    <a:solidFill>
                      <a:srgbClr val="CE0C0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233" dirty="0">
                      <a:solidFill>
                        <a:srgbClr val="CE0C0C"/>
                      </a:solidFill>
                    </a:endParaRPr>
                  </a:p>
                </p:txBody>
              </p:sp>
              <p:cxnSp>
                <p:nvCxnSpPr>
                  <p:cNvPr id="25" name="Straight Connector 24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9716738" y="1691677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9706953" y="2501254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9705727" y="3320290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/>
                <p:cNvSpPr txBox="1"/>
                <p:nvPr/>
              </p:nvSpPr>
              <p:spPr>
                <a:xfrm>
                  <a:off x="9093523" y="289420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9485919" y="2903988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9853935" y="289685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9180215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9562826" y="1199520"/>
                  <a:ext cx="3401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  <a:endParaRPr lang="en-US" sz="1438" b="1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9947151" y="1256059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9181399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9564010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9929285" y="2008752"/>
                  <a:ext cx="3401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>
                <a:xfrm flipH="1">
                  <a:off x="8729405" y="1032710"/>
                  <a:ext cx="26095" cy="2646217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>
                  <a:off x="9069935" y="961927"/>
                  <a:ext cx="1269369" cy="8368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/>
                <p:cNvSpPr txBox="1"/>
                <p:nvPr/>
              </p:nvSpPr>
              <p:spPr>
                <a:xfrm>
                  <a:off x="9205431" y="556110"/>
                  <a:ext cx="1019831" cy="407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quartets</a:t>
                  </a:r>
                  <a:endParaRPr lang="en-US" sz="205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 rot="5400000">
                  <a:off x="7929786" y="2157030"/>
                  <a:ext cx="1245854" cy="407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gene trees</a:t>
                  </a:r>
                </a:p>
              </p:txBody>
            </p:sp>
          </p:grpSp>
        </p:grpSp>
        <p:sp>
          <p:nvSpPr>
            <p:cNvPr id="411" name="TextBox 410"/>
            <p:cNvSpPr txBox="1"/>
            <p:nvPr/>
          </p:nvSpPr>
          <p:spPr>
            <a:xfrm>
              <a:off x="13699624" y="50238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smtClean="0">
                  <a:cs typeface="Times New Roman" panose="02020603050405020304" pitchFamily="18" charset="0"/>
                </a:rPr>
                <a:t>1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13694661" y="1323958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13709417" y="2170608"/>
              <a:ext cx="4363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k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Rounded Rectangular Callout 30"/>
          <p:cNvSpPr/>
          <p:nvPr/>
        </p:nvSpPr>
        <p:spPr>
          <a:xfrm>
            <a:off x="558103" y="613463"/>
            <a:ext cx="1782367" cy="558417"/>
          </a:xfrm>
          <a:prstGeom prst="wedgeRoundRectCallout">
            <a:avLst>
              <a:gd name="adj1" fmla="val 76359"/>
              <a:gd name="adj2" fmla="val -18755"/>
              <a:gd name="adj3" fmla="val 16667"/>
            </a:avLst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Rounded Rectangular Callout 421"/>
          <p:cNvSpPr/>
          <p:nvPr/>
        </p:nvSpPr>
        <p:spPr>
          <a:xfrm>
            <a:off x="558103" y="1469526"/>
            <a:ext cx="1782367" cy="558417"/>
          </a:xfrm>
          <a:prstGeom prst="wedgeRoundRectCallout">
            <a:avLst>
              <a:gd name="adj1" fmla="val 68344"/>
              <a:gd name="adj2" fmla="val 170920"/>
              <a:gd name="adj3" fmla="val 16667"/>
            </a:avLst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6" name="Rounded Rectangular Callout 425"/>
          <p:cNvSpPr/>
          <p:nvPr/>
        </p:nvSpPr>
        <p:spPr>
          <a:xfrm>
            <a:off x="521698" y="6397592"/>
            <a:ext cx="1782367" cy="558417"/>
          </a:xfrm>
          <a:prstGeom prst="wedgeRoundRectCallout">
            <a:avLst>
              <a:gd name="adj1" fmla="val 74435"/>
              <a:gd name="adj2" fmla="val -38201"/>
              <a:gd name="adj3" fmla="val 16667"/>
            </a:avLst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1" name="Group 620"/>
          <p:cNvGrpSpPr/>
          <p:nvPr/>
        </p:nvGrpSpPr>
        <p:grpSpPr>
          <a:xfrm>
            <a:off x="2890875" y="57134"/>
            <a:ext cx="2121214" cy="1877634"/>
            <a:chOff x="2904210" y="133334"/>
            <a:chExt cx="2121214" cy="1877634"/>
          </a:xfrm>
        </p:grpSpPr>
        <p:cxnSp>
          <p:nvCxnSpPr>
            <p:cNvPr id="427" name="Straight Connector 426"/>
            <p:cNvCxnSpPr/>
            <p:nvPr/>
          </p:nvCxnSpPr>
          <p:spPr>
            <a:xfrm>
              <a:off x="3650465" y="855436"/>
              <a:ext cx="641221" cy="5640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" name="Oval 427"/>
            <p:cNvSpPr/>
            <p:nvPr/>
          </p:nvSpPr>
          <p:spPr>
            <a:xfrm>
              <a:off x="2914438" y="136041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429" name="Oval 428"/>
            <p:cNvSpPr/>
            <p:nvPr/>
          </p:nvSpPr>
          <p:spPr>
            <a:xfrm>
              <a:off x="2904210" y="973472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075901" y="1549303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sp>
          <p:nvSpPr>
            <p:cNvPr id="431" name="Oval 430"/>
            <p:cNvSpPr/>
            <p:nvPr/>
          </p:nvSpPr>
          <p:spPr>
            <a:xfrm>
              <a:off x="4438320" y="133334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432" name="Oval 431"/>
            <p:cNvSpPr/>
            <p:nvPr/>
          </p:nvSpPr>
          <p:spPr>
            <a:xfrm>
              <a:off x="4438320" y="967851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4</a:t>
              </a:r>
            </a:p>
          </p:txBody>
        </p:sp>
        <p:cxnSp>
          <p:nvCxnSpPr>
            <p:cNvPr id="433" name="Straight Connector 432"/>
            <p:cNvCxnSpPr>
              <a:stCxn id="428" idx="5"/>
            </p:cNvCxnSpPr>
            <p:nvPr/>
          </p:nvCxnSpPr>
          <p:spPr>
            <a:xfrm>
              <a:off x="3415563" y="604603"/>
              <a:ext cx="320881" cy="257480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/>
            <p:cNvCxnSpPr>
              <a:stCxn id="429" idx="7"/>
            </p:cNvCxnSpPr>
            <p:nvPr/>
          </p:nvCxnSpPr>
          <p:spPr>
            <a:xfrm flipV="1">
              <a:off x="3405335" y="862083"/>
              <a:ext cx="302238" cy="191782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/>
            <p:cNvCxnSpPr>
              <a:stCxn id="431" idx="3"/>
            </p:cNvCxnSpPr>
            <p:nvPr/>
          </p:nvCxnSpPr>
          <p:spPr>
            <a:xfrm flipH="1">
              <a:off x="4229298" y="601896"/>
              <a:ext cx="295001" cy="253540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/>
            <p:cNvCxnSpPr>
              <a:stCxn id="432" idx="1"/>
            </p:cNvCxnSpPr>
            <p:nvPr/>
          </p:nvCxnSpPr>
          <p:spPr>
            <a:xfrm flipH="1" flipV="1">
              <a:off x="4229298" y="869590"/>
              <a:ext cx="295001" cy="178654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1" name="TextBox 470"/>
          <p:cNvSpPr txBox="1"/>
          <p:nvPr/>
        </p:nvSpPr>
        <p:spPr>
          <a:xfrm>
            <a:off x="3079092" y="3863735"/>
            <a:ext cx="1781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(t</a:t>
            </a:r>
            <a:r>
              <a:rPr lang="en-US" sz="2400" i="1" baseline="-25000" dirty="0" smtClean="0"/>
              <a:t>1</a:t>
            </a:r>
            <a:r>
              <a:rPr lang="en-US" sz="2400" dirty="0"/>
              <a:t>,</a:t>
            </a:r>
            <a:r>
              <a:rPr lang="en-US" sz="2400" i="1" dirty="0"/>
              <a:t> t</a:t>
            </a:r>
            <a:r>
              <a:rPr lang="en-US" sz="2400" i="1" baseline="-25000" dirty="0"/>
              <a:t>2</a:t>
            </a:r>
            <a:r>
              <a:rPr lang="en-US" sz="2400" dirty="0"/>
              <a:t> | </a:t>
            </a:r>
            <a:r>
              <a:rPr lang="en-US" sz="2400" i="1" dirty="0"/>
              <a:t>t</a:t>
            </a:r>
            <a:r>
              <a:rPr lang="en-US" sz="2400" i="1" baseline="-25000" dirty="0"/>
              <a:t>3</a:t>
            </a:r>
            <a:r>
              <a:rPr lang="en-US" sz="2400" dirty="0"/>
              <a:t>, </a:t>
            </a:r>
            <a:r>
              <a:rPr lang="en-US" sz="2400" i="1" dirty="0" smtClean="0"/>
              <a:t>t</a:t>
            </a:r>
            <a:r>
              <a:rPr lang="en-US" sz="2400" i="1" baseline="-25000" dirty="0" smtClean="0"/>
              <a:t>4</a:t>
            </a:r>
            <a:r>
              <a:rPr lang="en-US" sz="2400" i="1" dirty="0"/>
              <a:t>)</a:t>
            </a:r>
            <a:endParaRPr lang="en-US" sz="2400" i="1" baseline="-25000" dirty="0"/>
          </a:p>
        </p:txBody>
      </p:sp>
      <p:grpSp>
        <p:nvGrpSpPr>
          <p:cNvPr id="607" name="Group 606"/>
          <p:cNvGrpSpPr/>
          <p:nvPr/>
        </p:nvGrpSpPr>
        <p:grpSpPr>
          <a:xfrm>
            <a:off x="2894777" y="2458368"/>
            <a:ext cx="2167326" cy="1400792"/>
            <a:chOff x="2899681" y="1905047"/>
            <a:chExt cx="2167326" cy="1400792"/>
          </a:xfrm>
        </p:grpSpPr>
        <p:cxnSp>
          <p:nvCxnSpPr>
            <p:cNvPr id="468" name="Straight Connector 467"/>
            <p:cNvCxnSpPr/>
            <p:nvPr/>
          </p:nvCxnSpPr>
          <p:spPr>
            <a:xfrm flipV="1">
              <a:off x="3633236" y="2623658"/>
              <a:ext cx="693960" cy="1008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Oval 468"/>
            <p:cNvSpPr/>
            <p:nvPr/>
          </p:nvSpPr>
          <p:spPr>
            <a:xfrm>
              <a:off x="2909909" y="1905271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470" name="Oval 469"/>
            <p:cNvSpPr/>
            <p:nvPr/>
          </p:nvSpPr>
          <p:spPr>
            <a:xfrm>
              <a:off x="2899681" y="2742702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472" name="Oval 471"/>
            <p:cNvSpPr/>
            <p:nvPr/>
          </p:nvSpPr>
          <p:spPr>
            <a:xfrm>
              <a:off x="4473353" y="1905047"/>
              <a:ext cx="59365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473" name="Oval 472"/>
            <p:cNvSpPr/>
            <p:nvPr/>
          </p:nvSpPr>
          <p:spPr>
            <a:xfrm>
              <a:off x="4473353" y="2756884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4</a:t>
              </a:r>
            </a:p>
          </p:txBody>
        </p:sp>
        <p:cxnSp>
          <p:nvCxnSpPr>
            <p:cNvPr id="474" name="Straight Connector 473"/>
            <p:cNvCxnSpPr>
              <a:stCxn id="469" idx="5"/>
            </p:cNvCxnSpPr>
            <p:nvPr/>
          </p:nvCxnSpPr>
          <p:spPr>
            <a:xfrm>
              <a:off x="3411034" y="2373833"/>
              <a:ext cx="320881" cy="257480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/>
            <p:cNvCxnSpPr>
              <a:stCxn id="470" idx="7"/>
            </p:cNvCxnSpPr>
            <p:nvPr/>
          </p:nvCxnSpPr>
          <p:spPr>
            <a:xfrm flipV="1">
              <a:off x="3400806" y="2631313"/>
              <a:ext cx="302238" cy="191782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/>
            <p:cNvCxnSpPr>
              <a:stCxn id="472" idx="3"/>
            </p:cNvCxnSpPr>
            <p:nvPr/>
          </p:nvCxnSpPr>
          <p:spPr>
            <a:xfrm flipH="1">
              <a:off x="4295214" y="2373609"/>
              <a:ext cx="265078" cy="257704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/>
            <p:cNvCxnSpPr>
              <a:stCxn id="473" idx="1"/>
            </p:cNvCxnSpPr>
            <p:nvPr/>
          </p:nvCxnSpPr>
          <p:spPr>
            <a:xfrm flipH="1" flipV="1">
              <a:off x="4291686" y="2620951"/>
              <a:ext cx="267646" cy="216326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8" name="Straight Connector 477"/>
          <p:cNvCxnSpPr/>
          <p:nvPr/>
        </p:nvCxnSpPr>
        <p:spPr>
          <a:xfrm>
            <a:off x="3613551" y="6400451"/>
            <a:ext cx="641221" cy="2006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/>
          <p:cNvSpPr/>
          <p:nvPr/>
        </p:nvSpPr>
        <p:spPr>
          <a:xfrm>
            <a:off x="2877524" y="5681056"/>
            <a:ext cx="587104" cy="548955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24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480" name="Oval 479"/>
          <p:cNvSpPr/>
          <p:nvPr/>
        </p:nvSpPr>
        <p:spPr>
          <a:xfrm>
            <a:off x="2867296" y="6518487"/>
            <a:ext cx="587104" cy="548955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24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3062566" y="7125662"/>
            <a:ext cx="1781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(t</a:t>
            </a:r>
            <a:r>
              <a:rPr lang="en-US" sz="2400" i="1" baseline="-25000" dirty="0" smtClean="0"/>
              <a:t>1</a:t>
            </a:r>
            <a:r>
              <a:rPr lang="en-US" sz="2400" dirty="0"/>
              <a:t>,</a:t>
            </a:r>
            <a:r>
              <a:rPr lang="en-US" sz="2400" i="1" dirty="0"/>
              <a:t> t</a:t>
            </a:r>
            <a:r>
              <a:rPr lang="en-US" sz="2400" i="1" baseline="-25000" dirty="0"/>
              <a:t>2</a:t>
            </a:r>
            <a:r>
              <a:rPr lang="en-US" sz="2400" dirty="0"/>
              <a:t> | </a:t>
            </a:r>
            <a:r>
              <a:rPr lang="en-US" sz="2400" i="1" dirty="0"/>
              <a:t>t</a:t>
            </a:r>
            <a:r>
              <a:rPr lang="en-US" sz="2400" i="1" baseline="-25000" dirty="0"/>
              <a:t>3</a:t>
            </a:r>
            <a:r>
              <a:rPr lang="en-US" sz="2400" dirty="0"/>
              <a:t>, </a:t>
            </a:r>
            <a:r>
              <a:rPr lang="en-US" sz="2400" i="1" dirty="0" smtClean="0"/>
              <a:t>t</a:t>
            </a:r>
            <a:r>
              <a:rPr lang="en-US" sz="2400" i="1" baseline="-25000" dirty="0" smtClean="0"/>
              <a:t>4</a:t>
            </a:r>
            <a:r>
              <a:rPr lang="en-US" sz="2400" i="1" dirty="0"/>
              <a:t>)</a:t>
            </a:r>
            <a:endParaRPr lang="en-US" sz="2400" i="1" baseline="-25000" dirty="0"/>
          </a:p>
        </p:txBody>
      </p:sp>
      <p:sp>
        <p:nvSpPr>
          <p:cNvPr id="482" name="Oval 481"/>
          <p:cNvSpPr/>
          <p:nvPr/>
        </p:nvSpPr>
        <p:spPr>
          <a:xfrm>
            <a:off x="4419378" y="5679097"/>
            <a:ext cx="587104" cy="548955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24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483" name="Oval 482"/>
          <p:cNvSpPr/>
          <p:nvPr/>
        </p:nvSpPr>
        <p:spPr>
          <a:xfrm>
            <a:off x="4401406" y="6512866"/>
            <a:ext cx="587104" cy="548955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24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cxnSp>
        <p:nvCxnSpPr>
          <p:cNvPr id="484" name="Straight Connector 483"/>
          <p:cNvCxnSpPr>
            <a:stCxn id="479" idx="5"/>
          </p:cNvCxnSpPr>
          <p:nvPr/>
        </p:nvCxnSpPr>
        <p:spPr>
          <a:xfrm>
            <a:off x="3378649" y="6149618"/>
            <a:ext cx="320881" cy="25748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/>
          <p:cNvCxnSpPr>
            <a:stCxn id="480" idx="7"/>
          </p:cNvCxnSpPr>
          <p:nvPr/>
        </p:nvCxnSpPr>
        <p:spPr>
          <a:xfrm flipV="1">
            <a:off x="3368421" y="6407098"/>
            <a:ext cx="302238" cy="19178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Connector 485"/>
          <p:cNvCxnSpPr>
            <a:stCxn id="482" idx="3"/>
          </p:cNvCxnSpPr>
          <p:nvPr/>
        </p:nvCxnSpPr>
        <p:spPr>
          <a:xfrm flipH="1">
            <a:off x="4183863" y="6147659"/>
            <a:ext cx="321494" cy="247663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/>
          <p:cNvCxnSpPr>
            <a:stCxn id="483" idx="1"/>
          </p:cNvCxnSpPr>
          <p:nvPr/>
        </p:nvCxnSpPr>
        <p:spPr>
          <a:xfrm flipH="1" flipV="1">
            <a:off x="4179175" y="6395322"/>
            <a:ext cx="308210" cy="19793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/>
          <p:cNvGrpSpPr/>
          <p:nvPr/>
        </p:nvGrpSpPr>
        <p:grpSpPr>
          <a:xfrm>
            <a:off x="6386769" y="776356"/>
            <a:ext cx="2211333" cy="2470282"/>
            <a:chOff x="7429065" y="257034"/>
            <a:chExt cx="2211333" cy="2470282"/>
          </a:xfrm>
        </p:grpSpPr>
        <p:sp>
          <p:nvSpPr>
            <p:cNvPr id="515" name="Rectangle 514"/>
            <p:cNvSpPr/>
            <p:nvPr/>
          </p:nvSpPr>
          <p:spPr>
            <a:xfrm>
              <a:off x="7465124" y="362206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492" name="Straight Connector 491"/>
            <p:cNvCxnSpPr/>
            <p:nvPr/>
          </p:nvCxnSpPr>
          <p:spPr>
            <a:xfrm>
              <a:off x="8303372" y="803633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/>
            <p:cNvCxnSpPr/>
            <p:nvPr/>
          </p:nvCxnSpPr>
          <p:spPr>
            <a:xfrm>
              <a:off x="8307695" y="1629419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8" name="TextBox 497"/>
            <p:cNvSpPr txBox="1"/>
            <p:nvPr/>
          </p:nvSpPr>
          <p:spPr>
            <a:xfrm>
              <a:off x="7771367" y="2142541"/>
              <a:ext cx="12586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 err="1" smtClean="0">
                  <a:solidFill>
                    <a:prstClr val="black"/>
                  </a:solidFill>
                  <a:latin typeface="Monotype Corsiva" panose="03010101010201010101" pitchFamily="66" charset="0"/>
                </a:rPr>
                <a:t>L</a:t>
              </a:r>
              <a:r>
                <a:rPr lang="en-US" sz="3200" b="1" i="1" baseline="-25000" dirty="0" err="1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3200" b="1" i="1" baseline="30000" dirty="0" err="1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known</a:t>
              </a:r>
              <a:endPara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6" name="TextBox 505"/>
            <p:cNvSpPr txBox="1"/>
            <p:nvPr/>
          </p:nvSpPr>
          <p:spPr>
            <a:xfrm>
              <a:off x="9192840" y="25703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7" name="TextBox 506"/>
            <p:cNvSpPr txBox="1"/>
            <p:nvPr/>
          </p:nvSpPr>
          <p:spPr>
            <a:xfrm>
              <a:off x="9192840" y="1124457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518" name="TextBox 517"/>
            <p:cNvSpPr txBox="1"/>
            <p:nvPr/>
          </p:nvSpPr>
          <p:spPr>
            <a:xfrm>
              <a:off x="7430949" y="269311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sp>
          <p:nvSpPr>
            <p:cNvPr id="520" name="Rectangle 519"/>
            <p:cNvSpPr/>
            <p:nvPr/>
          </p:nvSpPr>
          <p:spPr>
            <a:xfrm>
              <a:off x="7465124" y="1228809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7429065" y="1136015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</p:grpSp>
      <p:sp>
        <p:nvSpPr>
          <p:cNvPr id="527" name="TextBox 526"/>
          <p:cNvSpPr txBox="1"/>
          <p:nvPr/>
        </p:nvSpPr>
        <p:spPr>
          <a:xfrm>
            <a:off x="6543936" y="7384202"/>
            <a:ext cx="1494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prstClr val="black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L</a:t>
            </a:r>
            <a:r>
              <a:rPr lang="en-US" sz="3200" b="1" i="1" baseline="-250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b="1" i="1" baseline="300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imputed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6" name="Group 115"/>
          <p:cNvGrpSpPr/>
          <p:nvPr/>
        </p:nvGrpSpPr>
        <p:grpSpPr>
          <a:xfrm>
            <a:off x="6375357" y="4683324"/>
            <a:ext cx="2221222" cy="2513921"/>
            <a:chOff x="7387356" y="4738974"/>
            <a:chExt cx="2221222" cy="2513921"/>
          </a:xfrm>
        </p:grpSpPr>
        <p:sp>
          <p:nvSpPr>
            <p:cNvPr id="524" name="Rectangle 523"/>
            <p:cNvSpPr/>
            <p:nvPr/>
          </p:nvSpPr>
          <p:spPr>
            <a:xfrm>
              <a:off x="7432943" y="4844146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525" name="Straight Connector 524"/>
            <p:cNvCxnSpPr/>
            <p:nvPr/>
          </p:nvCxnSpPr>
          <p:spPr>
            <a:xfrm>
              <a:off x="8271191" y="5285573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/>
            <p:cNvCxnSpPr/>
            <p:nvPr/>
          </p:nvCxnSpPr>
          <p:spPr>
            <a:xfrm>
              <a:off x="8275514" y="6111359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8" name="TextBox 527"/>
            <p:cNvSpPr txBox="1"/>
            <p:nvPr/>
          </p:nvSpPr>
          <p:spPr>
            <a:xfrm>
              <a:off x="9160659" y="473897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smtClean="0">
                  <a:cs typeface="Times New Roman" panose="02020603050405020304" pitchFamily="18" charset="0"/>
                </a:rPr>
                <a:t>1</a:t>
              </a:r>
              <a:endParaRPr lang="en-US" sz="2400" b="1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529" name="TextBox 528"/>
            <p:cNvSpPr txBox="1"/>
            <p:nvPr/>
          </p:nvSpPr>
          <p:spPr>
            <a:xfrm>
              <a:off x="9160659" y="5606397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530" name="TextBox 529"/>
            <p:cNvSpPr txBox="1"/>
            <p:nvPr/>
          </p:nvSpPr>
          <p:spPr>
            <a:xfrm>
              <a:off x="7387356" y="4752451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sp>
          <p:nvSpPr>
            <p:cNvPr id="531" name="Rectangle 530"/>
            <p:cNvSpPr/>
            <p:nvPr/>
          </p:nvSpPr>
          <p:spPr>
            <a:xfrm>
              <a:off x="7432943" y="5710749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32" name="TextBox 531"/>
            <p:cNvSpPr txBox="1"/>
            <p:nvPr/>
          </p:nvSpPr>
          <p:spPr>
            <a:xfrm>
              <a:off x="7396884" y="5617955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cxnSp>
          <p:nvCxnSpPr>
            <p:cNvPr id="535" name="Straight Connector 534"/>
            <p:cNvCxnSpPr/>
            <p:nvPr/>
          </p:nvCxnSpPr>
          <p:spPr>
            <a:xfrm>
              <a:off x="8284991" y="6962765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7" name="Rectangle 536"/>
            <p:cNvSpPr/>
            <p:nvPr/>
          </p:nvSpPr>
          <p:spPr>
            <a:xfrm>
              <a:off x="7431450" y="6526047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36" name="TextBox 535"/>
            <p:cNvSpPr txBox="1"/>
            <p:nvPr/>
          </p:nvSpPr>
          <p:spPr>
            <a:xfrm>
              <a:off x="7412568" y="6428443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sp>
          <p:nvSpPr>
            <p:cNvPr id="538" name="TextBox 537"/>
            <p:cNvSpPr txBox="1"/>
            <p:nvPr/>
          </p:nvSpPr>
          <p:spPr>
            <a:xfrm>
              <a:off x="9172240" y="6443659"/>
              <a:ext cx="4363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/>
                <a:t>q̂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k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</p:grpSp>
      <p:cxnSp>
        <p:nvCxnSpPr>
          <p:cNvPr id="127" name="Elbow Connector 126"/>
          <p:cNvCxnSpPr>
            <a:stCxn id="430" idx="3"/>
            <a:endCxn id="530" idx="1"/>
          </p:cNvCxnSpPr>
          <p:nvPr/>
        </p:nvCxnSpPr>
        <p:spPr>
          <a:xfrm>
            <a:off x="4844174" y="1703936"/>
            <a:ext cx="1531183" cy="3223698"/>
          </a:xfrm>
          <a:prstGeom prst="bentConnector3">
            <a:avLst>
              <a:gd name="adj1" fmla="val 67833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Elbow Connector 540"/>
          <p:cNvCxnSpPr>
            <a:stCxn id="471" idx="3"/>
            <a:endCxn id="532" idx="1"/>
          </p:cNvCxnSpPr>
          <p:nvPr/>
        </p:nvCxnSpPr>
        <p:spPr>
          <a:xfrm>
            <a:off x="4860700" y="4094568"/>
            <a:ext cx="1524185" cy="1698570"/>
          </a:xfrm>
          <a:prstGeom prst="bentConnector3">
            <a:avLst>
              <a:gd name="adj1" fmla="val 38335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Elbow Connector 541"/>
          <p:cNvCxnSpPr>
            <a:stCxn id="471" idx="3"/>
            <a:endCxn id="521" idx="1"/>
          </p:cNvCxnSpPr>
          <p:nvPr/>
        </p:nvCxnSpPr>
        <p:spPr>
          <a:xfrm flipV="1">
            <a:off x="4860700" y="1886170"/>
            <a:ext cx="1526069" cy="2208398"/>
          </a:xfrm>
          <a:prstGeom prst="bentConnector3">
            <a:avLst>
              <a:gd name="adj1" fmla="val 38349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Elbow Connector 542"/>
          <p:cNvCxnSpPr>
            <a:stCxn id="481" idx="3"/>
            <a:endCxn id="536" idx="1"/>
          </p:cNvCxnSpPr>
          <p:nvPr/>
        </p:nvCxnSpPr>
        <p:spPr>
          <a:xfrm flipV="1">
            <a:off x="4844174" y="6603626"/>
            <a:ext cx="1556395" cy="752869"/>
          </a:xfrm>
          <a:prstGeom prst="bentConnector3">
            <a:avLst>
              <a:gd name="adj1" fmla="val 42167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ight Arrow 555"/>
          <p:cNvSpPr/>
          <p:nvPr/>
        </p:nvSpPr>
        <p:spPr>
          <a:xfrm>
            <a:off x="8649323" y="149106"/>
            <a:ext cx="1845566" cy="2952595"/>
          </a:xfrm>
          <a:prstGeom prst="rightArrow">
            <a:avLst/>
          </a:prstGeom>
          <a:solidFill>
            <a:schemeClr val="bg1"/>
          </a:solidFill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7" name="TextBox 556"/>
          <p:cNvSpPr txBox="1"/>
          <p:nvPr/>
        </p:nvSpPr>
        <p:spPr>
          <a:xfrm>
            <a:off x="8750383" y="840637"/>
            <a:ext cx="17383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all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four-taxa-sets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1" name="Flowchart: Multidocument 560"/>
          <p:cNvSpPr/>
          <p:nvPr/>
        </p:nvSpPr>
        <p:spPr>
          <a:xfrm>
            <a:off x="10600612" y="924244"/>
            <a:ext cx="2156991" cy="1220373"/>
          </a:xfrm>
          <a:prstGeom prst="flowChartMultidocumen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i="1" dirty="0" err="1" smtClean="0">
                <a:solidFill>
                  <a:schemeClr val="bg1"/>
                </a:solidFill>
                <a:latin typeface="Monotype Corsiva" panose="03010101010201010101" pitchFamily="66" charset="0"/>
              </a:rPr>
              <a:t>L</a:t>
            </a:r>
            <a:r>
              <a:rPr lang="en-US" sz="4400" b="1" i="1" baseline="30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endParaRPr lang="en-US" sz="3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2" name="Flowchart: Multidocument 561"/>
          <p:cNvSpPr/>
          <p:nvPr/>
        </p:nvSpPr>
        <p:spPr>
          <a:xfrm>
            <a:off x="10579884" y="5248973"/>
            <a:ext cx="2156991" cy="1220373"/>
          </a:xfrm>
          <a:prstGeom prst="flowChartMultidocumen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i="1" dirty="0" err="1" smtClean="0">
                <a:solidFill>
                  <a:schemeClr val="bg1"/>
                </a:solidFill>
                <a:latin typeface="Monotype Corsiva" panose="03010101010201010101" pitchFamily="66" charset="0"/>
              </a:rPr>
              <a:t>L</a:t>
            </a:r>
            <a:r>
              <a:rPr lang="en-US" sz="4400" b="1" i="1" baseline="30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imputed</a:t>
            </a:r>
            <a:endParaRPr lang="en-US" sz="3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Flowchart: Document 562"/>
          <p:cNvSpPr/>
          <p:nvPr/>
        </p:nvSpPr>
        <p:spPr>
          <a:xfrm>
            <a:off x="6368922" y="728009"/>
            <a:ext cx="1813255" cy="2028116"/>
          </a:xfrm>
          <a:prstGeom prst="flowChartDocumen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lowchart: Document 563"/>
          <p:cNvSpPr/>
          <p:nvPr/>
        </p:nvSpPr>
        <p:spPr>
          <a:xfrm>
            <a:off x="6367742" y="4709562"/>
            <a:ext cx="1813255" cy="2795951"/>
          </a:xfrm>
          <a:prstGeom prst="flowChartDocumen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9" name="Group 568"/>
          <p:cNvGrpSpPr/>
          <p:nvPr/>
        </p:nvGrpSpPr>
        <p:grpSpPr>
          <a:xfrm rot="16200000">
            <a:off x="12526967" y="688011"/>
            <a:ext cx="1923731" cy="720074"/>
            <a:chOff x="13259118" y="2101739"/>
            <a:chExt cx="1923731" cy="720074"/>
          </a:xfrm>
        </p:grpSpPr>
        <p:sp>
          <p:nvSpPr>
            <p:cNvPr id="565" name="Flowchart: Manual Operation 564"/>
            <p:cNvSpPr/>
            <p:nvPr/>
          </p:nvSpPr>
          <p:spPr>
            <a:xfrm>
              <a:off x="13259118" y="2116220"/>
              <a:ext cx="1923731" cy="705593"/>
            </a:xfrm>
            <a:prstGeom prst="flowChartManualOperation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8" name="TextBox 567"/>
            <p:cNvSpPr txBox="1"/>
            <p:nvPr/>
          </p:nvSpPr>
          <p:spPr>
            <a:xfrm>
              <a:off x="13478632" y="2101739"/>
              <a:ext cx="14847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wQMC</a:t>
              </a:r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71" name="Elbow Connector 570"/>
          <p:cNvCxnSpPr>
            <a:stCxn id="561" idx="3"/>
            <a:endCxn id="568" idx="0"/>
          </p:cNvCxnSpPr>
          <p:nvPr/>
        </p:nvCxnSpPr>
        <p:spPr>
          <a:xfrm flipV="1">
            <a:off x="12757603" y="1048049"/>
            <a:ext cx="371193" cy="486382"/>
          </a:xfrm>
          <a:prstGeom prst="bentConnector5">
            <a:avLst>
              <a:gd name="adj1" fmla="val 39773"/>
              <a:gd name="adj2" fmla="val 98427"/>
              <a:gd name="adj3" fmla="val 39698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Elbow Connector 573"/>
          <p:cNvCxnSpPr>
            <a:stCxn id="562" idx="3"/>
            <a:endCxn id="589" idx="0"/>
          </p:cNvCxnSpPr>
          <p:nvPr/>
        </p:nvCxnSpPr>
        <p:spPr>
          <a:xfrm>
            <a:off x="12736875" y="5859160"/>
            <a:ext cx="391922" cy="1250365"/>
          </a:xfrm>
          <a:prstGeom prst="bentConnector5">
            <a:avLst>
              <a:gd name="adj1" fmla="val 41518"/>
              <a:gd name="adj2" fmla="val 62708"/>
              <a:gd name="adj3" fmla="val 41672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7" name="Group 586"/>
          <p:cNvGrpSpPr/>
          <p:nvPr/>
        </p:nvGrpSpPr>
        <p:grpSpPr>
          <a:xfrm rot="16200000">
            <a:off x="12526968" y="6749487"/>
            <a:ext cx="1923731" cy="720074"/>
            <a:chOff x="13259118" y="2101739"/>
            <a:chExt cx="1923731" cy="720074"/>
          </a:xfrm>
        </p:grpSpPr>
        <p:sp>
          <p:nvSpPr>
            <p:cNvPr id="588" name="Flowchart: Manual Operation 587"/>
            <p:cNvSpPr/>
            <p:nvPr/>
          </p:nvSpPr>
          <p:spPr>
            <a:xfrm>
              <a:off x="13259118" y="2116220"/>
              <a:ext cx="1923731" cy="705593"/>
            </a:xfrm>
            <a:prstGeom prst="flowChartManualOperation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9" name="TextBox 588"/>
            <p:cNvSpPr txBox="1"/>
            <p:nvPr/>
          </p:nvSpPr>
          <p:spPr>
            <a:xfrm>
              <a:off x="13478632" y="2101739"/>
              <a:ext cx="14847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wQMC</a:t>
              </a:r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13" name="Elbow Connector 612"/>
          <p:cNvCxnSpPr>
            <a:stCxn id="430" idx="3"/>
            <a:endCxn id="518" idx="1"/>
          </p:cNvCxnSpPr>
          <p:nvPr/>
        </p:nvCxnSpPr>
        <p:spPr>
          <a:xfrm flipV="1">
            <a:off x="4844174" y="1019466"/>
            <a:ext cx="1544479" cy="684470"/>
          </a:xfrm>
          <a:prstGeom prst="bentConnector3">
            <a:avLst>
              <a:gd name="adj1" fmla="val 67268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2" name="Group 701"/>
          <p:cNvGrpSpPr/>
          <p:nvPr/>
        </p:nvGrpSpPr>
        <p:grpSpPr>
          <a:xfrm>
            <a:off x="14191111" y="48738"/>
            <a:ext cx="1195419" cy="671335"/>
            <a:chOff x="14118751" y="64653"/>
            <a:chExt cx="1195419" cy="671335"/>
          </a:xfrm>
        </p:grpSpPr>
        <p:cxnSp>
          <p:nvCxnSpPr>
            <p:cNvPr id="632" name="Straight Connector 631"/>
            <p:cNvCxnSpPr/>
            <p:nvPr/>
          </p:nvCxnSpPr>
          <p:spPr>
            <a:xfrm flipH="1">
              <a:off x="15000241" y="576206"/>
              <a:ext cx="154172" cy="15180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/>
            <p:cNvCxnSpPr/>
            <p:nvPr/>
          </p:nvCxnSpPr>
          <p:spPr>
            <a:xfrm flipH="1">
              <a:off x="14304562" y="184150"/>
              <a:ext cx="480778" cy="5518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/>
            <p:cNvCxnSpPr/>
            <p:nvPr/>
          </p:nvCxnSpPr>
          <p:spPr>
            <a:xfrm>
              <a:off x="14547523" y="470587"/>
              <a:ext cx="200420" cy="25742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/>
            <p:cNvCxnSpPr/>
            <p:nvPr/>
          </p:nvCxnSpPr>
          <p:spPr>
            <a:xfrm>
              <a:off x="14671834" y="64653"/>
              <a:ext cx="642336" cy="64698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/>
            <p:cNvCxnSpPr/>
            <p:nvPr/>
          </p:nvCxnSpPr>
          <p:spPr>
            <a:xfrm flipH="1">
              <a:off x="14118751" y="64770"/>
              <a:ext cx="575858" cy="65530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655"/>
            <p:cNvCxnSpPr/>
            <p:nvPr/>
          </p:nvCxnSpPr>
          <p:spPr>
            <a:xfrm flipH="1">
              <a:off x="14521933" y="580968"/>
              <a:ext cx="111045" cy="1550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8" name="Group 687"/>
          <p:cNvGrpSpPr/>
          <p:nvPr/>
        </p:nvGrpSpPr>
        <p:grpSpPr>
          <a:xfrm>
            <a:off x="14181856" y="6089806"/>
            <a:ext cx="1195419" cy="676513"/>
            <a:chOff x="14105513" y="6166003"/>
            <a:chExt cx="1195419" cy="676513"/>
          </a:xfrm>
        </p:grpSpPr>
        <p:cxnSp>
          <p:nvCxnSpPr>
            <p:cNvPr id="660" name="Straight Connector 659"/>
            <p:cNvCxnSpPr/>
            <p:nvPr/>
          </p:nvCxnSpPr>
          <p:spPr>
            <a:xfrm flipH="1">
              <a:off x="14979651" y="6653213"/>
              <a:ext cx="169576" cy="18930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/>
            <p:cNvCxnSpPr/>
            <p:nvPr/>
          </p:nvCxnSpPr>
          <p:spPr>
            <a:xfrm>
              <a:off x="14259577" y="6653213"/>
              <a:ext cx="99706" cy="17444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/>
            <p:cNvCxnSpPr/>
            <p:nvPr/>
          </p:nvCxnSpPr>
          <p:spPr>
            <a:xfrm>
              <a:off x="14663692" y="6689247"/>
              <a:ext cx="130449" cy="14487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/>
            <p:cNvCxnSpPr/>
            <p:nvPr/>
          </p:nvCxnSpPr>
          <p:spPr>
            <a:xfrm>
              <a:off x="14673074" y="6187416"/>
              <a:ext cx="627858" cy="62545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663"/>
            <p:cNvCxnSpPr/>
            <p:nvPr/>
          </p:nvCxnSpPr>
          <p:spPr>
            <a:xfrm flipH="1">
              <a:off x="14105513" y="6166003"/>
              <a:ext cx="575858" cy="65530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/>
            <p:cNvCxnSpPr/>
            <p:nvPr/>
          </p:nvCxnSpPr>
          <p:spPr>
            <a:xfrm flipH="1">
              <a:off x="14540371" y="6380829"/>
              <a:ext cx="355300" cy="45317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" name="TextBox 685"/>
          <p:cNvSpPr txBox="1"/>
          <p:nvPr/>
        </p:nvSpPr>
        <p:spPr>
          <a:xfrm>
            <a:off x="14084763" y="794434"/>
            <a:ext cx="1428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i="1" dirty="0" smtClean="0">
                <a:latin typeface="Monotype Corsiva" panose="03010101010201010101" pitchFamily="66" charset="0"/>
              </a:rPr>
              <a:t>ST </a:t>
            </a:r>
            <a:r>
              <a:rPr lang="en-US" sz="3200" b="1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7" name="TextBox 686"/>
          <p:cNvSpPr txBox="1"/>
          <p:nvPr/>
        </p:nvSpPr>
        <p:spPr>
          <a:xfrm>
            <a:off x="13999182" y="6854264"/>
            <a:ext cx="1579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i="1" dirty="0" smtClean="0">
                <a:latin typeface="Monotype Corsiva" panose="03010101010201010101" pitchFamily="66" charset="0"/>
              </a:rPr>
              <a:t>ST </a:t>
            </a:r>
            <a:r>
              <a:rPr lang="en-US" sz="3200" b="1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imputed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2" name="Straight Arrow Connector 691"/>
          <p:cNvCxnSpPr>
            <a:stCxn id="588" idx="2"/>
          </p:cNvCxnSpPr>
          <p:nvPr/>
        </p:nvCxnSpPr>
        <p:spPr>
          <a:xfrm>
            <a:off x="13848871" y="7109524"/>
            <a:ext cx="26988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Arrow Connector 698"/>
          <p:cNvCxnSpPr>
            <a:stCxn id="565" idx="2"/>
          </p:cNvCxnSpPr>
          <p:nvPr/>
        </p:nvCxnSpPr>
        <p:spPr>
          <a:xfrm flipV="1">
            <a:off x="13848870" y="1045331"/>
            <a:ext cx="283253" cy="271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3" name="Right Arrow 702"/>
          <p:cNvSpPr/>
          <p:nvPr/>
        </p:nvSpPr>
        <p:spPr>
          <a:xfrm>
            <a:off x="8612754" y="4468845"/>
            <a:ext cx="1845566" cy="2964098"/>
          </a:xfrm>
          <a:prstGeom prst="rightArrow">
            <a:avLst/>
          </a:prstGeom>
          <a:solidFill>
            <a:schemeClr val="bg1"/>
          </a:solidFill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4" name="TextBox 703"/>
          <p:cNvSpPr txBox="1"/>
          <p:nvPr/>
        </p:nvSpPr>
        <p:spPr>
          <a:xfrm>
            <a:off x="8685239" y="5160375"/>
            <a:ext cx="17383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all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four-taxa-sets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07" name="Group 706"/>
          <p:cNvGrpSpPr/>
          <p:nvPr/>
        </p:nvGrpSpPr>
        <p:grpSpPr>
          <a:xfrm>
            <a:off x="12572884" y="2926930"/>
            <a:ext cx="2852595" cy="1106766"/>
            <a:chOff x="12372975" y="2895284"/>
            <a:chExt cx="2852595" cy="1106766"/>
          </a:xfrm>
        </p:grpSpPr>
        <p:sp>
          <p:nvSpPr>
            <p:cNvPr id="705" name="Round Diagonal Corner Rectangle 704"/>
            <p:cNvSpPr/>
            <p:nvPr/>
          </p:nvSpPr>
          <p:spPr>
            <a:xfrm>
              <a:off x="12372975" y="2895284"/>
              <a:ext cx="2852595" cy="1106766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6" name="TextBox 705"/>
            <p:cNvSpPr txBox="1"/>
            <p:nvPr/>
          </p:nvSpPr>
          <p:spPr>
            <a:xfrm>
              <a:off x="12857903" y="2922290"/>
              <a:ext cx="202491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 with</a:t>
              </a:r>
              <a:r>
                <a:rPr lang="en-US" sz="3200" b="1" i="1" dirty="0" smtClean="0">
                  <a:latin typeface="Monotype Corsiva" panose="03010101010201010101" pitchFamily="66" charset="0"/>
                </a:rPr>
                <a:t> </a:t>
              </a:r>
            </a:p>
            <a:p>
              <a:pPr algn="ctr"/>
              <a:r>
                <a:rPr lang="en-US" sz="3200" b="1" i="1" dirty="0" smtClean="0">
                  <a:latin typeface="Monotype Corsiva" panose="03010101010201010101" pitchFamily="66" charset="0"/>
                </a:rPr>
                <a:t>ST </a:t>
              </a:r>
              <a:r>
                <a:rPr lang="en-US" sz="3200" b="1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true</a:t>
              </a:r>
              <a:endPara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08" name="Elbow Connector 707"/>
          <p:cNvCxnSpPr>
            <a:stCxn id="686" idx="2"/>
            <a:endCxn id="706" idx="0"/>
          </p:cNvCxnSpPr>
          <p:nvPr/>
        </p:nvCxnSpPr>
        <p:spPr>
          <a:xfrm rot="5400000">
            <a:off x="13647302" y="1802176"/>
            <a:ext cx="1574727" cy="72879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Elbow Connector 710"/>
          <p:cNvCxnSpPr>
            <a:endCxn id="705" idx="1"/>
          </p:cNvCxnSpPr>
          <p:nvPr/>
        </p:nvCxnSpPr>
        <p:spPr>
          <a:xfrm rot="16200000" flipV="1">
            <a:off x="13405997" y="4626882"/>
            <a:ext cx="1927227" cy="740855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059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3171824" y="285753"/>
            <a:ext cx="4886326" cy="305752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058153" y="285753"/>
            <a:ext cx="2502535" cy="172021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212435" y="2662240"/>
            <a:ext cx="814387" cy="71437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72104" y="1962150"/>
            <a:ext cx="1657349" cy="141446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8782053" y="1990728"/>
            <a:ext cx="1793875" cy="144303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721835" y="3343278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4591181" y="337661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6638991" y="339566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8391591" y="343376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95" name="Oval 94"/>
          <p:cNvSpPr/>
          <p:nvPr/>
        </p:nvSpPr>
        <p:spPr>
          <a:xfrm>
            <a:off x="12201591" y="341107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cxnSp>
        <p:nvCxnSpPr>
          <p:cNvPr id="96" name="Straight Connector 95"/>
          <p:cNvCxnSpPr>
            <a:endCxn id="95" idx="0"/>
          </p:cNvCxnSpPr>
          <p:nvPr/>
        </p:nvCxnSpPr>
        <p:spPr>
          <a:xfrm>
            <a:off x="10560688" y="2005965"/>
            <a:ext cx="2031365" cy="14051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662750" y="5718968"/>
            <a:ext cx="814387" cy="71437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822419" y="5018878"/>
            <a:ext cx="1657349" cy="141446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72150" y="640000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6" name="Oval 105"/>
          <p:cNvSpPr/>
          <p:nvPr/>
        </p:nvSpPr>
        <p:spPr>
          <a:xfrm>
            <a:off x="2041496" y="6433343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107" name="Oval 106"/>
          <p:cNvSpPr/>
          <p:nvPr/>
        </p:nvSpPr>
        <p:spPr>
          <a:xfrm>
            <a:off x="4148904" y="640000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cxnSp>
        <p:nvCxnSpPr>
          <p:cNvPr id="108" name="Straight Connector 107"/>
          <p:cNvCxnSpPr>
            <a:endCxn id="105" idx="0"/>
          </p:cNvCxnSpPr>
          <p:nvPr/>
        </p:nvCxnSpPr>
        <p:spPr>
          <a:xfrm flipH="1">
            <a:off x="562609" y="4419863"/>
            <a:ext cx="3207546" cy="1980143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endCxn id="115" idx="0"/>
          </p:cNvCxnSpPr>
          <p:nvPr/>
        </p:nvCxnSpPr>
        <p:spPr>
          <a:xfrm>
            <a:off x="3770155" y="4419863"/>
            <a:ext cx="2513328" cy="201427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5893024" y="6434140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11615899" y="1145860"/>
            <a:ext cx="780923" cy="1266207"/>
            <a:chOff x="11185905" y="163229"/>
            <a:chExt cx="780923" cy="1266207"/>
          </a:xfrm>
        </p:grpSpPr>
        <p:sp>
          <p:nvSpPr>
            <p:cNvPr id="119" name="Oval 118"/>
            <p:cNvSpPr/>
            <p:nvPr/>
          </p:nvSpPr>
          <p:spPr>
            <a:xfrm>
              <a:off x="11185905" y="733579"/>
              <a:ext cx="780923" cy="69585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FF0000"/>
                  </a:solidFill>
                </a:rPr>
                <a:t>t</a:t>
              </a:r>
              <a:r>
                <a:rPr lang="en-US" sz="3600" b="1" i="1" baseline="-250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365411" y="163229"/>
              <a:ext cx="4219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FF0000"/>
                  </a:solidFill>
                </a:rPr>
                <a:t>?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2056544" y="7264444"/>
            <a:ext cx="2597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t1</a:t>
            </a:r>
            <a:r>
              <a:rPr lang="en-US" sz="3600" dirty="0"/>
              <a:t>,</a:t>
            </a:r>
            <a:r>
              <a:rPr lang="en-US" sz="3600" i="1" dirty="0"/>
              <a:t> t2</a:t>
            </a:r>
            <a:r>
              <a:rPr lang="en-US" sz="3600" dirty="0"/>
              <a:t> | </a:t>
            </a:r>
            <a:r>
              <a:rPr lang="en-US" sz="3600" i="1" dirty="0"/>
              <a:t>t3</a:t>
            </a:r>
            <a:r>
              <a:rPr lang="en-US" sz="3600" dirty="0"/>
              <a:t>, </a:t>
            </a:r>
            <a:r>
              <a:rPr lang="en-US" sz="3600" i="1" dirty="0"/>
              <a:t>t4</a:t>
            </a:r>
          </a:p>
        </p:txBody>
      </p:sp>
    </p:spTree>
    <p:extLst>
      <p:ext uri="{BB962C8B-B14F-4D97-AF65-F5344CB8AC3E}">
        <p14:creationId xmlns:p14="http://schemas.microsoft.com/office/powerpoint/2010/main" val="3490686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3171824" y="285753"/>
            <a:ext cx="4886326" cy="305752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058153" y="285753"/>
            <a:ext cx="2502535" cy="172021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212435" y="2662240"/>
            <a:ext cx="814387" cy="71437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72104" y="1962150"/>
            <a:ext cx="1657349" cy="141446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8782053" y="1990728"/>
            <a:ext cx="1793875" cy="144303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721835" y="3343278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4591181" y="337661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6638991" y="339566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8391591" y="343376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95" name="Oval 94"/>
          <p:cNvSpPr/>
          <p:nvPr/>
        </p:nvSpPr>
        <p:spPr>
          <a:xfrm>
            <a:off x="12201591" y="341107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cxnSp>
        <p:nvCxnSpPr>
          <p:cNvPr id="96" name="Straight Connector 95"/>
          <p:cNvCxnSpPr>
            <a:endCxn id="95" idx="0"/>
          </p:cNvCxnSpPr>
          <p:nvPr/>
        </p:nvCxnSpPr>
        <p:spPr>
          <a:xfrm>
            <a:off x="10560688" y="2005965"/>
            <a:ext cx="2031365" cy="14051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2352580" y="6051478"/>
            <a:ext cx="780923" cy="4763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250917" y="5114887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6" name="Oval 105"/>
          <p:cNvSpPr/>
          <p:nvPr/>
        </p:nvSpPr>
        <p:spPr>
          <a:xfrm>
            <a:off x="1314481" y="6334128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11615899" y="1145860"/>
            <a:ext cx="780923" cy="1266207"/>
            <a:chOff x="11185905" y="163229"/>
            <a:chExt cx="780923" cy="1266207"/>
          </a:xfrm>
        </p:grpSpPr>
        <p:sp>
          <p:nvSpPr>
            <p:cNvPr id="119" name="Oval 118"/>
            <p:cNvSpPr/>
            <p:nvPr/>
          </p:nvSpPr>
          <p:spPr>
            <a:xfrm>
              <a:off x="11185905" y="733579"/>
              <a:ext cx="780923" cy="69585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FF0000"/>
                  </a:solidFill>
                </a:rPr>
                <a:t>t</a:t>
              </a:r>
              <a:r>
                <a:rPr lang="en-US" sz="3600" b="1" i="1" baseline="-250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365411" y="163229"/>
              <a:ext cx="4219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FF0000"/>
                  </a:solidFill>
                </a:rPr>
                <a:t>?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1543081" y="7211797"/>
            <a:ext cx="2282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t</a:t>
            </a:r>
            <a:r>
              <a:rPr lang="en-US" sz="3600" i="1" baseline="-25000" dirty="0"/>
              <a:t>1</a:t>
            </a:r>
            <a:r>
              <a:rPr lang="en-US" sz="3600" dirty="0"/>
              <a:t>,</a:t>
            </a:r>
            <a:r>
              <a:rPr lang="en-US" sz="3600" i="1" dirty="0"/>
              <a:t> t</a:t>
            </a:r>
            <a:r>
              <a:rPr lang="en-US" sz="3600" i="1" baseline="-25000" dirty="0"/>
              <a:t>2</a:t>
            </a:r>
            <a:r>
              <a:rPr lang="en-US" sz="3600" dirty="0"/>
              <a:t> | </a:t>
            </a:r>
            <a:r>
              <a:rPr lang="en-US" sz="3600" i="1" dirty="0"/>
              <a:t>t</a:t>
            </a:r>
            <a:r>
              <a:rPr lang="en-US" sz="3600" i="1" baseline="-25000" dirty="0"/>
              <a:t>3</a:t>
            </a:r>
            <a:r>
              <a:rPr lang="en-US" sz="3600" dirty="0"/>
              <a:t>, </a:t>
            </a:r>
            <a:r>
              <a:rPr lang="en-US" sz="3600" i="1" dirty="0"/>
              <a:t>t</a:t>
            </a:r>
            <a:r>
              <a:rPr lang="en-US" sz="3600" i="1" baseline="-25000" dirty="0"/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3355213" y="5114887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3355213" y="6334128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cxnSp>
        <p:nvCxnSpPr>
          <p:cNvPr id="37" name="Straight Connector 36"/>
          <p:cNvCxnSpPr>
            <a:stCxn id="105" idx="5"/>
          </p:cNvCxnSpPr>
          <p:nvPr/>
        </p:nvCxnSpPr>
        <p:spPr>
          <a:xfrm>
            <a:off x="1917473" y="5708835"/>
            <a:ext cx="435104" cy="35148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06" idx="7"/>
          </p:cNvCxnSpPr>
          <p:nvPr/>
        </p:nvCxnSpPr>
        <p:spPr>
          <a:xfrm flipV="1">
            <a:off x="1981037" y="6043987"/>
            <a:ext cx="349422" cy="392044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</p:cNvCxnSpPr>
          <p:nvPr/>
        </p:nvCxnSpPr>
        <p:spPr>
          <a:xfrm flipH="1">
            <a:off x="3109688" y="5708835"/>
            <a:ext cx="359886" cy="33515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8" idx="1"/>
          </p:cNvCxnSpPr>
          <p:nvPr/>
        </p:nvCxnSpPr>
        <p:spPr>
          <a:xfrm flipH="1" flipV="1">
            <a:off x="3109688" y="6060317"/>
            <a:ext cx="359886" cy="375714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2333530" y="4137800"/>
            <a:ext cx="579171" cy="748594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3619501" y="4091519"/>
            <a:ext cx="1013004" cy="693666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4591181" y="3832184"/>
            <a:ext cx="1830383" cy="860537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5553899" y="3953410"/>
            <a:ext cx="2647129" cy="746053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277265" y="5029441"/>
            <a:ext cx="819086" cy="23669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76" name="Elbow Connector 75"/>
          <p:cNvCxnSpPr/>
          <p:nvPr/>
        </p:nvCxnSpPr>
        <p:spPr>
          <a:xfrm flipV="1">
            <a:off x="3864042" y="5399478"/>
            <a:ext cx="1384651" cy="2265025"/>
          </a:xfrm>
          <a:prstGeom prst="bentConnector3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5337179" y="5806695"/>
            <a:ext cx="695675" cy="4046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5337179" y="6597388"/>
            <a:ext cx="692149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142514" y="5118889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/>
              <a:t>,</a:t>
            </a:r>
            <a:r>
              <a:rPr lang="en-US" sz="3200" i="1" dirty="0"/>
              <a:t>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/>
              <a:t>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/>
              <a:t>,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3682" y="508268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en-US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483682" y="588571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3682" y="66683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42514" y="5936309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t</a:t>
            </a:r>
            <a:r>
              <a:rPr lang="en-US" sz="3200" i="1" baseline="-25000" dirty="0"/>
              <a:t>1</a:t>
            </a:r>
            <a:r>
              <a:rPr lang="en-US" sz="3200" dirty="0"/>
              <a:t>,</a:t>
            </a:r>
            <a:r>
              <a:rPr lang="en-US" sz="3200" i="1" dirty="0"/>
              <a:t> t</a:t>
            </a:r>
            <a:r>
              <a:rPr lang="en-US" sz="3200" i="1" baseline="-25000" dirty="0"/>
              <a:t>3</a:t>
            </a:r>
            <a:r>
              <a:rPr lang="en-US" sz="3200" dirty="0"/>
              <a:t> | </a:t>
            </a:r>
            <a:r>
              <a:rPr lang="en-US" sz="3200" i="1" dirty="0"/>
              <a:t>t</a:t>
            </a:r>
            <a:r>
              <a:rPr lang="en-US" sz="3200" i="1" baseline="-25000" dirty="0"/>
              <a:t>2</a:t>
            </a:r>
            <a:r>
              <a:rPr lang="en-US" sz="3200" dirty="0"/>
              <a:t>, </a:t>
            </a:r>
            <a:r>
              <a:rPr lang="en-US" sz="3200" i="1" dirty="0"/>
              <a:t>t</a:t>
            </a:r>
            <a:r>
              <a:rPr lang="en-US" sz="3200" i="1" baseline="-25000" dirty="0"/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42514" y="6732727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t</a:t>
            </a:r>
            <a:r>
              <a:rPr lang="en-US" sz="3200" i="1" baseline="-25000" dirty="0"/>
              <a:t>1</a:t>
            </a:r>
            <a:r>
              <a:rPr lang="en-US" sz="3200" dirty="0"/>
              <a:t>,</a:t>
            </a:r>
            <a:r>
              <a:rPr lang="en-US" sz="3200" i="1" dirty="0"/>
              <a:t> t</a:t>
            </a:r>
            <a:r>
              <a:rPr lang="en-US" sz="3200" i="1" baseline="-25000" dirty="0"/>
              <a:t>4</a:t>
            </a:r>
            <a:r>
              <a:rPr lang="en-US" sz="3200" dirty="0"/>
              <a:t> | </a:t>
            </a:r>
            <a:r>
              <a:rPr lang="en-US" sz="3200" i="1" dirty="0"/>
              <a:t>t</a:t>
            </a:r>
            <a:r>
              <a:rPr lang="en-US" sz="3200" i="1" baseline="-25000" dirty="0"/>
              <a:t>2</a:t>
            </a:r>
            <a:r>
              <a:rPr lang="en-US" sz="3200" dirty="0"/>
              <a:t>, </a:t>
            </a:r>
            <a:r>
              <a:rPr lang="en-US" sz="3200" i="1" dirty="0"/>
              <a:t>t</a:t>
            </a:r>
            <a:r>
              <a:rPr lang="en-US" sz="3200" i="1" baseline="-25000" dirty="0"/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623613" y="4894105"/>
            <a:ext cx="819086" cy="2366938"/>
          </a:xfrm>
          <a:prstGeom prst="rect">
            <a:avLst/>
          </a:prstGeom>
          <a:solidFill>
            <a:srgbClr val="FEE8E8"/>
          </a:solidFill>
          <a:ln w="57150">
            <a:solidFill>
              <a:srgbClr val="CE0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 flipV="1">
            <a:off x="10665619" y="5671362"/>
            <a:ext cx="700880" cy="779"/>
          </a:xfrm>
          <a:prstGeom prst="line">
            <a:avLst/>
          </a:prstGeom>
          <a:ln w="57150">
            <a:solidFill>
              <a:srgbClr val="CE0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10665619" y="6475876"/>
            <a:ext cx="700880" cy="0"/>
          </a:xfrm>
          <a:prstGeom prst="line">
            <a:avLst/>
          </a:prstGeom>
          <a:ln w="57150">
            <a:solidFill>
              <a:srgbClr val="CE0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1490327" y="4983553"/>
            <a:ext cx="2098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dirty="0"/>
              <a:t>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endParaRPr lang="en-US" sz="3200" b="1" i="1" baseline="-25000" dirty="0">
              <a:solidFill>
                <a:srgbClr val="FF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0619853" y="4945963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A0000"/>
                </a:solidFill>
              </a:rPr>
              <a:t>1/3</a:t>
            </a:r>
            <a:endParaRPr lang="en-US" sz="4000" dirty="0">
              <a:solidFill>
                <a:srgbClr val="FA0000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0620483" y="5750381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1/3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0620483" y="6533018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1/3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1490327" y="5800973"/>
            <a:ext cx="2098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endParaRPr lang="en-US" sz="3200" b="1" i="1" baseline="-25000" dirty="0">
              <a:solidFill>
                <a:srgbClr val="FF000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1490327" y="6597391"/>
            <a:ext cx="2109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r>
              <a:rPr lang="en-US" sz="3600" dirty="0"/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74065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3171824" y="114301"/>
            <a:ext cx="4886326" cy="305752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058151" y="114301"/>
            <a:ext cx="2502535" cy="172021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212433" y="2490788"/>
            <a:ext cx="814387" cy="71437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72102" y="1790700"/>
            <a:ext cx="1657349" cy="141446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8782051" y="1819276"/>
            <a:ext cx="1793875" cy="144303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721833" y="317182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4591179" y="3205163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6638989" y="3224213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8391589" y="3262313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95" name="Oval 94"/>
          <p:cNvSpPr/>
          <p:nvPr/>
        </p:nvSpPr>
        <p:spPr>
          <a:xfrm>
            <a:off x="12201589" y="3239624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cxnSp>
        <p:nvCxnSpPr>
          <p:cNvPr id="96" name="Straight Connector 95"/>
          <p:cNvCxnSpPr>
            <a:endCxn id="95" idx="0"/>
          </p:cNvCxnSpPr>
          <p:nvPr/>
        </p:nvCxnSpPr>
        <p:spPr>
          <a:xfrm>
            <a:off x="10560686" y="1834515"/>
            <a:ext cx="2031365" cy="14051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2352578" y="5880026"/>
            <a:ext cx="780923" cy="4763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250915" y="494343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6" name="Oval 105"/>
          <p:cNvSpPr/>
          <p:nvPr/>
        </p:nvSpPr>
        <p:spPr>
          <a:xfrm>
            <a:off x="1314479" y="616267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11615897" y="974408"/>
            <a:ext cx="780923" cy="1266207"/>
            <a:chOff x="11185905" y="163229"/>
            <a:chExt cx="780923" cy="1266207"/>
          </a:xfrm>
        </p:grpSpPr>
        <p:sp>
          <p:nvSpPr>
            <p:cNvPr id="119" name="Oval 118"/>
            <p:cNvSpPr/>
            <p:nvPr/>
          </p:nvSpPr>
          <p:spPr>
            <a:xfrm>
              <a:off x="11185905" y="733579"/>
              <a:ext cx="780923" cy="69585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FF0000"/>
                  </a:solidFill>
                </a:rPr>
                <a:t>t</a:t>
              </a:r>
              <a:r>
                <a:rPr lang="en-US" sz="3600" b="1" i="1" baseline="-250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365411" y="163229"/>
              <a:ext cx="4219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FF0000"/>
                  </a:solidFill>
                </a:rPr>
                <a:t>?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1543079" y="7040345"/>
            <a:ext cx="2282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t</a:t>
            </a:r>
            <a:r>
              <a:rPr lang="en-US" sz="3600" i="1" baseline="-25000" dirty="0"/>
              <a:t>1</a:t>
            </a:r>
            <a:r>
              <a:rPr lang="en-US" sz="3600" dirty="0"/>
              <a:t>,</a:t>
            </a:r>
            <a:r>
              <a:rPr lang="en-US" sz="3600" i="1" dirty="0"/>
              <a:t> t</a:t>
            </a:r>
            <a:r>
              <a:rPr lang="en-US" sz="3600" i="1" baseline="-25000" dirty="0"/>
              <a:t>2</a:t>
            </a:r>
            <a:r>
              <a:rPr lang="en-US" sz="3600" dirty="0"/>
              <a:t> | </a:t>
            </a:r>
            <a:r>
              <a:rPr lang="en-US" sz="3600" i="1" dirty="0"/>
              <a:t>t</a:t>
            </a:r>
            <a:r>
              <a:rPr lang="en-US" sz="3600" i="1" baseline="-25000" dirty="0"/>
              <a:t>3</a:t>
            </a:r>
            <a:r>
              <a:rPr lang="en-US" sz="3600" dirty="0"/>
              <a:t>, </a:t>
            </a:r>
            <a:r>
              <a:rPr lang="en-US" sz="3600" i="1" dirty="0"/>
              <a:t>t</a:t>
            </a:r>
            <a:r>
              <a:rPr lang="en-US" sz="3600" i="1" baseline="-25000" dirty="0"/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3355211" y="494343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3355211" y="616267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cxnSp>
        <p:nvCxnSpPr>
          <p:cNvPr id="37" name="Straight Connector 36"/>
          <p:cNvCxnSpPr>
            <a:stCxn id="105" idx="5"/>
          </p:cNvCxnSpPr>
          <p:nvPr/>
        </p:nvCxnSpPr>
        <p:spPr>
          <a:xfrm>
            <a:off x="1917473" y="5537385"/>
            <a:ext cx="435104" cy="35148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06" idx="7"/>
          </p:cNvCxnSpPr>
          <p:nvPr/>
        </p:nvCxnSpPr>
        <p:spPr>
          <a:xfrm flipV="1">
            <a:off x="1981037" y="5872537"/>
            <a:ext cx="349422" cy="392044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</p:cNvCxnSpPr>
          <p:nvPr/>
        </p:nvCxnSpPr>
        <p:spPr>
          <a:xfrm flipH="1">
            <a:off x="3109688" y="5537385"/>
            <a:ext cx="359886" cy="33515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8" idx="1"/>
          </p:cNvCxnSpPr>
          <p:nvPr/>
        </p:nvCxnSpPr>
        <p:spPr>
          <a:xfrm flipH="1" flipV="1">
            <a:off x="3109688" y="5888867"/>
            <a:ext cx="359886" cy="375714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2333528" y="3966350"/>
            <a:ext cx="579171" cy="748594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3619501" y="3920069"/>
            <a:ext cx="1013004" cy="693666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4591179" y="3660732"/>
            <a:ext cx="1830383" cy="860537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5553897" y="3781958"/>
            <a:ext cx="2647129" cy="746053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277265" y="4857991"/>
            <a:ext cx="819086" cy="23669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76" name="Elbow Connector 75"/>
          <p:cNvCxnSpPr/>
          <p:nvPr/>
        </p:nvCxnSpPr>
        <p:spPr>
          <a:xfrm flipV="1">
            <a:off x="3864040" y="5228026"/>
            <a:ext cx="1384651" cy="2265025"/>
          </a:xfrm>
          <a:prstGeom prst="bentConnector3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5337177" y="5635245"/>
            <a:ext cx="695675" cy="4046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5337177" y="6425938"/>
            <a:ext cx="692149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142512" y="4947437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/>
              <a:t>,</a:t>
            </a:r>
            <a:r>
              <a:rPr lang="en-US" sz="3200" i="1" dirty="0"/>
              <a:t>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/>
              <a:t>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/>
              <a:t>,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3682" y="491123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en-US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483682" y="571426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3682" y="64969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42512" y="5764857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t</a:t>
            </a:r>
            <a:r>
              <a:rPr lang="en-US" sz="3200" i="1" baseline="-25000" dirty="0"/>
              <a:t>1</a:t>
            </a:r>
            <a:r>
              <a:rPr lang="en-US" sz="3200" dirty="0"/>
              <a:t>,</a:t>
            </a:r>
            <a:r>
              <a:rPr lang="en-US" sz="3200" i="1" dirty="0"/>
              <a:t> t</a:t>
            </a:r>
            <a:r>
              <a:rPr lang="en-US" sz="3200" i="1" baseline="-25000" dirty="0"/>
              <a:t>3</a:t>
            </a:r>
            <a:r>
              <a:rPr lang="en-US" sz="3200" dirty="0"/>
              <a:t> | </a:t>
            </a:r>
            <a:r>
              <a:rPr lang="en-US" sz="3200" i="1" dirty="0"/>
              <a:t>t</a:t>
            </a:r>
            <a:r>
              <a:rPr lang="en-US" sz="3200" i="1" baseline="-25000" dirty="0"/>
              <a:t>2</a:t>
            </a:r>
            <a:r>
              <a:rPr lang="en-US" sz="3200" dirty="0"/>
              <a:t>, </a:t>
            </a:r>
            <a:r>
              <a:rPr lang="en-US" sz="3200" i="1" dirty="0"/>
              <a:t>t</a:t>
            </a:r>
            <a:r>
              <a:rPr lang="en-US" sz="3200" i="1" baseline="-25000" dirty="0"/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42512" y="6561275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t</a:t>
            </a:r>
            <a:r>
              <a:rPr lang="en-US" sz="3200" i="1" baseline="-25000" dirty="0"/>
              <a:t>1</a:t>
            </a:r>
            <a:r>
              <a:rPr lang="en-US" sz="3200" dirty="0"/>
              <a:t>,</a:t>
            </a:r>
            <a:r>
              <a:rPr lang="en-US" sz="3200" i="1" dirty="0"/>
              <a:t> t</a:t>
            </a:r>
            <a:r>
              <a:rPr lang="en-US" sz="3200" i="1" baseline="-25000" dirty="0"/>
              <a:t>4</a:t>
            </a:r>
            <a:r>
              <a:rPr lang="en-US" sz="3200" dirty="0"/>
              <a:t> | </a:t>
            </a:r>
            <a:r>
              <a:rPr lang="en-US" sz="3200" i="1" dirty="0"/>
              <a:t>t</a:t>
            </a:r>
            <a:r>
              <a:rPr lang="en-US" sz="3200" i="1" baseline="-25000" dirty="0"/>
              <a:t>2</a:t>
            </a:r>
            <a:r>
              <a:rPr lang="en-US" sz="3200" dirty="0"/>
              <a:t>, </a:t>
            </a:r>
            <a:r>
              <a:rPr lang="en-US" sz="3200" i="1" dirty="0" smtClean="0"/>
              <a:t>t</a:t>
            </a:r>
            <a:r>
              <a:rPr lang="en-US" sz="3200" i="1" baseline="-25000" dirty="0"/>
              <a:t>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623613" y="4722655"/>
            <a:ext cx="819086" cy="2366938"/>
          </a:xfrm>
          <a:prstGeom prst="rect">
            <a:avLst/>
          </a:prstGeom>
          <a:solidFill>
            <a:srgbClr val="FEE8E8"/>
          </a:solidFill>
          <a:ln w="57150">
            <a:solidFill>
              <a:srgbClr val="CE0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 flipV="1">
            <a:off x="10665619" y="5499910"/>
            <a:ext cx="700880" cy="779"/>
          </a:xfrm>
          <a:prstGeom prst="line">
            <a:avLst/>
          </a:prstGeom>
          <a:ln w="57150">
            <a:solidFill>
              <a:srgbClr val="CE0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10665619" y="6304426"/>
            <a:ext cx="700880" cy="0"/>
          </a:xfrm>
          <a:prstGeom prst="line">
            <a:avLst/>
          </a:prstGeom>
          <a:ln w="57150">
            <a:solidFill>
              <a:srgbClr val="CE0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1490325" y="4812101"/>
            <a:ext cx="2098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dirty="0"/>
              <a:t>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endParaRPr lang="en-US" sz="3200" b="1" i="1" baseline="-25000" dirty="0">
              <a:solidFill>
                <a:srgbClr val="FF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0619851" y="4774511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A0000"/>
                </a:solidFill>
              </a:rPr>
              <a:t>1/3</a:t>
            </a:r>
            <a:endParaRPr lang="en-US" sz="4000" dirty="0">
              <a:solidFill>
                <a:srgbClr val="FA0000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0620481" y="5578929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1/3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0620481" y="6361566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1/3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1490325" y="5629521"/>
            <a:ext cx="2098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endParaRPr lang="en-US" sz="3200" b="1" i="1" baseline="-25000" dirty="0">
              <a:solidFill>
                <a:srgbClr val="FF000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1490325" y="6425939"/>
            <a:ext cx="2109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r>
              <a:rPr lang="en-US" sz="3600" dirty="0"/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200" i="1" dirty="0" smtClean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23148" y="115375"/>
            <a:ext cx="7585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(a)</a:t>
            </a:r>
            <a:endParaRPr lang="en-US" sz="40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73908" y="7489149"/>
            <a:ext cx="780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(b)</a:t>
            </a:r>
            <a:endParaRPr lang="en-US" sz="40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481301" y="7489149"/>
            <a:ext cx="720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(c)</a:t>
            </a:r>
            <a:endParaRPr lang="en-US" sz="40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10949314" y="7489149"/>
            <a:ext cx="780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(d)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051152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3645923" y="4956851"/>
            <a:ext cx="4066795" cy="2614669"/>
            <a:chOff x="3550673" y="4956851"/>
            <a:chExt cx="4066795" cy="2614669"/>
          </a:xfrm>
        </p:grpSpPr>
        <p:sp>
          <p:nvSpPr>
            <p:cNvPr id="41" name="Trapezoid 40"/>
            <p:cNvSpPr/>
            <p:nvPr/>
          </p:nvSpPr>
          <p:spPr>
            <a:xfrm rot="5400000">
              <a:off x="3397464" y="5435144"/>
              <a:ext cx="2176593" cy="1839673"/>
            </a:xfrm>
            <a:prstGeom prst="trapezoid">
              <a:avLst>
                <a:gd name="adj" fmla="val 30319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69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sp>
          <p:nvSpPr>
            <p:cNvPr id="212" name="Trapezoid 211"/>
            <p:cNvSpPr/>
            <p:nvPr/>
          </p:nvSpPr>
          <p:spPr>
            <a:xfrm rot="16200000">
              <a:off x="5609335" y="5432268"/>
              <a:ext cx="2176593" cy="1839673"/>
            </a:xfrm>
            <a:prstGeom prst="trapezoid">
              <a:avLst>
                <a:gd name="adj" fmla="val 30319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69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457473" y="5833471"/>
              <a:ext cx="269534" cy="104185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cxnSp>
          <p:nvCxnSpPr>
            <p:cNvPr id="213" name="Straight Arrow Connector 212"/>
            <p:cNvCxnSpPr/>
            <p:nvPr/>
          </p:nvCxnSpPr>
          <p:spPr>
            <a:xfrm>
              <a:off x="3550673" y="5092542"/>
              <a:ext cx="1900450" cy="583188"/>
            </a:xfrm>
            <a:prstGeom prst="straightConnector1">
              <a:avLst/>
            </a:prstGeom>
            <a:ln w="571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213"/>
            <p:cNvSpPr txBox="1"/>
            <p:nvPr/>
          </p:nvSpPr>
          <p:spPr>
            <a:xfrm rot="995966">
              <a:off x="3812102" y="4969671"/>
              <a:ext cx="1544012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2050" b="1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05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FC layers</a:t>
              </a:r>
            </a:p>
          </p:txBody>
        </p:sp>
        <p:cxnSp>
          <p:nvCxnSpPr>
            <p:cNvPr id="215" name="Straight Arrow Connector 214"/>
            <p:cNvCxnSpPr/>
            <p:nvPr/>
          </p:nvCxnSpPr>
          <p:spPr>
            <a:xfrm flipV="1">
              <a:off x="5769956" y="5102847"/>
              <a:ext cx="1841258" cy="555022"/>
            </a:xfrm>
            <a:prstGeom prst="straightConnector1">
              <a:avLst/>
            </a:prstGeom>
            <a:ln w="571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TextBox 215"/>
            <p:cNvSpPr txBox="1"/>
            <p:nvPr/>
          </p:nvSpPr>
          <p:spPr>
            <a:xfrm rot="20572771">
              <a:off x="5887148" y="4956851"/>
              <a:ext cx="1539204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2050" b="1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5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FC layers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 rot="20597095">
              <a:off x="3900733" y="7163716"/>
              <a:ext cx="1133644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 rot="1022148">
              <a:off x="6112460" y="7151728"/>
              <a:ext cx="1130392" cy="418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59963" y="6811185"/>
              <a:ext cx="4876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3200" b="1" i="1" baseline="-25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sz="36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6" name="Elbow Connector 35"/>
          <p:cNvCxnSpPr>
            <a:stCxn id="86" idx="2"/>
            <a:endCxn id="321" idx="0"/>
          </p:cNvCxnSpPr>
          <p:nvPr/>
        </p:nvCxnSpPr>
        <p:spPr>
          <a:xfrm rot="16200000" flipH="1">
            <a:off x="664585" y="4448464"/>
            <a:ext cx="2367720" cy="1003862"/>
          </a:xfrm>
          <a:prstGeom prst="bentConnector3">
            <a:avLst>
              <a:gd name="adj1" fmla="val 20231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712718" y="6352104"/>
            <a:ext cx="132325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Elbow Connector 205"/>
          <p:cNvCxnSpPr>
            <a:stCxn id="85" idx="3"/>
            <a:endCxn id="30" idx="2"/>
          </p:cNvCxnSpPr>
          <p:nvPr/>
        </p:nvCxnSpPr>
        <p:spPr>
          <a:xfrm flipH="1">
            <a:off x="13728119" y="3716259"/>
            <a:ext cx="851944" cy="1406970"/>
          </a:xfrm>
          <a:prstGeom prst="bentConnector3">
            <a:avLst>
              <a:gd name="adj1" fmla="val -26833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1526200" y="4442425"/>
            <a:ext cx="2208612" cy="1320874"/>
            <a:chOff x="11983337" y="5722956"/>
            <a:chExt cx="2208612" cy="1320874"/>
          </a:xfrm>
        </p:grpSpPr>
        <p:sp>
          <p:nvSpPr>
            <p:cNvPr id="30" name="Snip Same Side Corner Rectangle 29"/>
            <p:cNvSpPr/>
            <p:nvPr/>
          </p:nvSpPr>
          <p:spPr>
            <a:xfrm rot="10800000">
              <a:off x="11983337" y="5782066"/>
              <a:ext cx="2201919" cy="1243389"/>
            </a:xfrm>
            <a:prstGeom prst="snip2SameRect">
              <a:avLst/>
            </a:prstGeom>
            <a:solidFill>
              <a:schemeClr val="bg1"/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990321" y="5722956"/>
              <a:ext cx="2201628" cy="1320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Cross-entropy loss</a:t>
              </a:r>
            </a:p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reconstruction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loss (during 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raining)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4" name="Rectangle 193"/>
          <p:cNvSpPr/>
          <p:nvPr/>
        </p:nvSpPr>
        <p:spPr>
          <a:xfrm>
            <a:off x="9035976" y="503139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9074911" y="507053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9074910" y="670503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646125" y="551165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636340" y="632123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635114" y="714027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9055516" y="507603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434154" y="507664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799429" y="507603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836885" y="7639725"/>
            <a:ext cx="3169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 smtClean="0">
                <a:solidFill>
                  <a:prstClr val="black"/>
                </a:solidFill>
                <a:latin typeface="Century Schoolbook" panose="02040604050505020304" pitchFamily="18" charset="0"/>
              </a:rPr>
              <a:t>Q</a:t>
            </a:r>
            <a:r>
              <a:rPr lang="en-US" sz="2800" b="1" i="1" baseline="-250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1" i="1" baseline="300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endParaRPr lang="en-US" sz="205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9" name="Group 228"/>
          <p:cNvGrpSpPr/>
          <p:nvPr/>
        </p:nvGrpSpPr>
        <p:grpSpPr>
          <a:xfrm>
            <a:off x="9074910" y="589922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9003664" y="590459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9386014" y="590948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802370" y="591686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9053668" y="670647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9426491" y="671136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804293" y="670423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196" y="5134225"/>
            <a:ext cx="118013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</a:p>
          <a:p>
            <a:pPr algn="ctr"/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8" name="Group 257"/>
          <p:cNvGrpSpPr/>
          <p:nvPr/>
        </p:nvGrpSpPr>
        <p:grpSpPr>
          <a:xfrm>
            <a:off x="3724708" y="381000"/>
            <a:ext cx="2641842" cy="3109137"/>
            <a:chOff x="2315275" y="851803"/>
            <a:chExt cx="2641842" cy="3109137"/>
          </a:xfrm>
        </p:grpSpPr>
        <p:sp>
          <p:nvSpPr>
            <p:cNvPr id="259" name="TextBox 258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457897" y="1986341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3" name="Straight Connector 262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6" name="Group 265"/>
            <p:cNvGrpSpPr/>
            <p:nvPr/>
          </p:nvGrpSpPr>
          <p:grpSpPr>
            <a:xfrm>
              <a:off x="2382507" y="962997"/>
              <a:ext cx="554859" cy="588243"/>
              <a:chOff x="2915907" y="1191597"/>
              <a:chExt cx="554859" cy="588243"/>
            </a:xfrm>
          </p:grpSpPr>
          <p:sp>
            <p:nvSpPr>
              <p:cNvPr id="279" name="TextBox 278"/>
              <p:cNvSpPr txBox="1"/>
              <p:nvPr/>
            </p:nvSpPr>
            <p:spPr>
              <a:xfrm>
                <a:off x="2973960" y="1191597"/>
                <a:ext cx="4908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/>
                  <a:t>g</a:t>
                </a:r>
                <a:r>
                  <a:rPr lang="en-US" sz="2800" i="1" baseline="-25000" dirty="0"/>
                  <a:t>1</a:t>
                </a:r>
              </a:p>
            </p:txBody>
          </p:sp>
          <p:sp>
            <p:nvSpPr>
              <p:cNvPr id="280" name="Oval 279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7" name="Group 266"/>
            <p:cNvGrpSpPr/>
            <p:nvPr/>
          </p:nvGrpSpPr>
          <p:grpSpPr>
            <a:xfrm>
              <a:off x="2395198" y="1953966"/>
              <a:ext cx="554859" cy="585744"/>
              <a:chOff x="2913358" y="1953966"/>
              <a:chExt cx="554859" cy="585744"/>
            </a:xfrm>
          </p:grpSpPr>
          <p:sp>
            <p:nvSpPr>
              <p:cNvPr id="277" name="TextBox 276"/>
              <p:cNvSpPr txBox="1"/>
              <p:nvPr/>
            </p:nvSpPr>
            <p:spPr>
              <a:xfrm>
                <a:off x="2991861" y="1953966"/>
                <a:ext cx="42672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err="1"/>
                  <a:t>g</a:t>
                </a:r>
                <a:r>
                  <a:rPr lang="en-US" sz="280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278" name="Oval 277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/>
            <p:cNvGrpSpPr/>
            <p:nvPr/>
          </p:nvGrpSpPr>
          <p:grpSpPr>
            <a:xfrm>
              <a:off x="2394843" y="2944338"/>
              <a:ext cx="554859" cy="586466"/>
              <a:chOff x="2867283" y="2791938"/>
              <a:chExt cx="554859" cy="586466"/>
            </a:xfrm>
          </p:grpSpPr>
          <p:sp>
            <p:nvSpPr>
              <p:cNvPr id="275" name="TextBox 274"/>
              <p:cNvSpPr txBox="1"/>
              <p:nvPr/>
            </p:nvSpPr>
            <p:spPr>
              <a:xfrm>
                <a:off x="2942681" y="2791938"/>
                <a:ext cx="47801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err="1"/>
                  <a:t>g</a:t>
                </a:r>
                <a:r>
                  <a:rPr lang="en-US" sz="2800" i="1" baseline="-25000" dirty="0" err="1"/>
                  <a:t>k</a:t>
                </a:r>
                <a:endParaRPr lang="en-US" sz="2800" i="1" baseline="-25000" dirty="0"/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9" name="Straight Connector 268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Right Arrow 271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ight Arrow 272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ight Arrow 273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1" name="Group 280"/>
          <p:cNvGrpSpPr/>
          <p:nvPr/>
        </p:nvGrpSpPr>
        <p:grpSpPr>
          <a:xfrm>
            <a:off x="8146983" y="381000"/>
            <a:ext cx="2641842" cy="3109137"/>
            <a:chOff x="2315275" y="851803"/>
            <a:chExt cx="2641842" cy="3109137"/>
          </a:xfrm>
        </p:grpSpPr>
        <p:sp>
          <p:nvSpPr>
            <p:cNvPr id="282" name="TextBox 281"/>
            <p:cNvSpPr txBox="1"/>
            <p:nvPr/>
          </p:nvSpPr>
          <p:spPr>
            <a:xfrm>
              <a:off x="3531727" y="1057970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488377" y="1986341"/>
              <a:ext cx="1425390" cy="4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050" i="1" dirty="0" smtClean="0"/>
                <a:t>t</a:t>
              </a:r>
              <a:r>
                <a:rPr lang="en-US" sz="2050" i="1" baseline="-25000" dirty="0" smtClean="0"/>
                <a:t>2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 smtClean="0"/>
                <a:t>,</a:t>
              </a:r>
              <a:r>
                <a:rPr lang="en-US" sz="2050" i="1" dirty="0" smtClean="0"/>
                <a:t> 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4</a:t>
              </a:r>
              <a:r>
                <a:rPr lang="en-US" sz="2050" dirty="0" smtClean="0"/>
                <a:t>)</a:t>
              </a:r>
              <a:endParaRPr lang="en-US" sz="2050" dirty="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452083" y="2971404"/>
              <a:ext cx="1495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50" dirty="0"/>
                <a:t>(</a:t>
              </a:r>
              <a:r>
                <a:rPr lang="en-US" sz="2050" i="1" dirty="0"/>
                <a:t>t</a:t>
              </a:r>
              <a:r>
                <a:rPr lang="en-US" sz="2050" i="1" baseline="-25000" dirty="0"/>
                <a:t>1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2</a:t>
              </a:r>
              <a:r>
                <a:rPr lang="en-US" sz="2050" dirty="0"/>
                <a:t>,</a:t>
              </a:r>
              <a:r>
                <a:rPr lang="en-US" sz="2050" i="1" dirty="0"/>
                <a:t> t</a:t>
              </a:r>
              <a:r>
                <a:rPr lang="en-US" sz="2050" i="1" baseline="-25000" dirty="0"/>
                <a:t>3</a:t>
              </a:r>
              <a:r>
                <a:rPr lang="en-US" sz="2050" dirty="0"/>
                <a:t>,</a:t>
              </a:r>
              <a:r>
                <a:rPr lang="en-US" sz="2050" i="1" dirty="0"/>
                <a:t> </a:t>
              </a:r>
              <a:r>
                <a:rPr lang="en-US" sz="2800" b="1" i="1" dirty="0">
                  <a:solidFill>
                    <a:srgbClr val="FF0000"/>
                  </a:solidFill>
                </a:rPr>
                <a:t>t</a:t>
              </a:r>
              <a:r>
                <a:rPr lang="en-US" sz="2800" b="1" i="1" baseline="-25000" dirty="0">
                  <a:solidFill>
                    <a:srgbClr val="FF0000"/>
                  </a:solidFill>
                </a:rPr>
                <a:t>4</a:t>
              </a:r>
              <a:r>
                <a:rPr lang="en-US" sz="2050" dirty="0"/>
                <a:t>)</a:t>
              </a: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2315275" y="851803"/>
              <a:ext cx="2570992" cy="310913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6" name="Straight Connector 285"/>
            <p:cNvCxnSpPr/>
            <p:nvPr/>
          </p:nvCxnSpPr>
          <p:spPr>
            <a:xfrm>
              <a:off x="4123658" y="155451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/>
          </p:nvCxnSpPr>
          <p:spPr>
            <a:xfrm>
              <a:off x="4113873" y="259269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/>
          </p:nvCxnSpPr>
          <p:spPr>
            <a:xfrm>
              <a:off x="4112647" y="345745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9" name="Group 288"/>
            <p:cNvGrpSpPr/>
            <p:nvPr/>
          </p:nvGrpSpPr>
          <p:grpSpPr>
            <a:xfrm>
              <a:off x="2382507" y="962997"/>
              <a:ext cx="554859" cy="588243"/>
              <a:chOff x="2915907" y="1191597"/>
              <a:chExt cx="554859" cy="588243"/>
            </a:xfrm>
          </p:grpSpPr>
          <p:sp>
            <p:nvSpPr>
              <p:cNvPr id="302" name="TextBox 301"/>
              <p:cNvSpPr txBox="1"/>
              <p:nvPr/>
            </p:nvSpPr>
            <p:spPr>
              <a:xfrm>
                <a:off x="2973960" y="1191597"/>
                <a:ext cx="4908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smtClean="0"/>
                  <a:t>g</a:t>
                </a:r>
                <a:r>
                  <a:rPr lang="en-US" sz="2800" i="1" baseline="-25000" dirty="0" smtClean="0"/>
                  <a:t>1</a:t>
                </a:r>
                <a:endParaRPr lang="en-US" sz="2050" i="1" baseline="-25000" dirty="0"/>
              </a:p>
            </p:txBody>
          </p:sp>
          <p:sp>
            <p:nvSpPr>
              <p:cNvPr id="303" name="Oval 302"/>
              <p:cNvSpPr/>
              <p:nvPr/>
            </p:nvSpPr>
            <p:spPr>
              <a:xfrm>
                <a:off x="2915907" y="120161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395198" y="1953966"/>
              <a:ext cx="554859" cy="585744"/>
              <a:chOff x="2913358" y="1953966"/>
              <a:chExt cx="554859" cy="585744"/>
            </a:xfrm>
          </p:grpSpPr>
          <p:sp>
            <p:nvSpPr>
              <p:cNvPr id="300" name="TextBox 299"/>
              <p:cNvSpPr txBox="1"/>
              <p:nvPr/>
            </p:nvSpPr>
            <p:spPr>
              <a:xfrm>
                <a:off x="2991861" y="1953966"/>
                <a:ext cx="42672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err="1"/>
                  <a:t>g</a:t>
                </a:r>
                <a:r>
                  <a:rPr lang="en-US" sz="2800" i="1" baseline="-25000" dirty="0" err="1"/>
                  <a:t>j</a:t>
                </a:r>
                <a:endParaRPr lang="en-US" sz="2050" i="1" baseline="-25000" dirty="0"/>
              </a:p>
            </p:txBody>
          </p:sp>
          <p:sp>
            <p:nvSpPr>
              <p:cNvPr id="301" name="Oval 300"/>
              <p:cNvSpPr/>
              <p:nvPr/>
            </p:nvSpPr>
            <p:spPr>
              <a:xfrm>
                <a:off x="2913358" y="1961485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1" name="Group 290"/>
            <p:cNvGrpSpPr/>
            <p:nvPr/>
          </p:nvGrpSpPr>
          <p:grpSpPr>
            <a:xfrm>
              <a:off x="2394843" y="2944338"/>
              <a:ext cx="554859" cy="586466"/>
              <a:chOff x="2867283" y="2791938"/>
              <a:chExt cx="554859" cy="586466"/>
            </a:xfrm>
          </p:grpSpPr>
          <p:sp>
            <p:nvSpPr>
              <p:cNvPr id="298" name="TextBox 297"/>
              <p:cNvSpPr txBox="1"/>
              <p:nvPr/>
            </p:nvSpPr>
            <p:spPr>
              <a:xfrm>
                <a:off x="2942681" y="2791938"/>
                <a:ext cx="47801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err="1"/>
                  <a:t>g</a:t>
                </a:r>
                <a:r>
                  <a:rPr lang="en-US" sz="2800" i="1" baseline="-25000" dirty="0" err="1"/>
                  <a:t>k</a:t>
                </a:r>
                <a:endParaRPr lang="en-US" sz="2800" i="1" baseline="-25000" dirty="0"/>
              </a:p>
            </p:txBody>
          </p:sp>
          <p:sp>
            <p:nvSpPr>
              <p:cNvPr id="299" name="Oval 298"/>
              <p:cNvSpPr/>
              <p:nvPr/>
            </p:nvSpPr>
            <p:spPr>
              <a:xfrm>
                <a:off x="2867283" y="2800179"/>
                <a:ext cx="554859" cy="578225"/>
              </a:xfrm>
              <a:prstGeom prst="ellipse">
                <a:avLst/>
              </a:prstGeom>
              <a:noFill/>
              <a:ln w="38100">
                <a:solidFill>
                  <a:srgbClr val="D5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92" name="Straight Connector 291"/>
            <p:cNvCxnSpPr/>
            <p:nvPr/>
          </p:nvCxnSpPr>
          <p:spPr>
            <a:xfrm>
              <a:off x="2667719" y="1674944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/>
          </p:nvCxnSpPr>
          <p:spPr>
            <a:xfrm>
              <a:off x="2682959" y="2692039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2682959" y="3657563"/>
              <a:ext cx="0" cy="171196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Right Arrow 294"/>
            <p:cNvSpPr/>
            <p:nvPr/>
          </p:nvSpPr>
          <p:spPr>
            <a:xfrm>
              <a:off x="3129617" y="1154262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ight Arrow 295"/>
            <p:cNvSpPr/>
            <p:nvPr/>
          </p:nvSpPr>
          <p:spPr>
            <a:xfrm>
              <a:off x="3129617" y="2145208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ight Arrow 296"/>
            <p:cNvSpPr/>
            <p:nvPr/>
          </p:nvSpPr>
          <p:spPr>
            <a:xfrm>
              <a:off x="3126173" y="3134081"/>
              <a:ext cx="283976" cy="215219"/>
            </a:xfrm>
            <a:prstGeom prst="rightArrow">
              <a:avLst/>
            </a:prstGeom>
            <a:noFill/>
            <a:ln w="28575">
              <a:solidFill>
                <a:srgbClr val="C92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265802" y="4421894"/>
            <a:ext cx="1499073" cy="2235100"/>
            <a:chOff x="1282691" y="3736233"/>
            <a:chExt cx="1499073" cy="2235100"/>
          </a:xfrm>
        </p:grpSpPr>
        <p:grpSp>
          <p:nvGrpSpPr>
            <p:cNvPr id="310" name="Group 309"/>
            <p:cNvGrpSpPr/>
            <p:nvPr/>
          </p:nvGrpSpPr>
          <p:grpSpPr>
            <a:xfrm>
              <a:off x="1445027" y="5359806"/>
              <a:ext cx="1182959" cy="611527"/>
              <a:chOff x="1231785" y="4812969"/>
              <a:chExt cx="1182959" cy="611527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231785" y="4812969"/>
                <a:ext cx="1182959" cy="611527"/>
              </a:xfrm>
              <a:prstGeom prst="rect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Freeform 308"/>
              <p:cNvSpPr/>
              <p:nvPr/>
            </p:nvSpPr>
            <p:spPr>
              <a:xfrm>
                <a:off x="1238250" y="4905351"/>
                <a:ext cx="1171575" cy="457226"/>
              </a:xfrm>
              <a:custGeom>
                <a:avLst/>
                <a:gdLst>
                  <a:gd name="connsiteX0" fmla="*/ 0 w 1171575"/>
                  <a:gd name="connsiteY0" fmla="*/ 581082 h 609660"/>
                  <a:gd name="connsiteX1" fmla="*/ 352425 w 1171575"/>
                  <a:gd name="connsiteY1" fmla="*/ 57 h 609660"/>
                  <a:gd name="connsiteX2" fmla="*/ 819150 w 1171575"/>
                  <a:gd name="connsiteY2" fmla="*/ 609657 h 609660"/>
                  <a:gd name="connsiteX3" fmla="*/ 1171575 w 1171575"/>
                  <a:gd name="connsiteY3" fmla="*/ 9582 h 609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609660">
                    <a:moveTo>
                      <a:pt x="0" y="581082"/>
                    </a:moveTo>
                    <a:cubicBezTo>
                      <a:pt x="107950" y="288188"/>
                      <a:pt x="215900" y="-4706"/>
                      <a:pt x="352425" y="57"/>
                    </a:cubicBezTo>
                    <a:cubicBezTo>
                      <a:pt x="488950" y="4819"/>
                      <a:pt x="682625" y="608070"/>
                      <a:pt x="819150" y="609657"/>
                    </a:cubicBezTo>
                    <a:cubicBezTo>
                      <a:pt x="955675" y="611244"/>
                      <a:pt x="1119187" y="103245"/>
                      <a:pt x="1171575" y="9582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1282691" y="3736233"/>
              <a:ext cx="1499073" cy="399468"/>
            </a:xfrm>
            <a:prstGeom prst="rect">
              <a:avLst/>
            </a:prstGeom>
            <a:noFill/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Indices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2" name="Straight Connector 311"/>
            <p:cNvCxnSpPr>
              <a:stCxn id="311" idx="2"/>
              <a:endCxn id="43" idx="0"/>
            </p:cNvCxnSpPr>
            <p:nvPr/>
          </p:nvCxnSpPr>
          <p:spPr>
            <a:xfrm>
              <a:off x="2032228" y="4135701"/>
              <a:ext cx="4279" cy="1224105"/>
            </a:xfrm>
            <a:prstGeom prst="line">
              <a:avLst/>
            </a:prstGeom>
            <a:ln w="57150"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0" name="Elbow Connector 319"/>
          <p:cNvCxnSpPr>
            <a:stCxn id="43" idx="3"/>
            <a:endCxn id="321" idx="2"/>
          </p:cNvCxnSpPr>
          <p:nvPr/>
        </p:nvCxnSpPr>
        <p:spPr>
          <a:xfrm>
            <a:off x="1611097" y="6351231"/>
            <a:ext cx="498004" cy="1415"/>
          </a:xfrm>
          <a:prstGeom prst="bentConnector3">
            <a:avLst>
              <a:gd name="adj1" fmla="val 5000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Or 320"/>
          <p:cNvSpPr/>
          <p:nvPr/>
        </p:nvSpPr>
        <p:spPr>
          <a:xfrm>
            <a:off x="2109101" y="6134255"/>
            <a:ext cx="482550" cy="436781"/>
          </a:xfrm>
          <a:prstGeom prst="flowChartOr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327"/>
          <p:cNvCxnSpPr>
            <a:stCxn id="321" idx="6"/>
            <a:endCxn id="41" idx="2"/>
          </p:cNvCxnSpPr>
          <p:nvPr/>
        </p:nvCxnSpPr>
        <p:spPr>
          <a:xfrm>
            <a:off x="2591651" y="6352646"/>
            <a:ext cx="1069523" cy="2335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/>
          <p:cNvGrpSpPr/>
          <p:nvPr/>
        </p:nvGrpSpPr>
        <p:grpSpPr>
          <a:xfrm>
            <a:off x="6739082" y="685843"/>
            <a:ext cx="970054" cy="2481763"/>
            <a:chOff x="6804940" y="726640"/>
            <a:chExt cx="970054" cy="2481763"/>
          </a:xfrm>
        </p:grpSpPr>
        <p:sp>
          <p:nvSpPr>
            <p:cNvPr id="2" name="Flowchart: Off-page Connector 1"/>
            <p:cNvSpPr/>
            <p:nvPr/>
          </p:nvSpPr>
          <p:spPr>
            <a:xfrm rot="5400000">
              <a:off x="6049085" y="1482495"/>
              <a:ext cx="2481763" cy="970054"/>
            </a:xfrm>
            <a:prstGeom prst="flowChartOffpageConnector">
              <a:avLst/>
            </a:prstGeom>
            <a:ln w="57150"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7045723" y="988482"/>
              <a:ext cx="625897" cy="1887435"/>
              <a:chOff x="7071123" y="1090082"/>
              <a:chExt cx="625897" cy="1887435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7071124" y="1090082"/>
                <a:ext cx="625896" cy="1025826"/>
                <a:chOff x="7071124" y="1090082"/>
                <a:chExt cx="625896" cy="1025826"/>
              </a:xfrm>
            </p:grpSpPr>
            <p:grpSp>
              <p:nvGrpSpPr>
                <p:cNvPr id="180" name="Group 17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181" name="Flowchart: Data 180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Flowchart: Data 181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Flowchart: Data 182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4" name="Group 183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185" name="Flowchart: Data 18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Flowchart: Data 18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Flowchart: Data 18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9" name="Group 198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00" name="Flowchart: Data 19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1" name="Flowchart: Data 20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2" name="Flowchart: Data 20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3" name="Group 202"/>
                <p:cNvGrpSpPr/>
                <p:nvPr/>
              </p:nvGrpSpPr>
              <p:grpSpPr>
                <a:xfrm>
                  <a:off x="7071124" y="1731740"/>
                  <a:ext cx="625896" cy="384168"/>
                  <a:chOff x="7432320" y="975740"/>
                  <a:chExt cx="665643" cy="1204635"/>
                </a:xfrm>
              </p:grpSpPr>
              <p:sp>
                <p:nvSpPr>
                  <p:cNvPr id="205" name="Flowchart: Data 204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9" name="Flowchart: Data 208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0" name="Flowchart: Data 209"/>
                  <p:cNvSpPr/>
                  <p:nvPr/>
                </p:nvSpPr>
                <p:spPr>
                  <a:xfrm rot="16200000">
                    <a:off x="7110099" y="1297961"/>
                    <a:ext cx="867787" cy="223345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11" name="Group 210"/>
              <p:cNvGrpSpPr/>
              <p:nvPr/>
            </p:nvGrpSpPr>
            <p:grpSpPr>
              <a:xfrm>
                <a:off x="7071123" y="1951692"/>
                <a:ext cx="625897" cy="1025825"/>
                <a:chOff x="7071123" y="1090082"/>
                <a:chExt cx="625897" cy="1025825"/>
              </a:xfrm>
            </p:grpSpPr>
            <p:grpSp>
              <p:nvGrpSpPr>
                <p:cNvPr id="240" name="Group 239"/>
                <p:cNvGrpSpPr/>
                <p:nvPr/>
              </p:nvGrpSpPr>
              <p:grpSpPr>
                <a:xfrm>
                  <a:off x="7072672" y="1090082"/>
                  <a:ext cx="624141" cy="374179"/>
                  <a:chOff x="7434851" y="975742"/>
                  <a:chExt cx="663112" cy="1204633"/>
                </a:xfrm>
              </p:grpSpPr>
              <p:sp>
                <p:nvSpPr>
                  <p:cNvPr id="253" name="Flowchart: Data 252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6" name="Flowchart: Data 255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7" name="Flowchart: Data 256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1" name="Group 240"/>
                <p:cNvGrpSpPr/>
                <p:nvPr/>
              </p:nvGrpSpPr>
              <p:grpSpPr>
                <a:xfrm>
                  <a:off x="7071537" y="1300163"/>
                  <a:ext cx="625481" cy="384167"/>
                  <a:chOff x="7434851" y="975742"/>
                  <a:chExt cx="663112" cy="1204633"/>
                </a:xfrm>
              </p:grpSpPr>
              <p:sp>
                <p:nvSpPr>
                  <p:cNvPr id="250" name="Flowchart: Data 249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1" name="Flowchart: Data 250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2" name="Flowchart: Data 251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2" name="Group 241"/>
                <p:cNvGrpSpPr/>
                <p:nvPr/>
              </p:nvGrpSpPr>
              <p:grpSpPr>
                <a:xfrm>
                  <a:off x="7071537" y="1521659"/>
                  <a:ext cx="625481" cy="374179"/>
                  <a:chOff x="7434851" y="975742"/>
                  <a:chExt cx="663112" cy="1204633"/>
                </a:xfrm>
              </p:grpSpPr>
              <p:sp>
                <p:nvSpPr>
                  <p:cNvPr id="247" name="Flowchart: Data 246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8" name="Flowchart: Data 247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9" name="Flowchart: Data 248"/>
                  <p:cNvSpPr/>
                  <p:nvPr/>
                </p:nvSpPr>
                <p:spPr>
                  <a:xfrm rot="16200000">
                    <a:off x="7112631" y="1297962"/>
                    <a:ext cx="867786" cy="223346"/>
                  </a:xfrm>
                  <a:prstGeom prst="flowChartInputOutput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3" name="Group 242"/>
                <p:cNvGrpSpPr/>
                <p:nvPr/>
              </p:nvGrpSpPr>
              <p:grpSpPr>
                <a:xfrm>
                  <a:off x="7071123" y="1729359"/>
                  <a:ext cx="625897" cy="386548"/>
                  <a:chOff x="7432319" y="968276"/>
                  <a:chExt cx="665644" cy="1212099"/>
                </a:xfrm>
              </p:grpSpPr>
              <p:sp>
                <p:nvSpPr>
                  <p:cNvPr id="244" name="Flowchart: Data 243"/>
                  <p:cNvSpPr/>
                  <p:nvPr/>
                </p:nvSpPr>
                <p:spPr>
                  <a:xfrm rot="16200000">
                    <a:off x="7559115" y="1641526"/>
                    <a:ext cx="858716" cy="218981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5" name="Flowchart: Data 244"/>
                  <p:cNvSpPr/>
                  <p:nvPr/>
                </p:nvSpPr>
                <p:spPr>
                  <a:xfrm rot="16200000">
                    <a:off x="7333448" y="1468703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6" name="Flowchart: Data 245"/>
                  <p:cNvSpPr/>
                  <p:nvPr/>
                </p:nvSpPr>
                <p:spPr>
                  <a:xfrm rot="16200000">
                    <a:off x="7110099" y="1290496"/>
                    <a:ext cx="867786" cy="223346"/>
                  </a:xfrm>
                  <a:prstGeom prst="flowChartInputOutput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9" name="Group 28"/>
          <p:cNvGrpSpPr/>
          <p:nvPr/>
        </p:nvGrpSpPr>
        <p:grpSpPr>
          <a:xfrm>
            <a:off x="-49862" y="542263"/>
            <a:ext cx="2792752" cy="3224272"/>
            <a:chOff x="703612" y="587983"/>
            <a:chExt cx="2792752" cy="3224272"/>
          </a:xfrm>
        </p:grpSpPr>
        <p:grpSp>
          <p:nvGrpSpPr>
            <p:cNvPr id="254" name="Group 253"/>
            <p:cNvGrpSpPr/>
            <p:nvPr/>
          </p:nvGrpSpPr>
          <p:grpSpPr>
            <a:xfrm>
              <a:off x="703612" y="691783"/>
              <a:ext cx="2792752" cy="3120472"/>
              <a:chOff x="5293685" y="1211413"/>
              <a:chExt cx="2792752" cy="3120472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6008438" y="1211413"/>
                <a:ext cx="1204029" cy="264621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6047373" y="1250555"/>
                <a:ext cx="1122885" cy="327607"/>
                <a:chOff x="3824287" y="1995689"/>
                <a:chExt cx="1092993" cy="318886"/>
              </a:xfrm>
            </p:grpSpPr>
            <p:sp>
              <p:nvSpPr>
                <p:cNvPr id="62" name="Rectangle 61"/>
                <p:cNvSpPr/>
                <p:nvPr/>
              </p:nvSpPr>
              <p:spPr>
                <a:xfrm>
                  <a:off x="3824287" y="1995689"/>
                  <a:ext cx="1092993" cy="31888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63" name="Straight Connector 62"/>
                <p:cNvCxnSpPr/>
                <p:nvPr/>
              </p:nvCxnSpPr>
              <p:spPr>
                <a:xfrm flipH="1">
                  <a:off x="4179094" y="2016916"/>
                  <a:ext cx="2381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4555331" y="2016916"/>
                  <a:ext cx="0" cy="278807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>
                <a:off x="6047372" y="2885049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70" name="Rectangle 69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71" name="Straight Connector 70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Straight Connector 72"/>
              <p:cNvCxnSpPr/>
              <p:nvPr/>
            </p:nvCxnSpPr>
            <p:spPr>
              <a:xfrm>
                <a:off x="6618587" y="1691677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6608802" y="2501254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6607576" y="3320290"/>
                <a:ext cx="0" cy="290130"/>
              </a:xfrm>
              <a:prstGeom prst="line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6082064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6464675" y="1256670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6849000" y="1256059"/>
                <a:ext cx="285233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chemeClr val="accent6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293685" y="3808665"/>
                <a:ext cx="27927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masked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matrix </a:t>
                </a:r>
                <a:r>
                  <a:rPr lang="en-US" sz="2800" b="1" i="1" dirty="0" err="1" smtClean="0">
                    <a:latin typeface="Century Schoolbook" panose="02040604050505020304" pitchFamily="18" charset="0"/>
                  </a:rPr>
                  <a:t>Q</a:t>
                </a:r>
                <a:r>
                  <a:rPr lang="en-US" sz="2800" b="1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800" b="1" i="1" baseline="30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en-US" sz="2800" b="1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1" name="Group 90"/>
              <p:cNvGrpSpPr/>
              <p:nvPr/>
            </p:nvGrpSpPr>
            <p:grpSpPr>
              <a:xfrm>
                <a:off x="6047372" y="2079242"/>
                <a:ext cx="1122885" cy="327607"/>
                <a:chOff x="3976687" y="2148089"/>
                <a:chExt cx="1092993" cy="318886"/>
              </a:xfrm>
              <a:solidFill>
                <a:srgbClr val="FEE8E8"/>
              </a:solidFill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3976687" y="2148089"/>
                  <a:ext cx="1092993" cy="318886"/>
                </a:xfrm>
                <a:prstGeom prst="rect">
                  <a:avLst/>
                </a:prstGeom>
                <a:grpFill/>
                <a:ln>
                  <a:solidFill>
                    <a:srgbClr val="CE0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33" dirty="0">
                    <a:solidFill>
                      <a:srgbClr val="CE0C0C"/>
                    </a:solidFill>
                  </a:endParaRPr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 flipH="1">
                  <a:off x="4331494" y="2169316"/>
                  <a:ext cx="2381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4707731" y="2169316"/>
                  <a:ext cx="0" cy="278807"/>
                </a:xfrm>
                <a:prstGeom prst="line">
                  <a:avLst/>
                </a:prstGeom>
                <a:grpFill/>
                <a:ln w="19050">
                  <a:solidFill>
                    <a:srgbClr val="CE0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/>
              <p:cNvSpPr txBox="1"/>
              <p:nvPr/>
            </p:nvSpPr>
            <p:spPr>
              <a:xfrm>
                <a:off x="6009695" y="208461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6382519" y="2089504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6760321" y="2082369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007083" y="2886495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379906" y="2891387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6757708" y="2884252"/>
                <a:ext cx="453211" cy="32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38" dirty="0">
                    <a:solidFill>
                      <a:srgbClr val="FF0000"/>
                    </a:solidFill>
                  </a:rPr>
                  <a:t>1/3</a:t>
                </a:r>
                <a:endParaRPr lang="en-US" sz="1644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04" name="TextBox 303"/>
            <p:cNvSpPr txBox="1"/>
            <p:nvPr/>
          </p:nvSpPr>
          <p:spPr>
            <a:xfrm>
              <a:off x="986120" y="587983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smtClean="0">
                  <a:cs typeface="Times New Roman" panose="02020603050405020304" pitchFamily="18" charset="0"/>
                </a:rPr>
                <a:t>1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981157" y="1409557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995913" y="2256207"/>
              <a:ext cx="4363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k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</p:grpSp>
      <p:sp>
        <p:nvSpPr>
          <p:cNvPr id="307" name="TextBox 306"/>
          <p:cNvSpPr txBox="1"/>
          <p:nvPr/>
        </p:nvSpPr>
        <p:spPr>
          <a:xfrm>
            <a:off x="10220110" y="4992232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q̂</a:t>
            </a:r>
            <a:r>
              <a:rPr lang="en-US" sz="2400" i="1" baseline="-25000" dirty="0" smtClean="0">
                <a:cs typeface="Times New Roman" panose="02020603050405020304" pitchFamily="18" charset="0"/>
              </a:rPr>
              <a:t>1</a:t>
            </a:r>
            <a:endParaRPr lang="en-US" sz="2400" i="1" baseline="-25000" dirty="0">
              <a:cs typeface="Times New Roman" panose="02020603050405020304" pitchFamily="18" charset="0"/>
            </a:endParaRPr>
          </a:p>
        </p:txBody>
      </p:sp>
      <p:cxnSp>
        <p:nvCxnSpPr>
          <p:cNvPr id="317" name="Straight Connector 316"/>
          <p:cNvCxnSpPr>
            <a:stCxn id="285" idx="1"/>
            <a:endCxn id="2" idx="0"/>
          </p:cNvCxnSpPr>
          <p:nvPr/>
        </p:nvCxnSpPr>
        <p:spPr>
          <a:xfrm flipH="1" flipV="1">
            <a:off x="7709136" y="1926726"/>
            <a:ext cx="437847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/>
          <p:cNvCxnSpPr>
            <a:stCxn id="2" idx="2"/>
            <a:endCxn id="262" idx="3"/>
          </p:cNvCxnSpPr>
          <p:nvPr/>
        </p:nvCxnSpPr>
        <p:spPr>
          <a:xfrm flipH="1">
            <a:off x="6295700" y="1926726"/>
            <a:ext cx="443382" cy="8843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/>
          <p:cNvGrpSpPr/>
          <p:nvPr/>
        </p:nvGrpSpPr>
        <p:grpSpPr>
          <a:xfrm>
            <a:off x="11146018" y="605260"/>
            <a:ext cx="995836" cy="2655710"/>
            <a:chOff x="11230065" y="693847"/>
            <a:chExt cx="995836" cy="2655710"/>
          </a:xfrm>
        </p:grpSpPr>
        <p:sp>
          <p:nvSpPr>
            <p:cNvPr id="322" name="Flowchart: Delay 321"/>
            <p:cNvSpPr/>
            <p:nvPr/>
          </p:nvSpPr>
          <p:spPr>
            <a:xfrm>
              <a:off x="11230065" y="693847"/>
              <a:ext cx="995836" cy="2655710"/>
            </a:xfrm>
            <a:prstGeom prst="flowChartDelay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11384190" y="1752216"/>
              <a:ext cx="520541" cy="348293"/>
              <a:chOff x="7090174" y="3817040"/>
              <a:chExt cx="520541" cy="348293"/>
            </a:xfrm>
          </p:grpSpPr>
          <p:grpSp>
            <p:nvGrpSpPr>
              <p:cNvPr id="68" name="Group 67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13" name="Straight Connector 12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4" name="Group 323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25" name="Straight Connector 324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2" name="Straight Connector 81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Group 326"/>
            <p:cNvGrpSpPr/>
            <p:nvPr/>
          </p:nvGrpSpPr>
          <p:grpSpPr>
            <a:xfrm>
              <a:off x="11373870" y="2519814"/>
              <a:ext cx="520541" cy="348293"/>
              <a:chOff x="7090174" y="3817040"/>
              <a:chExt cx="520541" cy="348293"/>
            </a:xfrm>
          </p:grpSpPr>
          <p:grpSp>
            <p:nvGrpSpPr>
              <p:cNvPr id="329" name="Group 328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34" name="Straight Connector 33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Straight Connector 33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0" name="Group 329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32" name="Straight Connector 331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1" name="Straight Connector 330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" name="Group 337"/>
            <p:cNvGrpSpPr/>
            <p:nvPr/>
          </p:nvGrpSpPr>
          <p:grpSpPr>
            <a:xfrm>
              <a:off x="11373871" y="999659"/>
              <a:ext cx="520541" cy="348293"/>
              <a:chOff x="7090174" y="3817040"/>
              <a:chExt cx="520541" cy="348293"/>
            </a:xfrm>
          </p:grpSpPr>
          <p:grpSp>
            <p:nvGrpSpPr>
              <p:cNvPr id="339" name="Group 338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44" name="Straight Connector 34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0" name="Group 339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342" name="Straight Connector 341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1" name="Straight Connector 340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6" name="Straight Connector 345"/>
            <p:cNvCxnSpPr/>
            <p:nvPr/>
          </p:nvCxnSpPr>
          <p:spPr>
            <a:xfrm>
              <a:off x="11654734" y="1386024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>
            <a:xfrm>
              <a:off x="11644949" y="2165121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/>
          </p:nvCxnSpPr>
          <p:spPr>
            <a:xfrm>
              <a:off x="11628483" y="2923197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2305021" y="636258"/>
            <a:ext cx="991501" cy="2642645"/>
            <a:chOff x="2700356" y="845379"/>
            <a:chExt cx="991501" cy="2642645"/>
          </a:xfrm>
        </p:grpSpPr>
        <p:sp>
          <p:nvSpPr>
            <p:cNvPr id="3" name="Flowchart: Delay 2"/>
            <p:cNvSpPr/>
            <p:nvPr/>
          </p:nvSpPr>
          <p:spPr>
            <a:xfrm rot="10800000">
              <a:off x="2700356" y="845379"/>
              <a:ext cx="991501" cy="2642645"/>
            </a:xfrm>
            <a:prstGeom prst="flowChartDelay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4" name="Group 433"/>
            <p:cNvGrpSpPr/>
            <p:nvPr/>
          </p:nvGrpSpPr>
          <p:grpSpPr>
            <a:xfrm>
              <a:off x="3031188" y="1905925"/>
              <a:ext cx="520541" cy="348293"/>
              <a:chOff x="7090174" y="3817040"/>
              <a:chExt cx="520541" cy="348293"/>
            </a:xfrm>
          </p:grpSpPr>
          <p:grpSp>
            <p:nvGrpSpPr>
              <p:cNvPr id="435" name="Group 434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0" name="Straight Connector 439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6" name="Group 435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38" name="Straight Connector 437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7" name="Straight Connector 436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2" name="Group 441"/>
            <p:cNvGrpSpPr/>
            <p:nvPr/>
          </p:nvGrpSpPr>
          <p:grpSpPr>
            <a:xfrm>
              <a:off x="3020868" y="2673523"/>
              <a:ext cx="520541" cy="348293"/>
              <a:chOff x="7090174" y="3817040"/>
              <a:chExt cx="520541" cy="348293"/>
            </a:xfrm>
          </p:grpSpPr>
          <p:grpSp>
            <p:nvGrpSpPr>
              <p:cNvPr id="443" name="Group 442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8" name="Straight Connector 447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4" name="Group 443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46" name="Straight Connector 445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5" name="Straight Connector 444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0" name="Group 449"/>
            <p:cNvGrpSpPr/>
            <p:nvPr/>
          </p:nvGrpSpPr>
          <p:grpSpPr>
            <a:xfrm>
              <a:off x="3020869" y="1153368"/>
              <a:ext cx="520541" cy="348293"/>
              <a:chOff x="7090174" y="3817040"/>
              <a:chExt cx="520541" cy="348293"/>
            </a:xfrm>
          </p:grpSpPr>
          <p:grpSp>
            <p:nvGrpSpPr>
              <p:cNvPr id="451" name="Group 450"/>
              <p:cNvGrpSpPr/>
              <p:nvPr/>
            </p:nvGrpSpPr>
            <p:grpSpPr>
              <a:xfrm>
                <a:off x="7090174" y="3819953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56" name="Straight Connector 455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Straight Connector 456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2" name="Group 451"/>
              <p:cNvGrpSpPr/>
              <p:nvPr/>
            </p:nvGrpSpPr>
            <p:grpSpPr>
              <a:xfrm rot="10800000">
                <a:off x="7449189" y="3817040"/>
                <a:ext cx="161526" cy="345380"/>
                <a:chOff x="7058424" y="3819953"/>
                <a:chExt cx="161526" cy="345380"/>
              </a:xfrm>
            </p:grpSpPr>
            <p:cxnSp>
              <p:nvCxnSpPr>
                <p:cNvPr id="454" name="Straight Connector 453"/>
                <p:cNvCxnSpPr/>
                <p:nvPr/>
              </p:nvCxnSpPr>
              <p:spPr>
                <a:xfrm flipH="1">
                  <a:off x="7058425" y="3990761"/>
                  <a:ext cx="161525" cy="17457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Straight Connector 454"/>
                <p:cNvCxnSpPr/>
                <p:nvPr/>
              </p:nvCxnSpPr>
              <p:spPr>
                <a:xfrm flipH="1" flipV="1">
                  <a:off x="7058424" y="3819953"/>
                  <a:ext cx="161526" cy="1708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3" name="Straight Connector 452"/>
              <p:cNvCxnSpPr/>
              <p:nvPr/>
            </p:nvCxnSpPr>
            <p:spPr>
              <a:xfrm>
                <a:off x="7219950" y="3986709"/>
                <a:ext cx="2578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8" name="Straight Connector 457"/>
            <p:cNvCxnSpPr/>
            <p:nvPr/>
          </p:nvCxnSpPr>
          <p:spPr>
            <a:xfrm>
              <a:off x="3301732" y="1539733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/>
            <p:cNvCxnSpPr/>
            <p:nvPr/>
          </p:nvCxnSpPr>
          <p:spPr>
            <a:xfrm>
              <a:off x="3291947" y="2318830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/>
            <p:cNvCxnSpPr/>
            <p:nvPr/>
          </p:nvCxnSpPr>
          <p:spPr>
            <a:xfrm>
              <a:off x="3275481" y="3076906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Straight Connector 460"/>
          <p:cNvCxnSpPr>
            <a:stCxn id="262" idx="1"/>
            <a:endCxn id="3" idx="1"/>
          </p:cNvCxnSpPr>
          <p:nvPr/>
        </p:nvCxnSpPr>
        <p:spPr>
          <a:xfrm flipH="1">
            <a:off x="3296522" y="1935569"/>
            <a:ext cx="428186" cy="22011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/>
          <p:cNvCxnSpPr>
            <a:stCxn id="3" idx="3"/>
            <a:endCxn id="60" idx="3"/>
          </p:cNvCxnSpPr>
          <p:nvPr/>
        </p:nvCxnSpPr>
        <p:spPr>
          <a:xfrm flipH="1">
            <a:off x="1868920" y="1957580"/>
            <a:ext cx="436101" cy="11592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/>
          <p:cNvCxnSpPr>
            <a:stCxn id="285" idx="3"/>
            <a:endCxn id="322" idx="1"/>
          </p:cNvCxnSpPr>
          <p:nvPr/>
        </p:nvCxnSpPr>
        <p:spPr>
          <a:xfrm flipV="1">
            <a:off x="10717975" y="1933115"/>
            <a:ext cx="428043" cy="2454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86592" y="3442035"/>
            <a:ext cx="34951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Gene-trees and available taxa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(for the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four-taxa-set 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3323137" y="3479564"/>
            <a:ext cx="3252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Gene-trees and available taxa after masking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6" name="Elbow Connector 335"/>
          <p:cNvCxnSpPr>
            <a:stCxn id="194" idx="3"/>
            <a:endCxn id="30" idx="0"/>
          </p:cNvCxnSpPr>
          <p:nvPr/>
        </p:nvCxnSpPr>
        <p:spPr>
          <a:xfrm flipV="1">
            <a:off x="10240005" y="5123229"/>
            <a:ext cx="1286195" cy="1231274"/>
          </a:xfrm>
          <a:prstGeom prst="bentConnector3">
            <a:avLst>
              <a:gd name="adj1" fmla="val 50000"/>
            </a:avLst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/>
          <p:cNvGrpSpPr/>
          <p:nvPr/>
        </p:nvGrpSpPr>
        <p:grpSpPr>
          <a:xfrm>
            <a:off x="11126642" y="5904949"/>
            <a:ext cx="4350059" cy="2221638"/>
            <a:chOff x="11088542" y="5904949"/>
            <a:chExt cx="4350059" cy="2221638"/>
          </a:xfrm>
        </p:grpSpPr>
        <p:sp>
          <p:nvSpPr>
            <p:cNvPr id="89" name="Rectangle 88"/>
            <p:cNvSpPr/>
            <p:nvPr/>
          </p:nvSpPr>
          <p:spPr>
            <a:xfrm>
              <a:off x="11088542" y="5904949"/>
              <a:ext cx="4345768" cy="22216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11215335" y="5972718"/>
              <a:ext cx="1674175" cy="2095172"/>
              <a:chOff x="11291535" y="5972718"/>
              <a:chExt cx="1674175" cy="2095172"/>
            </a:xfrm>
          </p:grpSpPr>
          <p:grpSp>
            <p:nvGrpSpPr>
              <p:cNvPr id="349" name="Group 348"/>
              <p:cNvGrpSpPr/>
              <p:nvPr/>
            </p:nvGrpSpPr>
            <p:grpSpPr>
              <a:xfrm>
                <a:off x="11297861" y="5972718"/>
                <a:ext cx="530803" cy="838467"/>
                <a:chOff x="6804940" y="726640"/>
                <a:chExt cx="970054" cy="2481763"/>
              </a:xfrm>
            </p:grpSpPr>
            <p:sp>
              <p:nvSpPr>
                <p:cNvPr id="350" name="Flowchart: Off-page Connector 349"/>
                <p:cNvSpPr/>
                <p:nvPr/>
              </p:nvSpPr>
              <p:spPr>
                <a:xfrm rot="5400000">
                  <a:off x="6049085" y="1482495"/>
                  <a:ext cx="2481763" cy="970054"/>
                </a:xfrm>
                <a:prstGeom prst="flowChartOffpageConnector">
                  <a:avLst/>
                </a:prstGeom>
                <a:ln w="57150">
                  <a:solidFill>
                    <a:srgbClr val="7030A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51" name="Group 350"/>
                <p:cNvGrpSpPr/>
                <p:nvPr/>
              </p:nvGrpSpPr>
              <p:grpSpPr>
                <a:xfrm>
                  <a:off x="7045723" y="988482"/>
                  <a:ext cx="625897" cy="1887435"/>
                  <a:chOff x="7071123" y="1090082"/>
                  <a:chExt cx="625897" cy="1887435"/>
                </a:xfrm>
              </p:grpSpPr>
              <p:grpSp>
                <p:nvGrpSpPr>
                  <p:cNvPr id="352" name="Group 351"/>
                  <p:cNvGrpSpPr/>
                  <p:nvPr/>
                </p:nvGrpSpPr>
                <p:grpSpPr>
                  <a:xfrm>
                    <a:off x="7071124" y="1090082"/>
                    <a:ext cx="625896" cy="1025826"/>
                    <a:chOff x="7071124" y="1090082"/>
                    <a:chExt cx="625896" cy="1025826"/>
                  </a:xfrm>
                </p:grpSpPr>
                <p:grpSp>
                  <p:nvGrpSpPr>
                    <p:cNvPr id="370" name="Group 369"/>
                    <p:cNvGrpSpPr/>
                    <p:nvPr/>
                  </p:nvGrpSpPr>
                  <p:grpSpPr>
                    <a:xfrm>
                      <a:off x="7072672" y="1090082"/>
                      <a:ext cx="624141" cy="374179"/>
                      <a:chOff x="7434851" y="975742"/>
                      <a:chExt cx="663112" cy="1204633"/>
                    </a:xfrm>
                  </p:grpSpPr>
                  <p:sp>
                    <p:nvSpPr>
                      <p:cNvPr id="383" name="Flowchart: Data 382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84" name="Flowchart: Data 383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85" name="Flowchart: Data 384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71" name="Group 370"/>
                    <p:cNvGrpSpPr/>
                    <p:nvPr/>
                  </p:nvGrpSpPr>
                  <p:grpSpPr>
                    <a:xfrm>
                      <a:off x="7071537" y="1300163"/>
                      <a:ext cx="625481" cy="384167"/>
                      <a:chOff x="7434851" y="975742"/>
                      <a:chExt cx="663112" cy="1204633"/>
                    </a:xfrm>
                  </p:grpSpPr>
                  <p:sp>
                    <p:nvSpPr>
                      <p:cNvPr id="380" name="Flowchart: Data 379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81" name="Flowchart: Data 380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82" name="Flowchart: Data 381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72" name="Group 371"/>
                    <p:cNvGrpSpPr/>
                    <p:nvPr/>
                  </p:nvGrpSpPr>
                  <p:grpSpPr>
                    <a:xfrm>
                      <a:off x="7071537" y="1521659"/>
                      <a:ext cx="625481" cy="374179"/>
                      <a:chOff x="7434851" y="975742"/>
                      <a:chExt cx="663112" cy="1204633"/>
                    </a:xfrm>
                  </p:grpSpPr>
                  <p:sp>
                    <p:nvSpPr>
                      <p:cNvPr id="377" name="Flowchart: Data 376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78" name="Flowchart: Data 377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solidFill>
                        <a:schemeClr val="tx1"/>
                      </a:solidFill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79" name="Flowchart: Data 378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73" name="Group 372"/>
                    <p:cNvGrpSpPr/>
                    <p:nvPr/>
                  </p:nvGrpSpPr>
                  <p:grpSpPr>
                    <a:xfrm>
                      <a:off x="7071124" y="1731740"/>
                      <a:ext cx="625896" cy="384168"/>
                      <a:chOff x="7432320" y="975740"/>
                      <a:chExt cx="665643" cy="1204635"/>
                    </a:xfrm>
                  </p:grpSpPr>
                  <p:sp>
                    <p:nvSpPr>
                      <p:cNvPr id="374" name="Flowchart: Data 373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75" name="Flowchart: Data 374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76" name="Flowchart: Data 375"/>
                      <p:cNvSpPr/>
                      <p:nvPr/>
                    </p:nvSpPr>
                    <p:spPr>
                      <a:xfrm rot="16200000">
                        <a:off x="7110099" y="1297961"/>
                        <a:ext cx="867787" cy="223345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353" name="Group 352"/>
                  <p:cNvGrpSpPr/>
                  <p:nvPr/>
                </p:nvGrpSpPr>
                <p:grpSpPr>
                  <a:xfrm>
                    <a:off x="7071123" y="1951692"/>
                    <a:ext cx="625897" cy="1025825"/>
                    <a:chOff x="7071123" y="1090082"/>
                    <a:chExt cx="625897" cy="1025825"/>
                  </a:xfrm>
                </p:grpSpPr>
                <p:grpSp>
                  <p:nvGrpSpPr>
                    <p:cNvPr id="354" name="Group 353"/>
                    <p:cNvGrpSpPr/>
                    <p:nvPr/>
                  </p:nvGrpSpPr>
                  <p:grpSpPr>
                    <a:xfrm>
                      <a:off x="7072672" y="1090082"/>
                      <a:ext cx="624141" cy="374179"/>
                      <a:chOff x="7434851" y="975742"/>
                      <a:chExt cx="663112" cy="1204633"/>
                    </a:xfrm>
                  </p:grpSpPr>
                  <p:sp>
                    <p:nvSpPr>
                      <p:cNvPr id="367" name="Flowchart: Data 366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solidFill>
                        <a:schemeClr val="tx1"/>
                      </a:solidFill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8" name="Flowchart: Data 367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9" name="Flowchart: Data 368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55" name="Group 354"/>
                    <p:cNvGrpSpPr/>
                    <p:nvPr/>
                  </p:nvGrpSpPr>
                  <p:grpSpPr>
                    <a:xfrm>
                      <a:off x="7071537" y="1300163"/>
                      <a:ext cx="625481" cy="384167"/>
                      <a:chOff x="7434851" y="975742"/>
                      <a:chExt cx="663112" cy="1204633"/>
                    </a:xfrm>
                  </p:grpSpPr>
                  <p:sp>
                    <p:nvSpPr>
                      <p:cNvPr id="364" name="Flowchart: Data 363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5" name="Flowchart: Data 364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6" name="Flowchart: Data 365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56" name="Group 355"/>
                    <p:cNvGrpSpPr/>
                    <p:nvPr/>
                  </p:nvGrpSpPr>
                  <p:grpSpPr>
                    <a:xfrm>
                      <a:off x="7071537" y="1521659"/>
                      <a:ext cx="625481" cy="374179"/>
                      <a:chOff x="7434851" y="975742"/>
                      <a:chExt cx="663112" cy="1204633"/>
                    </a:xfrm>
                  </p:grpSpPr>
                  <p:sp>
                    <p:nvSpPr>
                      <p:cNvPr id="361" name="Flowchart: Data 360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2" name="Flowchart: Data 361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3" name="Flowchart: Data 362"/>
                      <p:cNvSpPr/>
                      <p:nvPr/>
                    </p:nvSpPr>
                    <p:spPr>
                      <a:xfrm rot="16200000">
                        <a:off x="7112631" y="1297962"/>
                        <a:ext cx="867786" cy="223346"/>
                      </a:xfrm>
                      <a:prstGeom prst="flowChartInputOutput">
                        <a:avLst/>
                      </a:prstGeom>
                      <a:solidFill>
                        <a:schemeClr val="tx1"/>
                      </a:solidFill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57" name="Group 356"/>
                    <p:cNvGrpSpPr/>
                    <p:nvPr/>
                  </p:nvGrpSpPr>
                  <p:grpSpPr>
                    <a:xfrm>
                      <a:off x="7071123" y="1729359"/>
                      <a:ext cx="625897" cy="386548"/>
                      <a:chOff x="7432319" y="968276"/>
                      <a:chExt cx="665644" cy="1212099"/>
                    </a:xfrm>
                  </p:grpSpPr>
                  <p:sp>
                    <p:nvSpPr>
                      <p:cNvPr id="358" name="Flowchart: Data 357"/>
                      <p:cNvSpPr/>
                      <p:nvPr/>
                    </p:nvSpPr>
                    <p:spPr>
                      <a:xfrm rot="16200000">
                        <a:off x="7559115" y="1641526"/>
                        <a:ext cx="858716" cy="218981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59" name="Flowchart: Data 358"/>
                      <p:cNvSpPr/>
                      <p:nvPr/>
                    </p:nvSpPr>
                    <p:spPr>
                      <a:xfrm rot="16200000">
                        <a:off x="7333448" y="1468703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0" name="Flowchart: Data 359"/>
                      <p:cNvSpPr/>
                      <p:nvPr/>
                    </p:nvSpPr>
                    <p:spPr>
                      <a:xfrm rot="16200000">
                        <a:off x="7110099" y="1290496"/>
                        <a:ext cx="867786" cy="223346"/>
                      </a:xfrm>
                      <a:prstGeom prst="flowChartInputOutput">
                        <a:avLst/>
                      </a:prstGeom>
                      <a:ln w="28575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</p:grpSp>
          <p:grpSp>
            <p:nvGrpSpPr>
              <p:cNvPr id="101" name="Group 100"/>
              <p:cNvGrpSpPr/>
              <p:nvPr/>
            </p:nvGrpSpPr>
            <p:grpSpPr>
              <a:xfrm>
                <a:off x="11291535" y="7072956"/>
                <a:ext cx="520602" cy="986502"/>
                <a:chOff x="11246621" y="7032636"/>
                <a:chExt cx="520602" cy="986502"/>
              </a:xfrm>
            </p:grpSpPr>
            <p:sp>
              <p:nvSpPr>
                <p:cNvPr id="387" name="Flowchart: Delay 386"/>
                <p:cNvSpPr/>
                <p:nvPr/>
              </p:nvSpPr>
              <p:spPr>
                <a:xfrm rot="10800000">
                  <a:off x="11246621" y="7032636"/>
                  <a:ext cx="520602" cy="986502"/>
                </a:xfrm>
                <a:prstGeom prst="flowChartDelay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89" name="Group 388"/>
                <p:cNvGrpSpPr/>
                <p:nvPr/>
              </p:nvGrpSpPr>
              <p:grpSpPr>
                <a:xfrm>
                  <a:off x="11419673" y="7577185"/>
                  <a:ext cx="273318" cy="188986"/>
                  <a:chOff x="7090174" y="3817040"/>
                  <a:chExt cx="520541" cy="348293"/>
                </a:xfrm>
              </p:grpSpPr>
              <p:grpSp>
                <p:nvGrpSpPr>
                  <p:cNvPr id="401" name="Group 400"/>
                  <p:cNvGrpSpPr/>
                  <p:nvPr/>
                </p:nvGrpSpPr>
                <p:grpSpPr>
                  <a:xfrm>
                    <a:off x="7090174" y="3819956"/>
                    <a:ext cx="161526" cy="345377"/>
                    <a:chOff x="7058424" y="3819956"/>
                    <a:chExt cx="161526" cy="345377"/>
                  </a:xfrm>
                </p:grpSpPr>
                <p:cxnSp>
                  <p:nvCxnSpPr>
                    <p:cNvPr id="406" name="Straight Connector 405"/>
                    <p:cNvCxnSpPr/>
                    <p:nvPr/>
                  </p:nvCxnSpPr>
                  <p:spPr>
                    <a:xfrm flipH="1">
                      <a:off x="7058425" y="3990761"/>
                      <a:ext cx="161525" cy="174572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7" name="Straight Connector 406"/>
                    <p:cNvCxnSpPr/>
                    <p:nvPr/>
                  </p:nvCxnSpPr>
                  <p:spPr>
                    <a:xfrm flipH="1" flipV="1">
                      <a:off x="7058424" y="3819953"/>
                      <a:ext cx="161526" cy="170808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02" name="Group 401"/>
                  <p:cNvGrpSpPr/>
                  <p:nvPr/>
                </p:nvGrpSpPr>
                <p:grpSpPr>
                  <a:xfrm rot="10800000">
                    <a:off x="7449189" y="3817040"/>
                    <a:ext cx="161526" cy="345380"/>
                    <a:chOff x="7058424" y="3819953"/>
                    <a:chExt cx="161526" cy="345380"/>
                  </a:xfrm>
                </p:grpSpPr>
                <p:cxnSp>
                  <p:nvCxnSpPr>
                    <p:cNvPr id="404" name="Straight Connector 403"/>
                    <p:cNvCxnSpPr/>
                    <p:nvPr/>
                  </p:nvCxnSpPr>
                  <p:spPr>
                    <a:xfrm flipH="1">
                      <a:off x="7058425" y="3990761"/>
                      <a:ext cx="161525" cy="174572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5" name="Straight Connector 404"/>
                    <p:cNvCxnSpPr/>
                    <p:nvPr/>
                  </p:nvCxnSpPr>
                  <p:spPr>
                    <a:xfrm flipH="1" flipV="1">
                      <a:off x="7058424" y="3819953"/>
                      <a:ext cx="161526" cy="170808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03" name="Straight Connector 402"/>
                  <p:cNvCxnSpPr/>
                  <p:nvPr/>
                </p:nvCxnSpPr>
                <p:spPr>
                  <a:xfrm>
                    <a:off x="7219951" y="3986708"/>
                    <a:ext cx="25781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0" name="Group 389"/>
                <p:cNvGrpSpPr/>
                <p:nvPr/>
              </p:nvGrpSpPr>
              <p:grpSpPr>
                <a:xfrm>
                  <a:off x="11409452" y="7194410"/>
                  <a:ext cx="273318" cy="188986"/>
                  <a:chOff x="7090174" y="3817040"/>
                  <a:chExt cx="520541" cy="348293"/>
                </a:xfrm>
              </p:grpSpPr>
              <p:grpSp>
                <p:nvGrpSpPr>
                  <p:cNvPr id="394" name="Group 393"/>
                  <p:cNvGrpSpPr/>
                  <p:nvPr/>
                </p:nvGrpSpPr>
                <p:grpSpPr>
                  <a:xfrm>
                    <a:off x="7090174" y="3819953"/>
                    <a:ext cx="161526" cy="345380"/>
                    <a:chOff x="7058424" y="3819953"/>
                    <a:chExt cx="161526" cy="345380"/>
                  </a:xfrm>
                </p:grpSpPr>
                <p:cxnSp>
                  <p:nvCxnSpPr>
                    <p:cNvPr id="399" name="Straight Connector 398"/>
                    <p:cNvCxnSpPr/>
                    <p:nvPr/>
                  </p:nvCxnSpPr>
                  <p:spPr>
                    <a:xfrm flipH="1">
                      <a:off x="7058425" y="3990761"/>
                      <a:ext cx="161525" cy="174572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0" name="Straight Connector 399"/>
                    <p:cNvCxnSpPr/>
                    <p:nvPr/>
                  </p:nvCxnSpPr>
                  <p:spPr>
                    <a:xfrm flipH="1" flipV="1">
                      <a:off x="7058424" y="3819953"/>
                      <a:ext cx="161526" cy="170808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95" name="Group 394"/>
                  <p:cNvGrpSpPr/>
                  <p:nvPr/>
                </p:nvGrpSpPr>
                <p:grpSpPr>
                  <a:xfrm rot="10800000">
                    <a:off x="7449189" y="3817040"/>
                    <a:ext cx="161526" cy="345380"/>
                    <a:chOff x="7058424" y="3819953"/>
                    <a:chExt cx="161526" cy="345380"/>
                  </a:xfrm>
                </p:grpSpPr>
                <p:cxnSp>
                  <p:nvCxnSpPr>
                    <p:cNvPr id="397" name="Straight Connector 396"/>
                    <p:cNvCxnSpPr/>
                    <p:nvPr/>
                  </p:nvCxnSpPr>
                  <p:spPr>
                    <a:xfrm flipH="1">
                      <a:off x="7058425" y="3990761"/>
                      <a:ext cx="161525" cy="174572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8" name="Straight Connector 397"/>
                    <p:cNvCxnSpPr/>
                    <p:nvPr/>
                  </p:nvCxnSpPr>
                  <p:spPr>
                    <a:xfrm flipH="1" flipV="1">
                      <a:off x="7058424" y="3819953"/>
                      <a:ext cx="161526" cy="170808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oval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96" name="Straight Connector 395"/>
                  <p:cNvCxnSpPr/>
                  <p:nvPr/>
                </p:nvCxnSpPr>
                <p:spPr>
                  <a:xfrm>
                    <a:off x="7219950" y="3986709"/>
                    <a:ext cx="257814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92" name="Straight Connector 391"/>
                <p:cNvCxnSpPr/>
                <p:nvPr/>
              </p:nvCxnSpPr>
              <p:spPr>
                <a:xfrm>
                  <a:off x="11562007" y="7384726"/>
                  <a:ext cx="0" cy="157427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/>
                <p:cNvCxnSpPr/>
                <p:nvPr/>
              </p:nvCxnSpPr>
              <p:spPr>
                <a:xfrm>
                  <a:off x="11553362" y="7796063"/>
                  <a:ext cx="0" cy="157427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TextBox 101"/>
              <p:cNvSpPr txBox="1"/>
              <p:nvPr/>
            </p:nvSpPr>
            <p:spPr>
              <a:xfrm>
                <a:off x="11836503" y="6213592"/>
                <a:ext cx="1080745" cy="399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Masking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5" name="TextBox 414"/>
              <p:cNvSpPr txBox="1"/>
              <p:nvPr/>
            </p:nvSpPr>
            <p:spPr>
              <a:xfrm>
                <a:off x="11798403" y="7054151"/>
                <a:ext cx="1167307" cy="10137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Quartet</a:t>
                </a:r>
              </a:p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Encoding</a:t>
                </a:r>
              </a:p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Module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13135414" y="6147958"/>
              <a:ext cx="1014976" cy="530765"/>
              <a:chOff x="1066569" y="6877410"/>
              <a:chExt cx="1182959" cy="611527"/>
            </a:xfrm>
          </p:grpSpPr>
          <p:sp>
            <p:nvSpPr>
              <p:cNvPr id="417" name="Rectangle 416"/>
              <p:cNvSpPr/>
              <p:nvPr/>
            </p:nvSpPr>
            <p:spPr>
              <a:xfrm>
                <a:off x="1066569" y="6877410"/>
                <a:ext cx="1182959" cy="611527"/>
              </a:xfrm>
              <a:prstGeom prst="rect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Freeform 417"/>
              <p:cNvSpPr/>
              <p:nvPr/>
            </p:nvSpPr>
            <p:spPr>
              <a:xfrm>
                <a:off x="1073034" y="6962474"/>
                <a:ext cx="1171576" cy="457226"/>
              </a:xfrm>
              <a:custGeom>
                <a:avLst/>
                <a:gdLst>
                  <a:gd name="connsiteX0" fmla="*/ 0 w 1171575"/>
                  <a:gd name="connsiteY0" fmla="*/ 581082 h 609660"/>
                  <a:gd name="connsiteX1" fmla="*/ 352425 w 1171575"/>
                  <a:gd name="connsiteY1" fmla="*/ 57 h 609660"/>
                  <a:gd name="connsiteX2" fmla="*/ 819150 w 1171575"/>
                  <a:gd name="connsiteY2" fmla="*/ 609657 h 609660"/>
                  <a:gd name="connsiteX3" fmla="*/ 1171575 w 1171575"/>
                  <a:gd name="connsiteY3" fmla="*/ 9582 h 609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609660">
                    <a:moveTo>
                      <a:pt x="0" y="581082"/>
                    </a:moveTo>
                    <a:cubicBezTo>
                      <a:pt x="107950" y="288188"/>
                      <a:pt x="215900" y="-4706"/>
                      <a:pt x="352425" y="57"/>
                    </a:cubicBezTo>
                    <a:cubicBezTo>
                      <a:pt x="488950" y="4819"/>
                      <a:pt x="682625" y="608070"/>
                      <a:pt x="819150" y="609657"/>
                    </a:cubicBezTo>
                    <a:cubicBezTo>
                      <a:pt x="955675" y="611244"/>
                      <a:pt x="1119187" y="103245"/>
                      <a:pt x="1171575" y="9582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9" name="TextBox 418"/>
            <p:cNvSpPr txBox="1"/>
            <p:nvPr/>
          </p:nvSpPr>
          <p:spPr>
            <a:xfrm>
              <a:off x="14145994" y="5944201"/>
              <a:ext cx="1199046" cy="1013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Positional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Encoding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" name="Flowchart: Or 419"/>
            <p:cNvSpPr/>
            <p:nvPr/>
          </p:nvSpPr>
          <p:spPr>
            <a:xfrm>
              <a:off x="13366454" y="7322412"/>
              <a:ext cx="482550" cy="436781"/>
            </a:xfrm>
            <a:prstGeom prst="flowChartOr">
              <a:avLst/>
            </a:prstGeom>
            <a:ln w="57150"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13847268" y="7206551"/>
              <a:ext cx="1591333" cy="706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</a:t>
              </a:r>
            </a:p>
            <a:p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Addition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6" name="TextBox 385"/>
          <p:cNvSpPr txBox="1"/>
          <p:nvPr/>
        </p:nvSpPr>
        <p:spPr>
          <a:xfrm>
            <a:off x="2394817" y="5042352"/>
            <a:ext cx="1279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Reshaped</a:t>
            </a:r>
          </a:p>
          <a:p>
            <a:pPr algn="ctr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b="1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3600" b="1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10218438" y="5809909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 smtClean="0"/>
              <a:t>q̂</a:t>
            </a:r>
            <a:r>
              <a:rPr lang="en-US" sz="2400" i="1" baseline="-25000" dirty="0" err="1">
                <a:cs typeface="Times New Roman" panose="02020603050405020304" pitchFamily="18" charset="0"/>
              </a:rPr>
              <a:t>j</a:t>
            </a:r>
            <a:endParaRPr lang="en-US" sz="2400" i="1" baseline="-25000" dirty="0">
              <a:cs typeface="Times New Roman" panose="02020603050405020304" pitchFamily="18" charset="0"/>
            </a:endParaRPr>
          </a:p>
        </p:txBody>
      </p:sp>
      <p:sp>
        <p:nvSpPr>
          <p:cNvPr id="391" name="TextBox 390"/>
          <p:cNvSpPr txBox="1"/>
          <p:nvPr/>
        </p:nvSpPr>
        <p:spPr>
          <a:xfrm>
            <a:off x="10219186" y="6624504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 smtClean="0"/>
              <a:t>q̂</a:t>
            </a:r>
            <a:r>
              <a:rPr lang="en-US" sz="2400" i="1" baseline="-25000" dirty="0" err="1" smtClean="0">
                <a:cs typeface="Times New Roman" panose="02020603050405020304" pitchFamily="18" charset="0"/>
              </a:rPr>
              <a:t>k</a:t>
            </a:r>
            <a:endParaRPr lang="en-US" sz="2400" i="1" baseline="-25000" dirty="0">
              <a:cs typeface="Times New Roman" panose="02020603050405020304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2160904" y="-59082"/>
            <a:ext cx="2547156" cy="4344727"/>
            <a:chOff x="12027554" y="-59082"/>
            <a:chExt cx="2547156" cy="4344727"/>
          </a:xfrm>
        </p:grpSpPr>
        <p:grpSp>
          <p:nvGrpSpPr>
            <p:cNvPr id="32" name="Group 31"/>
            <p:cNvGrpSpPr/>
            <p:nvPr/>
          </p:nvGrpSpPr>
          <p:grpSpPr>
            <a:xfrm>
              <a:off x="12104212" y="-59082"/>
              <a:ext cx="2470498" cy="4344727"/>
              <a:chOff x="8686417" y="556110"/>
              <a:chExt cx="2470498" cy="4344727"/>
            </a:xfrm>
          </p:grpSpPr>
          <p:sp>
            <p:nvSpPr>
              <p:cNvPr id="85" name="TextBox 84"/>
              <p:cNvSpPr txBox="1"/>
              <p:nvPr/>
            </p:nvSpPr>
            <p:spPr>
              <a:xfrm>
                <a:off x="8686417" y="3762064"/>
                <a:ext cx="2342501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 </a:t>
                </a:r>
                <a:r>
                  <a:rPr lang="en-US" sz="2800" b="1" i="1" dirty="0" smtClean="0">
                    <a:latin typeface="Century Schoolbook" panose="02040604050505020304" pitchFamily="18" charset="0"/>
                  </a:rPr>
                  <a:t>Q</a:t>
                </a:r>
                <a:r>
                  <a:rPr lang="en-US" sz="28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four-taxa-set </a:t>
                </a:r>
              </a:p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</p:txBody>
          </p:sp>
          <p:grpSp>
            <p:nvGrpSpPr>
              <p:cNvPr id="255" name="Group 254"/>
              <p:cNvGrpSpPr/>
              <p:nvPr/>
            </p:nvGrpSpPr>
            <p:grpSpPr>
              <a:xfrm>
                <a:off x="9069935" y="556110"/>
                <a:ext cx="2086980" cy="3301520"/>
                <a:chOff x="9069935" y="556110"/>
                <a:chExt cx="2086980" cy="330152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9106589" y="1211413"/>
                  <a:ext cx="1204029" cy="264621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/>
                </a:p>
              </p:txBody>
            </p:sp>
            <p:grpSp>
              <p:nvGrpSpPr>
                <p:cNvPr id="17" name="Group 16"/>
                <p:cNvGrpSpPr/>
                <p:nvPr/>
              </p:nvGrpSpPr>
              <p:grpSpPr>
                <a:xfrm>
                  <a:off x="9145524" y="1250555"/>
                  <a:ext cx="1122885" cy="327607"/>
                  <a:chOff x="3824287" y="1995689"/>
                  <a:chExt cx="1092993" cy="318886"/>
                </a:xfrm>
              </p:grpSpPr>
              <p:sp>
                <p:nvSpPr>
                  <p:cNvPr id="10" name="Rectangle 9"/>
                  <p:cNvSpPr/>
                  <p:nvPr/>
                </p:nvSpPr>
                <p:spPr>
                  <a:xfrm>
                    <a:off x="3824287" y="19956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2" name="Straight Connector 11"/>
                  <p:cNvCxnSpPr/>
                  <p:nvPr/>
                </p:nvCxnSpPr>
                <p:spPr>
                  <a:xfrm flipH="1">
                    <a:off x="4179094" y="20169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Connector 13"/>
                  <p:cNvCxnSpPr/>
                  <p:nvPr/>
                </p:nvCxnSpPr>
                <p:spPr>
                  <a:xfrm>
                    <a:off x="4555331" y="20169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9145522" y="2082322"/>
                  <a:ext cx="1122885" cy="327607"/>
                  <a:chOff x="3976687" y="2148089"/>
                  <a:chExt cx="1092993" cy="318886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20" name="Straight Connector 19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9145522" y="2885049"/>
                  <a:ext cx="1122885" cy="327607"/>
                  <a:chOff x="3976687" y="2148089"/>
                  <a:chExt cx="1092993" cy="318886"/>
                </a:xfrm>
                <a:solidFill>
                  <a:srgbClr val="FEE8E8"/>
                </a:solidFill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grpFill/>
                  <a:ln>
                    <a:solidFill>
                      <a:srgbClr val="CE0C0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233" dirty="0">
                      <a:solidFill>
                        <a:srgbClr val="CE0C0C"/>
                      </a:solidFill>
                    </a:endParaRPr>
                  </a:p>
                </p:txBody>
              </p:sp>
              <p:cxnSp>
                <p:nvCxnSpPr>
                  <p:cNvPr id="25" name="Straight Connector 24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9716738" y="1691677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9706953" y="2501254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9705727" y="3320290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/>
                <p:cNvSpPr txBox="1"/>
                <p:nvPr/>
              </p:nvSpPr>
              <p:spPr>
                <a:xfrm>
                  <a:off x="9093523" y="289420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9485919" y="2903988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9853935" y="289685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9180215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9562826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9947151" y="1256059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9181399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9564010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9948335" y="2084952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>
                <a:xfrm flipH="1">
                  <a:off x="10710605" y="1127960"/>
                  <a:ext cx="26095" cy="2646217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>
                  <a:off x="9069935" y="961927"/>
                  <a:ext cx="1269369" cy="8368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/>
                <p:cNvSpPr txBox="1"/>
                <p:nvPr/>
              </p:nvSpPr>
              <p:spPr>
                <a:xfrm>
                  <a:off x="9205431" y="556110"/>
                  <a:ext cx="1019831" cy="407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quartets</a:t>
                  </a:r>
                  <a:endParaRPr lang="en-US" sz="205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 rot="5400000">
                  <a:off x="10330086" y="2423730"/>
                  <a:ext cx="1245854" cy="407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gene trees</a:t>
                  </a:r>
                </a:p>
              </p:txBody>
            </p:sp>
          </p:grpSp>
        </p:grpSp>
        <p:cxnSp>
          <p:nvCxnSpPr>
            <p:cNvPr id="464" name="Straight Connector 463"/>
            <p:cNvCxnSpPr>
              <a:stCxn id="322" idx="3"/>
              <a:endCxn id="4" idx="1"/>
            </p:cNvCxnSpPr>
            <p:nvPr/>
          </p:nvCxnSpPr>
          <p:spPr>
            <a:xfrm flipV="1">
              <a:off x="12027554" y="1919330"/>
              <a:ext cx="496830" cy="13785"/>
            </a:xfrm>
            <a:prstGeom prst="line">
              <a:avLst/>
            </a:prstGeom>
            <a:ln w="57150"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TextBox 410"/>
            <p:cNvSpPr txBox="1"/>
            <p:nvPr/>
          </p:nvSpPr>
          <p:spPr>
            <a:xfrm>
              <a:off x="13699624" y="50238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smtClean="0">
                  <a:cs typeface="Times New Roman" panose="02020603050405020304" pitchFamily="18" charset="0"/>
                </a:rPr>
                <a:t>1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13694661" y="1323958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13709417" y="2170608"/>
              <a:ext cx="4363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k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000745" y="110932"/>
            <a:ext cx="660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(b)</a:t>
            </a:r>
            <a:endParaRPr lang="en-US" sz="3200" b="1" dirty="0"/>
          </a:p>
        </p:txBody>
      </p:sp>
      <p:sp>
        <p:nvSpPr>
          <p:cNvPr id="408" name="TextBox 407"/>
          <p:cNvSpPr txBox="1"/>
          <p:nvPr/>
        </p:nvSpPr>
        <p:spPr>
          <a:xfrm>
            <a:off x="11096108" y="53542"/>
            <a:ext cx="6431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(a)</a:t>
            </a:r>
            <a:endParaRPr lang="en-US" sz="3200" b="1" dirty="0"/>
          </a:p>
        </p:txBody>
      </p:sp>
      <p:sp>
        <p:nvSpPr>
          <p:cNvPr id="409" name="TextBox 408"/>
          <p:cNvSpPr txBox="1"/>
          <p:nvPr/>
        </p:nvSpPr>
        <p:spPr>
          <a:xfrm>
            <a:off x="2676933" y="72016"/>
            <a:ext cx="612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(c)</a:t>
            </a:r>
            <a:endParaRPr lang="en-US" sz="3200" b="1" dirty="0"/>
          </a:p>
        </p:txBody>
      </p:sp>
      <p:sp>
        <p:nvSpPr>
          <p:cNvPr id="410" name="TextBox 409"/>
          <p:cNvSpPr txBox="1"/>
          <p:nvPr/>
        </p:nvSpPr>
        <p:spPr>
          <a:xfrm>
            <a:off x="1310387" y="6687457"/>
            <a:ext cx="660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(d)</a:t>
            </a:r>
            <a:endParaRPr lang="en-US" sz="3200" b="1" dirty="0"/>
          </a:p>
        </p:txBody>
      </p:sp>
      <p:sp>
        <p:nvSpPr>
          <p:cNvPr id="414" name="TextBox 413"/>
          <p:cNvSpPr txBox="1"/>
          <p:nvPr/>
        </p:nvSpPr>
        <p:spPr>
          <a:xfrm>
            <a:off x="5380700" y="4856129"/>
            <a:ext cx="647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(e)</a:t>
            </a:r>
            <a:endParaRPr lang="en-US" sz="3200" b="1" dirty="0"/>
          </a:p>
        </p:txBody>
      </p:sp>
      <p:sp>
        <p:nvSpPr>
          <p:cNvPr id="416" name="TextBox 415"/>
          <p:cNvSpPr txBox="1"/>
          <p:nvPr/>
        </p:nvSpPr>
        <p:spPr>
          <a:xfrm>
            <a:off x="10866408" y="4435745"/>
            <a:ext cx="577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(f)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63246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26298" y="4769049"/>
            <a:ext cx="2366482" cy="3484400"/>
            <a:chOff x="8451801" y="4992232"/>
            <a:chExt cx="2366482" cy="3484400"/>
          </a:xfrm>
        </p:grpSpPr>
        <p:sp>
          <p:nvSpPr>
            <p:cNvPr id="194" name="Rectangle 193"/>
            <p:cNvSpPr/>
            <p:nvPr/>
          </p:nvSpPr>
          <p:spPr>
            <a:xfrm>
              <a:off x="8997876" y="5031394"/>
              <a:ext cx="1204029" cy="264621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/>
            </a:p>
          </p:txBody>
        </p:sp>
        <p:grpSp>
          <p:nvGrpSpPr>
            <p:cNvPr id="195" name="Group 194"/>
            <p:cNvGrpSpPr/>
            <p:nvPr/>
          </p:nvGrpSpPr>
          <p:grpSpPr>
            <a:xfrm>
              <a:off x="9036811" y="5070536"/>
              <a:ext cx="1122885" cy="327607"/>
              <a:chOff x="3824287" y="1995689"/>
              <a:chExt cx="1092993" cy="318886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204" name="Rectangle 203"/>
              <p:cNvSpPr/>
              <p:nvPr/>
            </p:nvSpPr>
            <p:spPr>
              <a:xfrm>
                <a:off x="3824287" y="1995689"/>
                <a:ext cx="1092993" cy="318886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7" name="Straight Connector 206"/>
              <p:cNvCxnSpPr/>
              <p:nvPr/>
            </p:nvCxnSpPr>
            <p:spPr>
              <a:xfrm flipH="1">
                <a:off x="4179094" y="20169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/>
              <p:cNvCxnSpPr/>
              <p:nvPr/>
            </p:nvCxnSpPr>
            <p:spPr>
              <a:xfrm>
                <a:off x="4555331" y="2016916"/>
                <a:ext cx="0" cy="278807"/>
              </a:xfrm>
              <a:prstGeom prst="line">
                <a:avLst/>
              </a:prstGeom>
              <a:grpFill/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" name="Group 217"/>
            <p:cNvGrpSpPr/>
            <p:nvPr/>
          </p:nvGrpSpPr>
          <p:grpSpPr>
            <a:xfrm>
              <a:off x="9036810" y="6705030"/>
              <a:ext cx="1122885" cy="327607"/>
              <a:chOff x="3976687" y="2148089"/>
              <a:chExt cx="1092993" cy="318886"/>
            </a:xfrm>
            <a:solidFill>
              <a:srgbClr val="FEE8E8"/>
            </a:solidFill>
          </p:grpSpPr>
          <p:sp>
            <p:nvSpPr>
              <p:cNvPr id="219" name="Rectangle 218"/>
              <p:cNvSpPr/>
              <p:nvPr/>
            </p:nvSpPr>
            <p:spPr>
              <a:xfrm>
                <a:off x="3976687" y="2148089"/>
                <a:ext cx="1092993" cy="318886"/>
              </a:xfrm>
              <a:prstGeom prst="rect">
                <a:avLst/>
              </a:prstGeom>
              <a:grp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33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0" name="Straight Connector 219"/>
              <p:cNvCxnSpPr/>
              <p:nvPr/>
            </p:nvCxnSpPr>
            <p:spPr>
              <a:xfrm flipH="1">
                <a:off x="4331494" y="21693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/>
              <p:cNvCxnSpPr/>
              <p:nvPr/>
            </p:nvCxnSpPr>
            <p:spPr>
              <a:xfrm>
                <a:off x="4707731" y="2169316"/>
                <a:ext cx="0" cy="278807"/>
              </a:xfrm>
              <a:prstGeom prst="line">
                <a:avLst/>
              </a:prstGeom>
              <a:grpFill/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2" name="Straight Connector 221"/>
            <p:cNvCxnSpPr/>
            <p:nvPr/>
          </p:nvCxnSpPr>
          <p:spPr>
            <a:xfrm>
              <a:off x="9608025" y="5511658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>
              <a:off x="9598240" y="6321235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9597014" y="7140271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TextBox 224"/>
            <p:cNvSpPr txBox="1"/>
            <p:nvPr/>
          </p:nvSpPr>
          <p:spPr>
            <a:xfrm>
              <a:off x="9017416" y="5076037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0.2</a:t>
              </a: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9396054" y="5076648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0.7</a:t>
              </a: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9761329" y="5076037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0.1</a:t>
              </a: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8451801" y="7645635"/>
              <a:ext cx="236648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Predicted QE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matrix</a:t>
              </a: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800" b="1" i="1" dirty="0" err="1" smtClean="0">
                  <a:solidFill>
                    <a:prstClr val="black"/>
                  </a:solidFill>
                  <a:latin typeface="Century Schoolbook" panose="02040604050505020304" pitchFamily="18" charset="0"/>
                </a:rPr>
                <a:t>Q</a:t>
              </a:r>
              <a:r>
                <a:rPr lang="en-US" sz="2800" b="1" i="1" baseline="-25000" dirty="0" err="1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800" b="1" i="1" baseline="30000" dirty="0" err="1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pred</a:t>
              </a:r>
              <a:endParaRPr lang="en-US" sz="205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9" name="Group 228"/>
            <p:cNvGrpSpPr/>
            <p:nvPr/>
          </p:nvGrpSpPr>
          <p:grpSpPr>
            <a:xfrm>
              <a:off x="9036810" y="5899223"/>
              <a:ext cx="1122885" cy="327607"/>
              <a:chOff x="3976687" y="2148089"/>
              <a:chExt cx="1092993" cy="318886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230" name="Rectangle 229"/>
              <p:cNvSpPr/>
              <p:nvPr/>
            </p:nvSpPr>
            <p:spPr>
              <a:xfrm>
                <a:off x="3976687" y="2148089"/>
                <a:ext cx="1092993" cy="318886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33" dirty="0">
                  <a:solidFill>
                    <a:srgbClr val="CE0C0C"/>
                  </a:solidFill>
                </a:endParaRPr>
              </a:p>
            </p:txBody>
          </p:sp>
          <p:cxnSp>
            <p:nvCxnSpPr>
              <p:cNvPr id="231" name="Straight Connector 230"/>
              <p:cNvCxnSpPr/>
              <p:nvPr/>
            </p:nvCxnSpPr>
            <p:spPr>
              <a:xfrm flipH="1">
                <a:off x="4331494" y="2169316"/>
                <a:ext cx="2381" cy="278807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/>
              <p:cNvCxnSpPr/>
              <p:nvPr/>
            </p:nvCxnSpPr>
            <p:spPr>
              <a:xfrm>
                <a:off x="4707731" y="2169316"/>
                <a:ext cx="0" cy="278807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3" name="TextBox 232"/>
            <p:cNvSpPr txBox="1"/>
            <p:nvPr/>
          </p:nvSpPr>
          <p:spPr>
            <a:xfrm>
              <a:off x="8965564" y="5904590"/>
              <a:ext cx="510076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0.15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9347914" y="5909482"/>
              <a:ext cx="510076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0.15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9764270" y="5916861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0.7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8982450" y="6666532"/>
              <a:ext cx="5132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</a:rPr>
                <a:t>0.6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9388391" y="6711365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0.2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9766193" y="6704230"/>
              <a:ext cx="417102" cy="3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38" dirty="0">
                  <a:solidFill>
                    <a:schemeClr val="accent5">
                      <a:lumMod val="75000"/>
                    </a:schemeClr>
                  </a:solidFill>
                </a:rPr>
                <a:t>0.1</a:t>
              </a:r>
              <a:endParaRPr lang="en-US" sz="1644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10182010" y="4992232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smtClean="0"/>
                <a:t>q̂</a:t>
              </a:r>
              <a:r>
                <a:rPr lang="en-US" sz="2400" i="1" baseline="-25000" dirty="0" smtClean="0">
                  <a:cs typeface="Times New Roman" panose="02020603050405020304" pitchFamily="18" charset="0"/>
                </a:rPr>
                <a:t>1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88" name="TextBox 387"/>
            <p:cNvSpPr txBox="1"/>
            <p:nvPr/>
          </p:nvSpPr>
          <p:spPr>
            <a:xfrm>
              <a:off x="10180338" y="5809909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/>
                <a:t>q̂</a:t>
              </a:r>
              <a:r>
                <a:rPr lang="en-US" sz="2400" i="1" baseline="-25000" dirty="0" err="1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91" name="TextBox 390"/>
            <p:cNvSpPr txBox="1"/>
            <p:nvPr/>
          </p:nvSpPr>
          <p:spPr>
            <a:xfrm>
              <a:off x="10181086" y="6624504"/>
              <a:ext cx="4363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/>
                <a:t>q̂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k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-38679" y="64770"/>
            <a:ext cx="2774557" cy="4425333"/>
            <a:chOff x="11766606" y="-59082"/>
            <a:chExt cx="2774557" cy="4425333"/>
          </a:xfrm>
        </p:grpSpPr>
        <p:grpSp>
          <p:nvGrpSpPr>
            <p:cNvPr id="32" name="Group 31"/>
            <p:cNvGrpSpPr/>
            <p:nvPr/>
          </p:nvGrpSpPr>
          <p:grpSpPr>
            <a:xfrm>
              <a:off x="11766606" y="-59082"/>
              <a:ext cx="2774557" cy="4425333"/>
              <a:chOff x="8348811" y="556110"/>
              <a:chExt cx="2774557" cy="4425333"/>
            </a:xfrm>
          </p:grpSpPr>
          <p:sp>
            <p:nvSpPr>
              <p:cNvPr id="85" name="TextBox 84"/>
              <p:cNvSpPr txBox="1"/>
              <p:nvPr/>
            </p:nvSpPr>
            <p:spPr>
              <a:xfrm>
                <a:off x="8401468" y="3781114"/>
                <a:ext cx="272190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 </a:t>
                </a:r>
                <a:r>
                  <a:rPr lang="en-US" sz="2800" b="1" i="1" dirty="0" smtClean="0">
                    <a:latin typeface="Century Schoolbook" panose="02040604050505020304" pitchFamily="18" charset="0"/>
                  </a:rPr>
                  <a:t>Q</a:t>
                </a:r>
                <a:r>
                  <a:rPr lang="en-US" sz="28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i="1" dirty="0" smtClean="0">
                    <a:latin typeface="Georgia" panose="02040502050405020303" pitchFamily="18" charset="0"/>
                  </a:rPr>
                  <a:t> </a:t>
                </a:r>
                <a:endParaRPr lang="en-US" sz="2000" i="1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-th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four-taxa-set </a:t>
                </a:r>
              </a:p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0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</p:txBody>
          </p:sp>
          <p:grpSp>
            <p:nvGrpSpPr>
              <p:cNvPr id="255" name="Group 254"/>
              <p:cNvGrpSpPr/>
              <p:nvPr/>
            </p:nvGrpSpPr>
            <p:grpSpPr>
              <a:xfrm>
                <a:off x="8348811" y="556110"/>
                <a:ext cx="1990493" cy="3301520"/>
                <a:chOff x="8348811" y="556110"/>
                <a:chExt cx="1990493" cy="330152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9106589" y="1211413"/>
                  <a:ext cx="1204029" cy="264621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50"/>
                </a:p>
              </p:txBody>
            </p:sp>
            <p:grpSp>
              <p:nvGrpSpPr>
                <p:cNvPr id="17" name="Group 16"/>
                <p:cNvGrpSpPr/>
                <p:nvPr/>
              </p:nvGrpSpPr>
              <p:grpSpPr>
                <a:xfrm>
                  <a:off x="9145524" y="1250555"/>
                  <a:ext cx="1122885" cy="327607"/>
                  <a:chOff x="3824287" y="1995689"/>
                  <a:chExt cx="1092993" cy="318886"/>
                </a:xfrm>
              </p:grpSpPr>
              <p:sp>
                <p:nvSpPr>
                  <p:cNvPr id="10" name="Rectangle 9"/>
                  <p:cNvSpPr/>
                  <p:nvPr/>
                </p:nvSpPr>
                <p:spPr>
                  <a:xfrm>
                    <a:off x="3824287" y="19956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2" name="Straight Connector 11"/>
                  <p:cNvCxnSpPr/>
                  <p:nvPr/>
                </p:nvCxnSpPr>
                <p:spPr>
                  <a:xfrm flipH="1">
                    <a:off x="4179094" y="20169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Connector 13"/>
                  <p:cNvCxnSpPr/>
                  <p:nvPr/>
                </p:nvCxnSpPr>
                <p:spPr>
                  <a:xfrm>
                    <a:off x="4555331" y="20169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9145522" y="2082322"/>
                  <a:ext cx="1122885" cy="327607"/>
                  <a:chOff x="3976687" y="2148089"/>
                  <a:chExt cx="1092993" cy="318886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2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20" name="Straight Connector 19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ln w="190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9145522" y="2885049"/>
                  <a:ext cx="1122885" cy="327607"/>
                  <a:chOff x="3976687" y="2148089"/>
                  <a:chExt cx="1092993" cy="318886"/>
                </a:xfrm>
                <a:solidFill>
                  <a:srgbClr val="FEE8E8"/>
                </a:solidFill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3976687" y="2148089"/>
                    <a:ext cx="1092993" cy="318886"/>
                  </a:xfrm>
                  <a:prstGeom prst="rect">
                    <a:avLst/>
                  </a:prstGeom>
                  <a:grpFill/>
                  <a:ln>
                    <a:solidFill>
                      <a:srgbClr val="CE0C0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233" dirty="0">
                      <a:solidFill>
                        <a:srgbClr val="CE0C0C"/>
                      </a:solidFill>
                    </a:endParaRPr>
                  </a:p>
                </p:txBody>
              </p:sp>
              <p:cxnSp>
                <p:nvCxnSpPr>
                  <p:cNvPr id="25" name="Straight Connector 24"/>
                  <p:cNvCxnSpPr/>
                  <p:nvPr/>
                </p:nvCxnSpPr>
                <p:spPr>
                  <a:xfrm flipH="1">
                    <a:off x="4331494" y="2169316"/>
                    <a:ext cx="2381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4707731" y="2169316"/>
                    <a:ext cx="0" cy="278807"/>
                  </a:xfrm>
                  <a:prstGeom prst="line">
                    <a:avLst/>
                  </a:prstGeom>
                  <a:grpFill/>
                  <a:ln w="19050">
                    <a:solidFill>
                      <a:srgbClr val="CE0C0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9716738" y="1691677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9706953" y="2501254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9705727" y="3320290"/>
                  <a:ext cx="0" cy="290130"/>
                </a:xfrm>
                <a:prstGeom prst="line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/>
                <p:cNvSpPr txBox="1"/>
                <p:nvPr/>
              </p:nvSpPr>
              <p:spPr>
                <a:xfrm>
                  <a:off x="9093523" y="289420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9485919" y="2903988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9853935" y="2896853"/>
                  <a:ext cx="453211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rgbClr val="FF0000"/>
                      </a:solidFill>
                    </a:rPr>
                    <a:t>1/3</a:t>
                  </a:r>
                  <a:endParaRPr lang="en-US" sz="1644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9180215" y="1256670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9562826" y="1199520"/>
                  <a:ext cx="3401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  <a:endParaRPr lang="en-US" sz="1438" b="1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9947151" y="1256059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9181399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9564010" y="2085563"/>
                  <a:ext cx="285233" cy="3221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38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9929285" y="2008752"/>
                  <a:ext cx="3401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>
                <a:xfrm flipH="1">
                  <a:off x="8729405" y="1032710"/>
                  <a:ext cx="26095" cy="2646217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>
                  <a:off x="9069935" y="961927"/>
                  <a:ext cx="1269369" cy="8368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/>
                <p:cNvSpPr txBox="1"/>
                <p:nvPr/>
              </p:nvSpPr>
              <p:spPr>
                <a:xfrm>
                  <a:off x="9205431" y="556110"/>
                  <a:ext cx="1019831" cy="407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quartets</a:t>
                  </a:r>
                  <a:endParaRPr lang="en-US" sz="205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 rot="5400000">
                  <a:off x="7929786" y="2157030"/>
                  <a:ext cx="1245854" cy="407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gene trees</a:t>
                  </a:r>
                </a:p>
              </p:txBody>
            </p:sp>
          </p:grpSp>
        </p:grpSp>
        <p:sp>
          <p:nvSpPr>
            <p:cNvPr id="411" name="TextBox 410"/>
            <p:cNvSpPr txBox="1"/>
            <p:nvPr/>
          </p:nvSpPr>
          <p:spPr>
            <a:xfrm>
              <a:off x="13699624" y="50238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smtClean="0">
                  <a:cs typeface="Times New Roman" panose="02020603050405020304" pitchFamily="18" charset="0"/>
                </a:rPr>
                <a:t>1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13694661" y="1323958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13709417" y="2170608"/>
              <a:ext cx="4363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k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Rounded Rectangular Callout 30"/>
          <p:cNvSpPr/>
          <p:nvPr/>
        </p:nvSpPr>
        <p:spPr>
          <a:xfrm>
            <a:off x="558103" y="613463"/>
            <a:ext cx="1782367" cy="558417"/>
          </a:xfrm>
          <a:prstGeom prst="wedgeRoundRectCallout">
            <a:avLst>
              <a:gd name="adj1" fmla="val 76359"/>
              <a:gd name="adj2" fmla="val -18755"/>
              <a:gd name="adj3" fmla="val 16667"/>
            </a:avLst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Rounded Rectangular Callout 421"/>
          <p:cNvSpPr/>
          <p:nvPr/>
        </p:nvSpPr>
        <p:spPr>
          <a:xfrm>
            <a:off x="558103" y="1469526"/>
            <a:ext cx="1782367" cy="558417"/>
          </a:xfrm>
          <a:prstGeom prst="wedgeRoundRectCallout">
            <a:avLst>
              <a:gd name="adj1" fmla="val 68344"/>
              <a:gd name="adj2" fmla="val 170920"/>
              <a:gd name="adj3" fmla="val 16667"/>
            </a:avLst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6" name="Rounded Rectangular Callout 425"/>
          <p:cNvSpPr/>
          <p:nvPr/>
        </p:nvSpPr>
        <p:spPr>
          <a:xfrm>
            <a:off x="521698" y="6397592"/>
            <a:ext cx="1782367" cy="558417"/>
          </a:xfrm>
          <a:prstGeom prst="wedgeRoundRectCallout">
            <a:avLst>
              <a:gd name="adj1" fmla="val 74435"/>
              <a:gd name="adj2" fmla="val -38201"/>
              <a:gd name="adj3" fmla="val 16667"/>
            </a:avLst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1" name="Group 620"/>
          <p:cNvGrpSpPr/>
          <p:nvPr/>
        </p:nvGrpSpPr>
        <p:grpSpPr>
          <a:xfrm>
            <a:off x="2890875" y="57134"/>
            <a:ext cx="2121214" cy="1877634"/>
            <a:chOff x="2904210" y="133334"/>
            <a:chExt cx="2121214" cy="1877634"/>
          </a:xfrm>
        </p:grpSpPr>
        <p:cxnSp>
          <p:nvCxnSpPr>
            <p:cNvPr id="427" name="Straight Connector 426"/>
            <p:cNvCxnSpPr/>
            <p:nvPr/>
          </p:nvCxnSpPr>
          <p:spPr>
            <a:xfrm>
              <a:off x="3650465" y="855436"/>
              <a:ext cx="641221" cy="5640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" name="Oval 427"/>
            <p:cNvSpPr/>
            <p:nvPr/>
          </p:nvSpPr>
          <p:spPr>
            <a:xfrm>
              <a:off x="2914438" y="136041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429" name="Oval 428"/>
            <p:cNvSpPr/>
            <p:nvPr/>
          </p:nvSpPr>
          <p:spPr>
            <a:xfrm>
              <a:off x="2904210" y="973472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075901" y="1549303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sp>
          <p:nvSpPr>
            <p:cNvPr id="431" name="Oval 430"/>
            <p:cNvSpPr/>
            <p:nvPr/>
          </p:nvSpPr>
          <p:spPr>
            <a:xfrm>
              <a:off x="4438320" y="133334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432" name="Oval 431"/>
            <p:cNvSpPr/>
            <p:nvPr/>
          </p:nvSpPr>
          <p:spPr>
            <a:xfrm>
              <a:off x="4438320" y="967851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4</a:t>
              </a:r>
            </a:p>
          </p:txBody>
        </p:sp>
        <p:cxnSp>
          <p:nvCxnSpPr>
            <p:cNvPr id="433" name="Straight Connector 432"/>
            <p:cNvCxnSpPr>
              <a:stCxn id="428" idx="5"/>
            </p:cNvCxnSpPr>
            <p:nvPr/>
          </p:nvCxnSpPr>
          <p:spPr>
            <a:xfrm>
              <a:off x="3415563" y="604603"/>
              <a:ext cx="320881" cy="257480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/>
            <p:cNvCxnSpPr>
              <a:stCxn id="429" idx="7"/>
            </p:cNvCxnSpPr>
            <p:nvPr/>
          </p:nvCxnSpPr>
          <p:spPr>
            <a:xfrm flipV="1">
              <a:off x="3405335" y="862083"/>
              <a:ext cx="302238" cy="191782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/>
            <p:cNvCxnSpPr>
              <a:stCxn id="431" idx="3"/>
            </p:cNvCxnSpPr>
            <p:nvPr/>
          </p:nvCxnSpPr>
          <p:spPr>
            <a:xfrm flipH="1">
              <a:off x="4229298" y="601896"/>
              <a:ext cx="295001" cy="253540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/>
            <p:cNvCxnSpPr>
              <a:stCxn id="432" idx="1"/>
            </p:cNvCxnSpPr>
            <p:nvPr/>
          </p:nvCxnSpPr>
          <p:spPr>
            <a:xfrm flipH="1" flipV="1">
              <a:off x="4229298" y="869590"/>
              <a:ext cx="295001" cy="178654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1" name="TextBox 470"/>
          <p:cNvSpPr txBox="1"/>
          <p:nvPr/>
        </p:nvSpPr>
        <p:spPr>
          <a:xfrm>
            <a:off x="3079092" y="3863735"/>
            <a:ext cx="1781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(t</a:t>
            </a:r>
            <a:r>
              <a:rPr lang="en-US" sz="2400" i="1" baseline="-25000" dirty="0" smtClean="0"/>
              <a:t>1</a:t>
            </a:r>
            <a:r>
              <a:rPr lang="en-US" sz="2400" dirty="0"/>
              <a:t>,</a:t>
            </a:r>
            <a:r>
              <a:rPr lang="en-US" sz="2400" i="1" dirty="0"/>
              <a:t> t</a:t>
            </a:r>
            <a:r>
              <a:rPr lang="en-US" sz="2400" i="1" baseline="-25000" dirty="0"/>
              <a:t>2</a:t>
            </a:r>
            <a:r>
              <a:rPr lang="en-US" sz="2400" dirty="0"/>
              <a:t> | </a:t>
            </a:r>
            <a:r>
              <a:rPr lang="en-US" sz="2400" i="1" dirty="0"/>
              <a:t>t</a:t>
            </a:r>
            <a:r>
              <a:rPr lang="en-US" sz="2400" i="1" baseline="-25000" dirty="0"/>
              <a:t>3</a:t>
            </a:r>
            <a:r>
              <a:rPr lang="en-US" sz="2400" dirty="0"/>
              <a:t>, </a:t>
            </a:r>
            <a:r>
              <a:rPr lang="en-US" sz="2400" i="1" dirty="0" smtClean="0"/>
              <a:t>t</a:t>
            </a:r>
            <a:r>
              <a:rPr lang="en-US" sz="2400" i="1" baseline="-25000" dirty="0" smtClean="0"/>
              <a:t>4</a:t>
            </a:r>
            <a:r>
              <a:rPr lang="en-US" sz="2400" i="1" dirty="0"/>
              <a:t>)</a:t>
            </a:r>
            <a:endParaRPr lang="en-US" sz="2400" i="1" baseline="-25000" dirty="0"/>
          </a:p>
        </p:txBody>
      </p:sp>
      <p:grpSp>
        <p:nvGrpSpPr>
          <p:cNvPr id="607" name="Group 606"/>
          <p:cNvGrpSpPr/>
          <p:nvPr/>
        </p:nvGrpSpPr>
        <p:grpSpPr>
          <a:xfrm>
            <a:off x="2894777" y="2458368"/>
            <a:ext cx="2167326" cy="1400792"/>
            <a:chOff x="2899681" y="1905047"/>
            <a:chExt cx="2167326" cy="1400792"/>
          </a:xfrm>
        </p:grpSpPr>
        <p:cxnSp>
          <p:nvCxnSpPr>
            <p:cNvPr id="468" name="Straight Connector 467"/>
            <p:cNvCxnSpPr/>
            <p:nvPr/>
          </p:nvCxnSpPr>
          <p:spPr>
            <a:xfrm flipV="1">
              <a:off x="3633236" y="2623658"/>
              <a:ext cx="693960" cy="1008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Oval 468"/>
            <p:cNvSpPr/>
            <p:nvPr/>
          </p:nvSpPr>
          <p:spPr>
            <a:xfrm>
              <a:off x="2909909" y="1905271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470" name="Oval 469"/>
            <p:cNvSpPr/>
            <p:nvPr/>
          </p:nvSpPr>
          <p:spPr>
            <a:xfrm>
              <a:off x="2899681" y="2742702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472" name="Oval 471"/>
            <p:cNvSpPr/>
            <p:nvPr/>
          </p:nvSpPr>
          <p:spPr>
            <a:xfrm>
              <a:off x="4473353" y="1905047"/>
              <a:ext cx="59365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473" name="Oval 472"/>
            <p:cNvSpPr/>
            <p:nvPr/>
          </p:nvSpPr>
          <p:spPr>
            <a:xfrm>
              <a:off x="4473353" y="2756884"/>
              <a:ext cx="587104" cy="548955"/>
            </a:xfrm>
            <a:prstGeom prst="ellipse">
              <a:avLst/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t</a:t>
              </a:r>
              <a:r>
                <a:rPr lang="en-US" sz="2400" b="1" i="1" baseline="-25000" dirty="0">
                  <a:solidFill>
                    <a:schemeClr val="accent1">
                      <a:lumMod val="50000"/>
                    </a:schemeClr>
                  </a:solidFill>
                </a:rPr>
                <a:t>4</a:t>
              </a:r>
            </a:p>
          </p:txBody>
        </p:sp>
        <p:cxnSp>
          <p:nvCxnSpPr>
            <p:cNvPr id="474" name="Straight Connector 473"/>
            <p:cNvCxnSpPr>
              <a:stCxn id="469" idx="5"/>
            </p:cNvCxnSpPr>
            <p:nvPr/>
          </p:nvCxnSpPr>
          <p:spPr>
            <a:xfrm>
              <a:off x="3411034" y="2373833"/>
              <a:ext cx="320881" cy="257480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/>
            <p:cNvCxnSpPr>
              <a:stCxn id="470" idx="7"/>
            </p:cNvCxnSpPr>
            <p:nvPr/>
          </p:nvCxnSpPr>
          <p:spPr>
            <a:xfrm flipV="1">
              <a:off x="3400806" y="2631313"/>
              <a:ext cx="302238" cy="191782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/>
            <p:cNvCxnSpPr>
              <a:stCxn id="472" idx="3"/>
            </p:cNvCxnSpPr>
            <p:nvPr/>
          </p:nvCxnSpPr>
          <p:spPr>
            <a:xfrm flipH="1">
              <a:off x="4295214" y="2373609"/>
              <a:ext cx="265078" cy="257704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/>
            <p:cNvCxnSpPr>
              <a:stCxn id="473" idx="1"/>
            </p:cNvCxnSpPr>
            <p:nvPr/>
          </p:nvCxnSpPr>
          <p:spPr>
            <a:xfrm flipH="1" flipV="1">
              <a:off x="4291686" y="2620951"/>
              <a:ext cx="267646" cy="216326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8" name="Straight Connector 477"/>
          <p:cNvCxnSpPr/>
          <p:nvPr/>
        </p:nvCxnSpPr>
        <p:spPr>
          <a:xfrm>
            <a:off x="3613551" y="6400451"/>
            <a:ext cx="641221" cy="2006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/>
          <p:cNvSpPr/>
          <p:nvPr/>
        </p:nvSpPr>
        <p:spPr>
          <a:xfrm>
            <a:off x="2877524" y="5681056"/>
            <a:ext cx="587104" cy="548955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24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480" name="Oval 479"/>
          <p:cNvSpPr/>
          <p:nvPr/>
        </p:nvSpPr>
        <p:spPr>
          <a:xfrm>
            <a:off x="2867296" y="6518487"/>
            <a:ext cx="587104" cy="548955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24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3062566" y="7125662"/>
            <a:ext cx="1781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(t</a:t>
            </a:r>
            <a:r>
              <a:rPr lang="en-US" sz="2400" i="1" baseline="-25000" dirty="0" smtClean="0"/>
              <a:t>1</a:t>
            </a:r>
            <a:r>
              <a:rPr lang="en-US" sz="2400" dirty="0"/>
              <a:t>,</a:t>
            </a:r>
            <a:r>
              <a:rPr lang="en-US" sz="2400" i="1" dirty="0"/>
              <a:t> t</a:t>
            </a:r>
            <a:r>
              <a:rPr lang="en-US" sz="2400" i="1" baseline="-25000" dirty="0"/>
              <a:t>2</a:t>
            </a:r>
            <a:r>
              <a:rPr lang="en-US" sz="2400" dirty="0"/>
              <a:t> | </a:t>
            </a:r>
            <a:r>
              <a:rPr lang="en-US" sz="2400" i="1" dirty="0"/>
              <a:t>t</a:t>
            </a:r>
            <a:r>
              <a:rPr lang="en-US" sz="2400" i="1" baseline="-25000" dirty="0"/>
              <a:t>3</a:t>
            </a:r>
            <a:r>
              <a:rPr lang="en-US" sz="2400" dirty="0"/>
              <a:t>, </a:t>
            </a:r>
            <a:r>
              <a:rPr lang="en-US" sz="2400" i="1" dirty="0" smtClean="0"/>
              <a:t>t</a:t>
            </a:r>
            <a:r>
              <a:rPr lang="en-US" sz="2400" i="1" baseline="-25000" dirty="0" smtClean="0"/>
              <a:t>4</a:t>
            </a:r>
            <a:r>
              <a:rPr lang="en-US" sz="2400" i="1" dirty="0"/>
              <a:t>)</a:t>
            </a:r>
            <a:endParaRPr lang="en-US" sz="2400" i="1" baseline="-25000" dirty="0"/>
          </a:p>
        </p:txBody>
      </p:sp>
      <p:sp>
        <p:nvSpPr>
          <p:cNvPr id="482" name="Oval 481"/>
          <p:cNvSpPr/>
          <p:nvPr/>
        </p:nvSpPr>
        <p:spPr>
          <a:xfrm>
            <a:off x="4419378" y="5679097"/>
            <a:ext cx="587104" cy="548955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24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483" name="Oval 482"/>
          <p:cNvSpPr/>
          <p:nvPr/>
        </p:nvSpPr>
        <p:spPr>
          <a:xfrm>
            <a:off x="4401406" y="6512866"/>
            <a:ext cx="587104" cy="548955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24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cxnSp>
        <p:nvCxnSpPr>
          <p:cNvPr id="484" name="Straight Connector 483"/>
          <p:cNvCxnSpPr>
            <a:stCxn id="479" idx="5"/>
          </p:cNvCxnSpPr>
          <p:nvPr/>
        </p:nvCxnSpPr>
        <p:spPr>
          <a:xfrm>
            <a:off x="3378649" y="6149618"/>
            <a:ext cx="320881" cy="25748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/>
          <p:cNvCxnSpPr>
            <a:stCxn id="480" idx="7"/>
          </p:cNvCxnSpPr>
          <p:nvPr/>
        </p:nvCxnSpPr>
        <p:spPr>
          <a:xfrm flipV="1">
            <a:off x="3368421" y="6407098"/>
            <a:ext cx="302238" cy="19178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Connector 485"/>
          <p:cNvCxnSpPr>
            <a:stCxn id="482" idx="3"/>
          </p:cNvCxnSpPr>
          <p:nvPr/>
        </p:nvCxnSpPr>
        <p:spPr>
          <a:xfrm flipH="1">
            <a:off x="4183863" y="6147659"/>
            <a:ext cx="321494" cy="247663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/>
          <p:cNvCxnSpPr>
            <a:stCxn id="483" idx="1"/>
          </p:cNvCxnSpPr>
          <p:nvPr/>
        </p:nvCxnSpPr>
        <p:spPr>
          <a:xfrm flipH="1" flipV="1">
            <a:off x="4179175" y="6395322"/>
            <a:ext cx="308210" cy="19793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/>
          <p:cNvGrpSpPr/>
          <p:nvPr/>
        </p:nvGrpSpPr>
        <p:grpSpPr>
          <a:xfrm>
            <a:off x="6386769" y="776356"/>
            <a:ext cx="2211333" cy="2470282"/>
            <a:chOff x="7429065" y="257034"/>
            <a:chExt cx="2211333" cy="2470282"/>
          </a:xfrm>
        </p:grpSpPr>
        <p:sp>
          <p:nvSpPr>
            <p:cNvPr id="515" name="Rectangle 514"/>
            <p:cNvSpPr/>
            <p:nvPr/>
          </p:nvSpPr>
          <p:spPr>
            <a:xfrm>
              <a:off x="7465124" y="362206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492" name="Straight Connector 491"/>
            <p:cNvCxnSpPr/>
            <p:nvPr/>
          </p:nvCxnSpPr>
          <p:spPr>
            <a:xfrm>
              <a:off x="8303372" y="803633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/>
            <p:cNvCxnSpPr/>
            <p:nvPr/>
          </p:nvCxnSpPr>
          <p:spPr>
            <a:xfrm>
              <a:off x="8307695" y="1629419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8" name="TextBox 497"/>
            <p:cNvSpPr txBox="1"/>
            <p:nvPr/>
          </p:nvSpPr>
          <p:spPr>
            <a:xfrm>
              <a:off x="7771367" y="2142541"/>
              <a:ext cx="12586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 err="1" smtClean="0">
                  <a:solidFill>
                    <a:prstClr val="black"/>
                  </a:solidFill>
                  <a:latin typeface="Monotype Corsiva" panose="03010101010201010101" pitchFamily="66" charset="0"/>
                </a:rPr>
                <a:t>L</a:t>
              </a:r>
              <a:r>
                <a:rPr lang="en-US" sz="3200" b="1" i="1" baseline="-25000" dirty="0" err="1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3200" b="1" i="1" baseline="30000" dirty="0" err="1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known</a:t>
              </a:r>
              <a:endPara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6" name="TextBox 505"/>
            <p:cNvSpPr txBox="1"/>
            <p:nvPr/>
          </p:nvSpPr>
          <p:spPr>
            <a:xfrm>
              <a:off x="9192840" y="25703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7" name="TextBox 506"/>
            <p:cNvSpPr txBox="1"/>
            <p:nvPr/>
          </p:nvSpPr>
          <p:spPr>
            <a:xfrm>
              <a:off x="9192840" y="1124457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518" name="TextBox 517"/>
            <p:cNvSpPr txBox="1"/>
            <p:nvPr/>
          </p:nvSpPr>
          <p:spPr>
            <a:xfrm>
              <a:off x="7430949" y="269311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sp>
          <p:nvSpPr>
            <p:cNvPr id="520" name="Rectangle 519"/>
            <p:cNvSpPr/>
            <p:nvPr/>
          </p:nvSpPr>
          <p:spPr>
            <a:xfrm>
              <a:off x="7465124" y="1228809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7429065" y="1136015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</p:grpSp>
      <p:sp>
        <p:nvSpPr>
          <p:cNvPr id="527" name="TextBox 526"/>
          <p:cNvSpPr txBox="1"/>
          <p:nvPr/>
        </p:nvSpPr>
        <p:spPr>
          <a:xfrm>
            <a:off x="6543936" y="7384202"/>
            <a:ext cx="1494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prstClr val="black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L</a:t>
            </a:r>
            <a:r>
              <a:rPr lang="en-US" sz="3200" b="1" i="1" baseline="-250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b="1" i="1" baseline="300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imputed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6" name="Group 115"/>
          <p:cNvGrpSpPr/>
          <p:nvPr/>
        </p:nvGrpSpPr>
        <p:grpSpPr>
          <a:xfrm>
            <a:off x="6375357" y="4683324"/>
            <a:ext cx="2221222" cy="2513921"/>
            <a:chOff x="7387356" y="4738974"/>
            <a:chExt cx="2221222" cy="2513921"/>
          </a:xfrm>
        </p:grpSpPr>
        <p:sp>
          <p:nvSpPr>
            <p:cNvPr id="524" name="Rectangle 523"/>
            <p:cNvSpPr/>
            <p:nvPr/>
          </p:nvSpPr>
          <p:spPr>
            <a:xfrm>
              <a:off x="7432943" y="4844146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525" name="Straight Connector 524"/>
            <p:cNvCxnSpPr/>
            <p:nvPr/>
          </p:nvCxnSpPr>
          <p:spPr>
            <a:xfrm>
              <a:off x="8271191" y="5285573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/>
            <p:cNvCxnSpPr/>
            <p:nvPr/>
          </p:nvCxnSpPr>
          <p:spPr>
            <a:xfrm>
              <a:off x="8275514" y="6111359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8" name="TextBox 527"/>
            <p:cNvSpPr txBox="1"/>
            <p:nvPr/>
          </p:nvSpPr>
          <p:spPr>
            <a:xfrm>
              <a:off x="9160659" y="473897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smtClean="0">
                  <a:cs typeface="Times New Roman" panose="02020603050405020304" pitchFamily="18" charset="0"/>
                </a:rPr>
                <a:t>1</a:t>
              </a:r>
              <a:endParaRPr lang="en-US" sz="2400" b="1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529" name="TextBox 528"/>
            <p:cNvSpPr txBox="1"/>
            <p:nvPr/>
          </p:nvSpPr>
          <p:spPr>
            <a:xfrm>
              <a:off x="9160659" y="5606397"/>
              <a:ext cx="3930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j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530" name="TextBox 529"/>
            <p:cNvSpPr txBox="1"/>
            <p:nvPr/>
          </p:nvSpPr>
          <p:spPr>
            <a:xfrm>
              <a:off x="7387356" y="4752451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sp>
          <p:nvSpPr>
            <p:cNvPr id="531" name="Rectangle 530"/>
            <p:cNvSpPr/>
            <p:nvPr/>
          </p:nvSpPr>
          <p:spPr>
            <a:xfrm>
              <a:off x="7432943" y="5710749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32" name="TextBox 531"/>
            <p:cNvSpPr txBox="1"/>
            <p:nvPr/>
          </p:nvSpPr>
          <p:spPr>
            <a:xfrm>
              <a:off x="7396884" y="5617955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cxnSp>
          <p:nvCxnSpPr>
            <p:cNvPr id="535" name="Straight Connector 534"/>
            <p:cNvCxnSpPr/>
            <p:nvPr/>
          </p:nvCxnSpPr>
          <p:spPr>
            <a:xfrm>
              <a:off x="8284991" y="6962765"/>
              <a:ext cx="0" cy="29013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7" name="Rectangle 536"/>
            <p:cNvSpPr/>
            <p:nvPr/>
          </p:nvSpPr>
          <p:spPr>
            <a:xfrm>
              <a:off x="7431450" y="6526047"/>
              <a:ext cx="1676496" cy="32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36" name="TextBox 535"/>
            <p:cNvSpPr txBox="1"/>
            <p:nvPr/>
          </p:nvSpPr>
          <p:spPr>
            <a:xfrm>
              <a:off x="7412568" y="6428443"/>
              <a:ext cx="1781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(t</a:t>
              </a:r>
              <a:r>
                <a:rPr lang="en-US" sz="2400" i="1" baseline="-25000" dirty="0" smtClean="0"/>
                <a:t>1</a:t>
              </a:r>
              <a:r>
                <a:rPr lang="en-US" sz="2400" dirty="0"/>
                <a:t>,</a:t>
              </a:r>
              <a:r>
                <a:rPr lang="en-US" sz="2400" i="1" dirty="0"/>
                <a:t> t</a:t>
              </a:r>
              <a:r>
                <a:rPr lang="en-US" sz="2400" i="1" baseline="-25000" dirty="0"/>
                <a:t>2</a:t>
              </a:r>
              <a:r>
                <a:rPr lang="en-US" sz="2400" dirty="0"/>
                <a:t> | </a:t>
              </a:r>
              <a:r>
                <a:rPr lang="en-US" sz="2400" i="1" dirty="0"/>
                <a:t>t</a:t>
              </a:r>
              <a:r>
                <a:rPr lang="en-US" sz="2400" i="1" baseline="-25000" dirty="0"/>
                <a:t>3</a:t>
              </a:r>
              <a:r>
                <a:rPr lang="en-US" sz="2400" dirty="0"/>
                <a:t>, </a:t>
              </a:r>
              <a:r>
                <a:rPr lang="en-US" sz="2400" i="1" dirty="0" smtClean="0"/>
                <a:t>t</a:t>
              </a:r>
              <a:r>
                <a:rPr lang="en-US" sz="2400" i="1" baseline="-25000" dirty="0" smtClean="0"/>
                <a:t>4</a:t>
              </a:r>
              <a:r>
                <a:rPr lang="en-US" sz="2400" i="1" dirty="0"/>
                <a:t>)</a:t>
              </a:r>
              <a:endParaRPr lang="en-US" sz="2400" i="1" baseline="-25000" dirty="0"/>
            </a:p>
          </p:txBody>
        </p:sp>
        <p:sp>
          <p:nvSpPr>
            <p:cNvPr id="538" name="TextBox 537"/>
            <p:cNvSpPr txBox="1"/>
            <p:nvPr/>
          </p:nvSpPr>
          <p:spPr>
            <a:xfrm>
              <a:off x="9172240" y="6443659"/>
              <a:ext cx="4363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 smtClean="0"/>
                <a:t>q̂</a:t>
              </a:r>
              <a:r>
                <a:rPr lang="en-US" sz="2400" i="1" baseline="-25000" dirty="0" err="1" smtClean="0">
                  <a:cs typeface="Times New Roman" panose="02020603050405020304" pitchFamily="18" charset="0"/>
                </a:rPr>
                <a:t>k</a:t>
              </a:r>
              <a:endParaRPr lang="en-US" sz="2400" i="1" baseline="-25000" dirty="0">
                <a:cs typeface="Times New Roman" panose="02020603050405020304" pitchFamily="18" charset="0"/>
              </a:endParaRPr>
            </a:p>
          </p:txBody>
        </p:sp>
      </p:grpSp>
      <p:cxnSp>
        <p:nvCxnSpPr>
          <p:cNvPr id="127" name="Elbow Connector 126"/>
          <p:cNvCxnSpPr>
            <a:stCxn id="430" idx="3"/>
            <a:endCxn id="530" idx="1"/>
          </p:cNvCxnSpPr>
          <p:nvPr/>
        </p:nvCxnSpPr>
        <p:spPr>
          <a:xfrm>
            <a:off x="4844174" y="1703936"/>
            <a:ext cx="1531183" cy="3223698"/>
          </a:xfrm>
          <a:prstGeom prst="bentConnector3">
            <a:avLst>
              <a:gd name="adj1" fmla="val 67833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Elbow Connector 540"/>
          <p:cNvCxnSpPr>
            <a:stCxn id="471" idx="3"/>
            <a:endCxn id="532" idx="1"/>
          </p:cNvCxnSpPr>
          <p:nvPr/>
        </p:nvCxnSpPr>
        <p:spPr>
          <a:xfrm>
            <a:off x="4860700" y="4094568"/>
            <a:ext cx="1524185" cy="1698570"/>
          </a:xfrm>
          <a:prstGeom prst="bentConnector3">
            <a:avLst>
              <a:gd name="adj1" fmla="val 38335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Elbow Connector 541"/>
          <p:cNvCxnSpPr>
            <a:stCxn id="471" idx="3"/>
            <a:endCxn id="521" idx="1"/>
          </p:cNvCxnSpPr>
          <p:nvPr/>
        </p:nvCxnSpPr>
        <p:spPr>
          <a:xfrm flipV="1">
            <a:off x="4860700" y="1886170"/>
            <a:ext cx="1526069" cy="2208398"/>
          </a:xfrm>
          <a:prstGeom prst="bentConnector3">
            <a:avLst>
              <a:gd name="adj1" fmla="val 38349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Elbow Connector 542"/>
          <p:cNvCxnSpPr>
            <a:stCxn id="481" idx="3"/>
            <a:endCxn id="536" idx="1"/>
          </p:cNvCxnSpPr>
          <p:nvPr/>
        </p:nvCxnSpPr>
        <p:spPr>
          <a:xfrm flipV="1">
            <a:off x="4844174" y="6603626"/>
            <a:ext cx="1556395" cy="752869"/>
          </a:xfrm>
          <a:prstGeom prst="bentConnector3">
            <a:avLst>
              <a:gd name="adj1" fmla="val 42167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ight Arrow 555"/>
          <p:cNvSpPr/>
          <p:nvPr/>
        </p:nvSpPr>
        <p:spPr>
          <a:xfrm>
            <a:off x="8649323" y="149106"/>
            <a:ext cx="1845566" cy="2952595"/>
          </a:xfrm>
          <a:prstGeom prst="rightArrow">
            <a:avLst/>
          </a:prstGeom>
          <a:solidFill>
            <a:schemeClr val="bg1"/>
          </a:solidFill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7" name="TextBox 556"/>
          <p:cNvSpPr txBox="1"/>
          <p:nvPr/>
        </p:nvSpPr>
        <p:spPr>
          <a:xfrm>
            <a:off x="8750383" y="840637"/>
            <a:ext cx="17383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all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four-taxa-sets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1" name="Flowchart: Multidocument 560"/>
          <p:cNvSpPr/>
          <p:nvPr/>
        </p:nvSpPr>
        <p:spPr>
          <a:xfrm>
            <a:off x="10600612" y="924244"/>
            <a:ext cx="2156991" cy="1220373"/>
          </a:xfrm>
          <a:prstGeom prst="flowChartMultidocumen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i="1" dirty="0" err="1" smtClean="0">
                <a:solidFill>
                  <a:schemeClr val="bg1"/>
                </a:solidFill>
                <a:latin typeface="Monotype Corsiva" panose="03010101010201010101" pitchFamily="66" charset="0"/>
              </a:rPr>
              <a:t>L</a:t>
            </a:r>
            <a:r>
              <a:rPr lang="en-US" sz="4400" b="1" i="1" baseline="30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endParaRPr lang="en-US" sz="3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2" name="Flowchart: Multidocument 561"/>
          <p:cNvSpPr/>
          <p:nvPr/>
        </p:nvSpPr>
        <p:spPr>
          <a:xfrm>
            <a:off x="10579884" y="5248973"/>
            <a:ext cx="2156991" cy="1220373"/>
          </a:xfrm>
          <a:prstGeom prst="flowChartMultidocumen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i="1" dirty="0" err="1" smtClean="0">
                <a:solidFill>
                  <a:schemeClr val="bg1"/>
                </a:solidFill>
                <a:latin typeface="Monotype Corsiva" panose="03010101010201010101" pitchFamily="66" charset="0"/>
              </a:rPr>
              <a:t>L</a:t>
            </a:r>
            <a:r>
              <a:rPr lang="en-US" sz="4400" b="1" i="1" baseline="30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imputed</a:t>
            </a:r>
            <a:endParaRPr lang="en-US" sz="3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Flowchart: Document 562"/>
          <p:cNvSpPr/>
          <p:nvPr/>
        </p:nvSpPr>
        <p:spPr>
          <a:xfrm>
            <a:off x="6356222" y="728009"/>
            <a:ext cx="1813255" cy="2028116"/>
          </a:xfrm>
          <a:prstGeom prst="flowChartDocumen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lowchart: Document 563"/>
          <p:cNvSpPr/>
          <p:nvPr/>
        </p:nvSpPr>
        <p:spPr>
          <a:xfrm>
            <a:off x="6356312" y="4709562"/>
            <a:ext cx="1813255" cy="2795951"/>
          </a:xfrm>
          <a:prstGeom prst="flowChartDocumen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9" name="Group 568"/>
          <p:cNvGrpSpPr/>
          <p:nvPr/>
        </p:nvGrpSpPr>
        <p:grpSpPr>
          <a:xfrm rot="16200000">
            <a:off x="12526967" y="688011"/>
            <a:ext cx="1923731" cy="720074"/>
            <a:chOff x="13259118" y="2101739"/>
            <a:chExt cx="1923731" cy="720074"/>
          </a:xfrm>
        </p:grpSpPr>
        <p:sp>
          <p:nvSpPr>
            <p:cNvPr id="565" name="Flowchart: Manual Operation 564"/>
            <p:cNvSpPr/>
            <p:nvPr/>
          </p:nvSpPr>
          <p:spPr>
            <a:xfrm>
              <a:off x="13259118" y="2116220"/>
              <a:ext cx="1923731" cy="705593"/>
            </a:xfrm>
            <a:prstGeom prst="flowChartManualOperation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8" name="TextBox 567"/>
            <p:cNvSpPr txBox="1"/>
            <p:nvPr/>
          </p:nvSpPr>
          <p:spPr>
            <a:xfrm>
              <a:off x="13478632" y="2101739"/>
              <a:ext cx="14847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wQMC</a:t>
              </a:r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71" name="Elbow Connector 570"/>
          <p:cNvCxnSpPr>
            <a:stCxn id="561" idx="3"/>
            <a:endCxn id="568" idx="0"/>
          </p:cNvCxnSpPr>
          <p:nvPr/>
        </p:nvCxnSpPr>
        <p:spPr>
          <a:xfrm flipV="1">
            <a:off x="12757603" y="1048049"/>
            <a:ext cx="371193" cy="486382"/>
          </a:xfrm>
          <a:prstGeom prst="bentConnector5">
            <a:avLst>
              <a:gd name="adj1" fmla="val 39773"/>
              <a:gd name="adj2" fmla="val 98427"/>
              <a:gd name="adj3" fmla="val 39698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Elbow Connector 573"/>
          <p:cNvCxnSpPr>
            <a:stCxn id="562" idx="3"/>
            <a:endCxn id="589" idx="0"/>
          </p:cNvCxnSpPr>
          <p:nvPr/>
        </p:nvCxnSpPr>
        <p:spPr>
          <a:xfrm>
            <a:off x="12736875" y="5859160"/>
            <a:ext cx="391922" cy="1250365"/>
          </a:xfrm>
          <a:prstGeom prst="bentConnector5">
            <a:avLst>
              <a:gd name="adj1" fmla="val 41518"/>
              <a:gd name="adj2" fmla="val 62708"/>
              <a:gd name="adj3" fmla="val 41672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7" name="Group 586"/>
          <p:cNvGrpSpPr/>
          <p:nvPr/>
        </p:nvGrpSpPr>
        <p:grpSpPr>
          <a:xfrm rot="16200000">
            <a:off x="12526968" y="6749487"/>
            <a:ext cx="1923731" cy="720074"/>
            <a:chOff x="13259118" y="2101739"/>
            <a:chExt cx="1923731" cy="720074"/>
          </a:xfrm>
        </p:grpSpPr>
        <p:sp>
          <p:nvSpPr>
            <p:cNvPr id="588" name="Flowchart: Manual Operation 587"/>
            <p:cNvSpPr/>
            <p:nvPr/>
          </p:nvSpPr>
          <p:spPr>
            <a:xfrm>
              <a:off x="13259118" y="2116220"/>
              <a:ext cx="1923731" cy="705593"/>
            </a:xfrm>
            <a:prstGeom prst="flowChartManualOperation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9" name="TextBox 588"/>
            <p:cNvSpPr txBox="1"/>
            <p:nvPr/>
          </p:nvSpPr>
          <p:spPr>
            <a:xfrm>
              <a:off x="13478632" y="2101739"/>
              <a:ext cx="14847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wQMC</a:t>
              </a:r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13" name="Elbow Connector 612"/>
          <p:cNvCxnSpPr>
            <a:stCxn id="430" idx="3"/>
            <a:endCxn id="518" idx="1"/>
          </p:cNvCxnSpPr>
          <p:nvPr/>
        </p:nvCxnSpPr>
        <p:spPr>
          <a:xfrm flipV="1">
            <a:off x="4844174" y="1019466"/>
            <a:ext cx="1544479" cy="684470"/>
          </a:xfrm>
          <a:prstGeom prst="bentConnector3">
            <a:avLst>
              <a:gd name="adj1" fmla="val 67268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2" name="Group 701"/>
          <p:cNvGrpSpPr/>
          <p:nvPr/>
        </p:nvGrpSpPr>
        <p:grpSpPr>
          <a:xfrm>
            <a:off x="14191111" y="48738"/>
            <a:ext cx="1195419" cy="671335"/>
            <a:chOff x="14118751" y="64653"/>
            <a:chExt cx="1195419" cy="671335"/>
          </a:xfrm>
        </p:grpSpPr>
        <p:cxnSp>
          <p:nvCxnSpPr>
            <p:cNvPr id="632" name="Straight Connector 631"/>
            <p:cNvCxnSpPr/>
            <p:nvPr/>
          </p:nvCxnSpPr>
          <p:spPr>
            <a:xfrm flipH="1">
              <a:off x="15000241" y="576206"/>
              <a:ext cx="154172" cy="15180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/>
            <p:cNvCxnSpPr/>
            <p:nvPr/>
          </p:nvCxnSpPr>
          <p:spPr>
            <a:xfrm flipH="1">
              <a:off x="14304562" y="184150"/>
              <a:ext cx="480778" cy="5518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/>
            <p:cNvCxnSpPr/>
            <p:nvPr/>
          </p:nvCxnSpPr>
          <p:spPr>
            <a:xfrm>
              <a:off x="14547523" y="470587"/>
              <a:ext cx="200420" cy="25742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/>
            <p:cNvCxnSpPr/>
            <p:nvPr/>
          </p:nvCxnSpPr>
          <p:spPr>
            <a:xfrm>
              <a:off x="14671834" y="64653"/>
              <a:ext cx="642336" cy="64698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/>
            <p:cNvCxnSpPr/>
            <p:nvPr/>
          </p:nvCxnSpPr>
          <p:spPr>
            <a:xfrm flipH="1">
              <a:off x="14118751" y="64770"/>
              <a:ext cx="575858" cy="65530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655"/>
            <p:cNvCxnSpPr/>
            <p:nvPr/>
          </p:nvCxnSpPr>
          <p:spPr>
            <a:xfrm flipH="1">
              <a:off x="14521933" y="580968"/>
              <a:ext cx="111045" cy="1550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8" name="Group 687"/>
          <p:cNvGrpSpPr/>
          <p:nvPr/>
        </p:nvGrpSpPr>
        <p:grpSpPr>
          <a:xfrm>
            <a:off x="14181856" y="6089806"/>
            <a:ext cx="1195419" cy="676513"/>
            <a:chOff x="14105513" y="6166003"/>
            <a:chExt cx="1195419" cy="676513"/>
          </a:xfrm>
        </p:grpSpPr>
        <p:cxnSp>
          <p:nvCxnSpPr>
            <p:cNvPr id="660" name="Straight Connector 659"/>
            <p:cNvCxnSpPr/>
            <p:nvPr/>
          </p:nvCxnSpPr>
          <p:spPr>
            <a:xfrm flipH="1">
              <a:off x="14979651" y="6653213"/>
              <a:ext cx="169576" cy="18930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/>
            <p:cNvCxnSpPr/>
            <p:nvPr/>
          </p:nvCxnSpPr>
          <p:spPr>
            <a:xfrm>
              <a:off x="14259577" y="6653213"/>
              <a:ext cx="99706" cy="17444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/>
            <p:cNvCxnSpPr/>
            <p:nvPr/>
          </p:nvCxnSpPr>
          <p:spPr>
            <a:xfrm>
              <a:off x="14663692" y="6689247"/>
              <a:ext cx="130449" cy="14487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/>
            <p:cNvCxnSpPr/>
            <p:nvPr/>
          </p:nvCxnSpPr>
          <p:spPr>
            <a:xfrm>
              <a:off x="14673074" y="6187416"/>
              <a:ext cx="627858" cy="62545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663"/>
            <p:cNvCxnSpPr/>
            <p:nvPr/>
          </p:nvCxnSpPr>
          <p:spPr>
            <a:xfrm flipH="1">
              <a:off x="14105513" y="6166003"/>
              <a:ext cx="575858" cy="65530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/>
            <p:cNvCxnSpPr/>
            <p:nvPr/>
          </p:nvCxnSpPr>
          <p:spPr>
            <a:xfrm flipH="1">
              <a:off x="14540371" y="6380829"/>
              <a:ext cx="355300" cy="45317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" name="TextBox 685"/>
          <p:cNvSpPr txBox="1"/>
          <p:nvPr/>
        </p:nvSpPr>
        <p:spPr>
          <a:xfrm>
            <a:off x="14084763" y="794434"/>
            <a:ext cx="1428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i="1" dirty="0" smtClean="0">
                <a:latin typeface="Monotype Corsiva" panose="03010101010201010101" pitchFamily="66" charset="0"/>
              </a:rPr>
              <a:t>ST </a:t>
            </a:r>
            <a:r>
              <a:rPr lang="en-US" sz="3200" b="1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7" name="TextBox 686"/>
          <p:cNvSpPr txBox="1"/>
          <p:nvPr/>
        </p:nvSpPr>
        <p:spPr>
          <a:xfrm>
            <a:off x="13999182" y="6854264"/>
            <a:ext cx="1579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i="1" dirty="0" smtClean="0">
                <a:latin typeface="Monotype Corsiva" panose="03010101010201010101" pitchFamily="66" charset="0"/>
              </a:rPr>
              <a:t>ST </a:t>
            </a:r>
            <a:r>
              <a:rPr lang="en-US" sz="3200" b="1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imputed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2" name="Straight Arrow Connector 691"/>
          <p:cNvCxnSpPr>
            <a:stCxn id="588" idx="2"/>
          </p:cNvCxnSpPr>
          <p:nvPr/>
        </p:nvCxnSpPr>
        <p:spPr>
          <a:xfrm>
            <a:off x="13848871" y="7109524"/>
            <a:ext cx="26988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Arrow Connector 698"/>
          <p:cNvCxnSpPr>
            <a:stCxn id="565" idx="2"/>
          </p:cNvCxnSpPr>
          <p:nvPr/>
        </p:nvCxnSpPr>
        <p:spPr>
          <a:xfrm flipV="1">
            <a:off x="13848870" y="1045331"/>
            <a:ext cx="283253" cy="271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3" name="Right Arrow 702"/>
          <p:cNvSpPr/>
          <p:nvPr/>
        </p:nvSpPr>
        <p:spPr>
          <a:xfrm>
            <a:off x="8612754" y="4468845"/>
            <a:ext cx="1845566" cy="2964098"/>
          </a:xfrm>
          <a:prstGeom prst="rightArrow">
            <a:avLst/>
          </a:prstGeom>
          <a:solidFill>
            <a:schemeClr val="bg1"/>
          </a:solidFill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4" name="TextBox 703"/>
          <p:cNvSpPr txBox="1"/>
          <p:nvPr/>
        </p:nvSpPr>
        <p:spPr>
          <a:xfrm>
            <a:off x="8685239" y="5160375"/>
            <a:ext cx="17383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all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four-taxa-sets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07" name="Group 706"/>
          <p:cNvGrpSpPr/>
          <p:nvPr/>
        </p:nvGrpSpPr>
        <p:grpSpPr>
          <a:xfrm>
            <a:off x="12630034" y="2921185"/>
            <a:ext cx="2852595" cy="1623178"/>
            <a:chOff x="12372975" y="2878115"/>
            <a:chExt cx="2852595" cy="1123935"/>
          </a:xfrm>
        </p:grpSpPr>
        <p:sp>
          <p:nvSpPr>
            <p:cNvPr id="705" name="Round Diagonal Corner Rectangle 704"/>
            <p:cNvSpPr/>
            <p:nvPr/>
          </p:nvSpPr>
          <p:spPr>
            <a:xfrm>
              <a:off x="12372975" y="2895284"/>
              <a:ext cx="2852595" cy="1106766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6" name="TextBox 705"/>
            <p:cNvSpPr txBox="1"/>
            <p:nvPr/>
          </p:nvSpPr>
          <p:spPr>
            <a:xfrm>
              <a:off x="12439136" y="2878115"/>
              <a:ext cx="2626040" cy="1001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 with</a:t>
              </a:r>
              <a:r>
                <a:rPr lang="en-US" sz="3200" b="1" i="1" dirty="0" smtClean="0">
                  <a:latin typeface="Monotype Corsiva" panose="03010101010201010101" pitchFamily="66" charset="0"/>
                </a:rPr>
                <a:t> </a:t>
              </a:r>
              <a:endParaRPr lang="en-US" sz="3200" b="1" i="1" dirty="0" smtClean="0">
                <a:latin typeface="Monotype Corsiva" panose="03010101010201010101" pitchFamily="66" charset="0"/>
              </a:endParaRPr>
            </a:p>
            <a:p>
              <a:pPr algn="ctr"/>
              <a:r>
                <a:rPr lang="en-US" sz="3200" b="1" i="1" dirty="0" smtClean="0">
                  <a:latin typeface="Monotype Corsiva" panose="03010101010201010101" pitchFamily="66" charset="0"/>
                </a:rPr>
                <a:t>ST </a:t>
              </a:r>
              <a:r>
                <a:rPr lang="en-US" sz="3200" b="1" i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true</a:t>
              </a:r>
            </a:p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(during evaluation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400" b="1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08" name="Elbow Connector 707"/>
          <p:cNvCxnSpPr>
            <a:stCxn id="686" idx="2"/>
            <a:endCxn id="706" idx="0"/>
          </p:cNvCxnSpPr>
          <p:nvPr/>
        </p:nvCxnSpPr>
        <p:spPr>
          <a:xfrm rot="5400000">
            <a:off x="13633150" y="1755274"/>
            <a:ext cx="1541976" cy="78984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Elbow Connector 710"/>
          <p:cNvCxnSpPr>
            <a:endCxn id="705" idx="1"/>
          </p:cNvCxnSpPr>
          <p:nvPr/>
        </p:nvCxnSpPr>
        <p:spPr>
          <a:xfrm rot="16200000" flipV="1">
            <a:off x="13708956" y="4891740"/>
            <a:ext cx="1435611" cy="740857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2160836" y="-42518"/>
            <a:ext cx="6431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(a)</a:t>
            </a:r>
            <a:endParaRPr lang="en-US" sz="3200" b="1" dirty="0"/>
          </a:p>
        </p:txBody>
      </p:sp>
      <p:sp>
        <p:nvSpPr>
          <p:cNvPr id="173" name="TextBox 172"/>
          <p:cNvSpPr txBox="1"/>
          <p:nvPr/>
        </p:nvSpPr>
        <p:spPr>
          <a:xfrm>
            <a:off x="5876079" y="167404"/>
            <a:ext cx="660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(d)</a:t>
            </a:r>
            <a:endParaRPr lang="en-US" sz="3200" b="1" dirty="0"/>
          </a:p>
        </p:txBody>
      </p:sp>
      <p:sp>
        <p:nvSpPr>
          <p:cNvPr id="174" name="TextBox 173"/>
          <p:cNvSpPr txBox="1"/>
          <p:nvPr/>
        </p:nvSpPr>
        <p:spPr>
          <a:xfrm>
            <a:off x="8735260" y="182812"/>
            <a:ext cx="647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(e)</a:t>
            </a:r>
            <a:endParaRPr lang="en-US" sz="3200" b="1" dirty="0"/>
          </a:p>
        </p:txBody>
      </p:sp>
      <p:sp>
        <p:nvSpPr>
          <p:cNvPr id="175" name="TextBox 174"/>
          <p:cNvSpPr txBox="1"/>
          <p:nvPr/>
        </p:nvSpPr>
        <p:spPr>
          <a:xfrm>
            <a:off x="12540676" y="260681"/>
            <a:ext cx="637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(g)</a:t>
            </a:r>
            <a:endParaRPr lang="en-US" sz="3200" b="1" dirty="0"/>
          </a:p>
        </p:txBody>
      </p:sp>
      <p:sp>
        <p:nvSpPr>
          <p:cNvPr id="176" name="TextBox 175"/>
          <p:cNvSpPr txBox="1"/>
          <p:nvPr/>
        </p:nvSpPr>
        <p:spPr>
          <a:xfrm>
            <a:off x="13357030" y="2380536"/>
            <a:ext cx="660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(h)</a:t>
            </a:r>
            <a:endParaRPr lang="en-US" sz="3200" b="1" dirty="0"/>
          </a:p>
        </p:txBody>
      </p:sp>
      <p:sp>
        <p:nvSpPr>
          <p:cNvPr id="177" name="TextBox 176"/>
          <p:cNvSpPr txBox="1"/>
          <p:nvPr/>
        </p:nvSpPr>
        <p:spPr>
          <a:xfrm>
            <a:off x="5895471" y="4127347"/>
            <a:ext cx="660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(b)</a:t>
            </a:r>
            <a:endParaRPr lang="en-US" sz="3200" b="1" dirty="0"/>
          </a:p>
        </p:txBody>
      </p:sp>
      <p:sp>
        <p:nvSpPr>
          <p:cNvPr id="178" name="TextBox 177"/>
          <p:cNvSpPr txBox="1"/>
          <p:nvPr/>
        </p:nvSpPr>
        <p:spPr>
          <a:xfrm>
            <a:off x="8735260" y="4554965"/>
            <a:ext cx="612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(c)</a:t>
            </a:r>
            <a:endParaRPr lang="en-US" sz="3200" b="1" dirty="0"/>
          </a:p>
        </p:txBody>
      </p:sp>
      <p:sp>
        <p:nvSpPr>
          <p:cNvPr id="179" name="TextBox 178"/>
          <p:cNvSpPr txBox="1"/>
          <p:nvPr/>
        </p:nvSpPr>
        <p:spPr>
          <a:xfrm>
            <a:off x="12967165" y="5530511"/>
            <a:ext cx="577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(f)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18663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10977</TotalTime>
  <Words>3374</Words>
  <Application>Microsoft Office PowerPoint</Application>
  <PresentationFormat>Custom</PresentationFormat>
  <Paragraphs>1704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Century Schoolbook</vt:lpstr>
      <vt:lpstr>Georgia</vt:lpstr>
      <vt:lpstr>Monotype Corsiva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Sazan Mahbub</dc:creator>
  <cp:lastModifiedBy>Sazan Mahbub</cp:lastModifiedBy>
  <cp:revision>438</cp:revision>
  <cp:lastPrinted>2021-04-16T10:06:07Z</cp:lastPrinted>
  <dcterms:created xsi:type="dcterms:W3CDTF">2021-01-03T14:29:34Z</dcterms:created>
  <dcterms:modified xsi:type="dcterms:W3CDTF">2021-04-16T10:14:03Z</dcterms:modified>
</cp:coreProperties>
</file>